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9"/>
  </p:handoutMasterIdLst>
  <p:sldIdLst>
    <p:sldId id="320" r:id="rId3"/>
    <p:sldId id="336" r:id="rId5"/>
    <p:sldId id="322" r:id="rId6"/>
    <p:sldId id="323" r:id="rId7"/>
    <p:sldId id="324" r:id="rId8"/>
    <p:sldId id="328" r:id="rId9"/>
    <p:sldId id="325" r:id="rId10"/>
    <p:sldId id="326" r:id="rId11"/>
    <p:sldId id="327" r:id="rId12"/>
    <p:sldId id="329" r:id="rId13"/>
    <p:sldId id="313" r:id="rId14"/>
    <p:sldId id="314" r:id="rId15"/>
    <p:sldId id="315" r:id="rId16"/>
    <p:sldId id="316" r:id="rId17"/>
    <p:sldId id="317" r:id="rId18"/>
    <p:sldId id="318" r:id="rId19"/>
    <p:sldId id="333" r:id="rId20"/>
    <p:sldId id="287" r:id="rId21"/>
    <p:sldId id="298" r:id="rId22"/>
    <p:sldId id="288" r:id="rId23"/>
    <p:sldId id="299" r:id="rId24"/>
    <p:sldId id="300" r:id="rId25"/>
    <p:sldId id="334" r:id="rId26"/>
    <p:sldId id="337" r:id="rId27"/>
    <p:sldId id="304" r:id="rId28"/>
    <p:sldId id="305" r:id="rId29"/>
    <p:sldId id="306" r:id="rId30"/>
    <p:sldId id="307" r:id="rId31"/>
    <p:sldId id="308" r:id="rId32"/>
    <p:sldId id="303" r:id="rId33"/>
    <p:sldId id="335" r:id="rId34"/>
    <p:sldId id="301" r:id="rId35"/>
    <p:sldId id="294" r:id="rId36"/>
    <p:sldId id="302" r:id="rId37"/>
    <p:sldId id="312" r:id="rId38"/>
  </p:sldIdLst>
  <p:sldSz cx="12192000" cy="6858000"/>
  <p:notesSz cx="6858000" cy="9144000"/>
  <p:custDataLst>
    <p:tags r:id="rId4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0" userDrawn="1">
          <p15:clr>
            <a:srgbClr val="A4A3A4"/>
          </p15:clr>
        </p15:guide>
        <p15:guide id="2" pos="39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 initials="ANA" lastIdx="0"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B03AA3-6DBD-4080-83BB-A08EE3DC176C}" styleName="补充样式14">
    <a:wholeTbl>
      <a:tcTxStyle>
        <a:fontRef idx="none">
          <a:srgbClr val="08090C"/>
        </a:fontRef>
      </a:tcTxStyle>
      <a:tcStyle>
        <a:tcBdr>
          <a:left>
            <a:ln w="9525" cmpd="dbl">
              <a:solidFill>
                <a:schemeClr val="dk1"/>
              </a:solidFill>
              <a:prstDash val="solid"/>
            </a:ln>
          </a:left>
          <a:right>
            <a:ln w="9525" cmpd="dbl">
              <a:solidFill>
                <a:schemeClr val="dk1"/>
              </a:solidFill>
              <a:prstDash val="solid"/>
            </a:ln>
          </a:right>
          <a:top>
            <a:ln w="9525" cmpd="dbl">
              <a:solidFill>
                <a:schemeClr val="dk1"/>
              </a:solidFill>
              <a:prstDash val="solid"/>
            </a:ln>
          </a:top>
          <a:bottom>
            <a:ln w="9525" cmpd="dbl">
              <a:solidFill>
                <a:schemeClr val="dk1"/>
              </a:solidFill>
              <a:prstDash val="solid"/>
            </a:ln>
          </a:bottom>
          <a:insideH>
            <a:ln w="9525" cmpd="sng">
              <a:solidFill>
                <a:schemeClr val="dk1">
                  <a:lumMod val="40001"/>
                  <a:lumOff val="59999"/>
                </a:schemeClr>
              </a:solidFill>
              <a:prstDash val="solid"/>
            </a:ln>
          </a:insideH>
          <a:insideV>
            <a:ln w="9525" cmpd="sng">
              <a:solidFill>
                <a:schemeClr val="dk1">
                  <a:lumMod val="40001"/>
                  <a:lumOff val="59999"/>
                </a:schemeClr>
              </a:solidFill>
              <a:prstDash val="solid"/>
            </a:ln>
          </a:insideV>
        </a:tcBdr>
        <a:fill>
          <a:solidFill>
            <a:srgbClr val="FFFFFF"/>
          </a:solidFill>
        </a:fill>
      </a:tcStyle>
    </a:wholeTbl>
    <a:band2H>
      <a:tcStyle>
        <a:tcBdr/>
        <a:fill>
          <a:solidFill>
            <a:schemeClr val="dk1">
              <a:lumMod val="10001"/>
              <a:lumOff val="89999"/>
            </a:schemeClr>
          </a:solidFill>
        </a:fill>
      </a:tcStyle>
    </a:band2H>
    <a:band1V>
      <a:tcStyle>
        <a:tcBdr/>
        <a:fill>
          <a:solidFill>
            <a:schemeClr val="dk1">
              <a:lumMod val="10001"/>
              <a:lumOff val="89999"/>
            </a:schemeClr>
          </a:solidFill>
        </a:fill>
      </a:tcStyle>
    </a:band1V>
    <a:lastCol>
      <a:tcTxStyle b="on">
        <a:fontRef idx="none">
          <a:srgbClr val="08090C"/>
        </a:fontRef>
      </a:tcTxStyle>
      <a:tcStyle>
        <a:tcBdr/>
        <a:fill>
          <a:solidFill>
            <a:schemeClr val="dk1">
              <a:lumMod val="20002"/>
              <a:lumOff val="79998"/>
            </a:schemeClr>
          </a:solidFill>
        </a:fill>
      </a:tcStyle>
    </a:lastCol>
    <a:firstCol>
      <a:tcTxStyle b="on">
        <a:fontRef idx="none">
          <a:srgbClr val="08090C"/>
        </a:fontRef>
      </a:tcTxStyle>
      <a:tcStyle>
        <a:tcBdr/>
        <a:fill>
          <a:solidFill>
            <a:schemeClr val="dk1">
              <a:lumMod val="20002"/>
              <a:lumOff val="79998"/>
            </a:schemeClr>
          </a:solidFill>
        </a:fill>
      </a:tcStyle>
    </a:firstCol>
    <a:lastRow>
      <a:tcTxStyle b="on">
        <a:fontRef idx="none">
          <a:schemeClr val="dk1"/>
        </a:fontRef>
      </a:tcTxStyle>
      <a:tcStyle>
        <a:tcBdr/>
        <a:fill>
          <a:solidFill>
            <a:srgbClr val="FFFFFF"/>
          </a:solidFill>
        </a:fill>
      </a:tcStyle>
    </a:lastRow>
    <a:seCell>
      <a:tcTxStyle b="on">
        <a:fontRef idx="none">
          <a:schemeClr val="dk1"/>
        </a:fontRef>
      </a:tcTxStyle>
      <a:tcStyle>
        <a:tcBdr/>
        <a:fill>
          <a:solidFill>
            <a:srgbClr val="FFFFFF"/>
          </a:solidFill>
        </a:fill>
      </a:tcStyle>
    </a:seCell>
    <a:swCell>
      <a:tcTxStyle b="on">
        <a:fontRef idx="none">
          <a:schemeClr val="dk1"/>
        </a:fontRef>
      </a:tcTxStyle>
      <a:tcStyle>
        <a:tcBdr/>
        <a:fill>
          <a:solidFill>
            <a:srgbClr val="FFFFFF"/>
          </a:solidFill>
        </a:fill>
      </a:tcStyle>
    </a:swCell>
    <a:firstRow>
      <a:tcTxStyle b="on">
        <a:fontRef idx="none">
          <a:schemeClr val="dk1"/>
        </a:fontRef>
      </a:tcTxStyle>
      <a:tcStyle>
        <a:tcBdr/>
      </a:tcStyle>
    </a:firstRow>
    <a:neCell>
      <a:tcTxStyle b="on">
        <a:fontRef idx="none">
          <a:schemeClr val="dk1"/>
        </a:fontRef>
      </a:tcTxStyle>
      <a:tcStyle>
        <a:tcBdr/>
        <a:fill>
          <a:solidFill>
            <a:srgbClr val="FFFFFF"/>
          </a:solidFill>
        </a:fill>
      </a:tcStyle>
    </a:neCell>
    <a:nwCell>
      <a:tcTxStyle b="on">
        <a:fontRef idx="none">
          <a:schemeClr val="dk1"/>
        </a:fontRef>
      </a:tcTxStyle>
      <a:tcStyle>
        <a:tcBdr/>
        <a:fill>
          <a:solidFill>
            <a:srgbClr val="FFFFFF"/>
          </a:solidFill>
        </a:fill>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200"/>
        <p:guide pos="391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4" Type="http://schemas.openxmlformats.org/officeDocument/2006/relationships/tags" Target="tags/tag103.xml"/><Relationship Id="rId43" Type="http://schemas.openxmlformats.org/officeDocument/2006/relationships/commentAuthors" Target="commentAuthors.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notesMaster" Target="notesMasters/notesMaster1.xml"/><Relationship Id="rId39" Type="http://schemas.openxmlformats.org/officeDocument/2006/relationships/handoutMaster" Target="handoutMasters/handoutMaster1.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我们将从以下四个方面进行汇报：分别是项目背景、项目解读、设计方案和计划安排。</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首先是项目背景</a:t>
            </a:r>
            <a:r>
              <a:rPr lang="zh-CN" altLang="en-US"/>
              <a:t>方面</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首先是项目背景</a:t>
            </a:r>
            <a:r>
              <a:rPr lang="zh-CN" altLang="en-US"/>
              <a:t>方面</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首先是项目背景</a:t>
            </a:r>
            <a:r>
              <a:rPr lang="zh-CN" altLang="en-US"/>
              <a:t>方面</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首先是项目背景</a:t>
            </a:r>
            <a:r>
              <a:rPr lang="zh-CN" altLang="en-US"/>
              <a:t>方面</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在深入结果之前，简要介绍我们的实验设置。为了模拟真实的攻防场景，我们构建了从</a:t>
            </a:r>
            <a:r>
              <a:rPr lang="en-US" altLang="zh-CN"/>
              <a:t> Task 1 </a:t>
            </a:r>
            <a:r>
              <a:rPr lang="zh-CN" altLang="en-US"/>
              <a:t>到</a:t>
            </a:r>
            <a:r>
              <a:rPr lang="en-US" altLang="zh-CN"/>
              <a:t> Task 4 </a:t>
            </a:r>
            <a:r>
              <a:rPr lang="zh-CN" altLang="en-US"/>
              <a:t>的连续任务流。</a:t>
            </a:r>
            <a:r>
              <a:rPr lang="en-US" altLang="zh-CN"/>
              <a:t> </a:t>
            </a:r>
            <a:r>
              <a:rPr lang="zh-CN" altLang="en-US"/>
              <a:t>我们设计了两组实验：一组是</a:t>
            </a:r>
            <a:r>
              <a:rPr lang="en-US" altLang="zh-CN"/>
              <a:t>‘</a:t>
            </a:r>
            <a:r>
              <a:rPr lang="zh-CN" altLang="en-US"/>
              <a:t>基准组</a:t>
            </a:r>
            <a:r>
              <a:rPr lang="en-US" altLang="zh-CN"/>
              <a:t>’</a:t>
            </a:r>
            <a:r>
              <a:rPr lang="zh-CN" altLang="en-US"/>
              <a:t>，像传统方法一样使用</a:t>
            </a:r>
            <a:r>
              <a:rPr lang="en-US" altLang="zh-CN"/>
              <a:t> 100% </a:t>
            </a:r>
            <a:r>
              <a:rPr lang="zh-CN" altLang="en-US"/>
              <a:t>的全量数据进行重训练，这代表了性能的天花板；另一组是我们的</a:t>
            </a:r>
            <a:r>
              <a:rPr lang="en-US" altLang="zh-CN"/>
              <a:t>‘</a:t>
            </a:r>
            <a:r>
              <a:rPr lang="zh-CN" altLang="en-US"/>
              <a:t>改进组</a:t>
            </a:r>
            <a:r>
              <a:rPr lang="en-US" altLang="zh-CN"/>
              <a:t>’</a:t>
            </a:r>
            <a:r>
              <a:rPr lang="zh-CN" altLang="en-US"/>
              <a:t>，我们模拟资源受限的边缘环境，只采样了</a:t>
            </a:r>
            <a:r>
              <a:rPr lang="en-US" altLang="zh-CN"/>
              <a:t> 60% </a:t>
            </a:r>
            <a:r>
              <a:rPr lang="zh-CN" altLang="en-US"/>
              <a:t>的数据。</a:t>
            </a:r>
            <a:r>
              <a:rPr lang="en-US" altLang="zh-CN"/>
              <a:t> </a:t>
            </a:r>
            <a:r>
              <a:rPr lang="zh-CN" altLang="en-US"/>
              <a:t>关键点在于，除了数据量，其他所有超参数都是严格一致的。这样我们就能回答一个核心问题：削减</a:t>
            </a:r>
            <a:r>
              <a:rPr lang="en-US" altLang="zh-CN"/>
              <a:t> 40% </a:t>
            </a:r>
            <a:r>
              <a:rPr lang="zh-CN" altLang="en-US"/>
              <a:t>的数据，真的会牺牲模型性能吗？</a:t>
            </a:r>
            <a:r>
              <a:rPr lang="en-US" altLang="zh-CN"/>
              <a:t>”</a:t>
            </a:r>
            <a:endParaRPr lang="en-US" altLang="zh-CN"/>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请大家直观地对比这两张图。左边是我们只用了</a:t>
            </a:r>
            <a:r>
              <a:rPr lang="en-US" altLang="zh-CN"/>
              <a:t> 60% </a:t>
            </a:r>
            <a:r>
              <a:rPr lang="zh-CN" altLang="en-US"/>
              <a:t>数据的改进组，右边是用了</a:t>
            </a:r>
            <a:r>
              <a:rPr lang="en-US" altLang="zh-CN"/>
              <a:t> 100% </a:t>
            </a:r>
            <a:r>
              <a:rPr lang="zh-CN" altLang="en-US"/>
              <a:t>数据的基准组。</a:t>
            </a:r>
            <a:r>
              <a:rPr lang="en-US" altLang="zh-CN"/>
              <a:t> </a:t>
            </a:r>
            <a:r>
              <a:rPr lang="zh-CN" altLang="en-US"/>
              <a:t>这是一个令人振奋的现象：两条曲线几乎是完美的复制粘贴。</a:t>
            </a:r>
            <a:r>
              <a:rPr lang="en-US" altLang="zh-CN"/>
              <a:t> </a:t>
            </a:r>
            <a:r>
              <a:rPr lang="zh-CN" altLang="en-US"/>
              <a:t>从</a:t>
            </a:r>
            <a:r>
              <a:rPr lang="en-US" altLang="zh-CN"/>
              <a:t> Task 1 </a:t>
            </a:r>
            <a:r>
              <a:rPr lang="zh-CN" altLang="en-US"/>
              <a:t>的</a:t>
            </a:r>
            <a:r>
              <a:rPr lang="en-US" altLang="zh-CN"/>
              <a:t> 0.98 </a:t>
            </a:r>
            <a:r>
              <a:rPr lang="zh-CN" altLang="en-US"/>
              <a:t>起步，到</a:t>
            </a:r>
            <a:r>
              <a:rPr lang="en-US" altLang="zh-CN"/>
              <a:t> Task 2 </a:t>
            </a:r>
            <a:r>
              <a:rPr lang="zh-CN" altLang="en-US"/>
              <a:t>提升至</a:t>
            </a:r>
            <a:r>
              <a:rPr lang="en-US" altLang="zh-CN"/>
              <a:t> 0.99</a:t>
            </a:r>
            <a:r>
              <a:rPr lang="zh-CN" altLang="en-US"/>
              <a:t>，并在后续的</a:t>
            </a:r>
            <a:r>
              <a:rPr lang="en-US" altLang="zh-CN"/>
              <a:t> Task 3 </a:t>
            </a:r>
            <a:r>
              <a:rPr lang="zh-CN" altLang="en-US"/>
              <a:t>和</a:t>
            </a:r>
            <a:r>
              <a:rPr lang="en-US" altLang="zh-CN"/>
              <a:t> Task 4 </a:t>
            </a:r>
            <a:r>
              <a:rPr lang="zh-CN" altLang="en-US"/>
              <a:t>中稳如磐石。这说明了什么？这说明我们在网络流量中丢弃的那</a:t>
            </a:r>
            <a:r>
              <a:rPr lang="en-US" altLang="zh-CN"/>
              <a:t> 40% </a:t>
            </a:r>
            <a:r>
              <a:rPr lang="zh-CN" altLang="en-US"/>
              <a:t>数据，确实是</a:t>
            </a:r>
            <a:r>
              <a:rPr lang="en-US" altLang="zh-CN"/>
              <a:t>‘</a:t>
            </a:r>
            <a:r>
              <a:rPr lang="zh-CN" altLang="en-US"/>
              <a:t>冗余</a:t>
            </a:r>
            <a:r>
              <a:rPr lang="en-US" altLang="zh-CN"/>
              <a:t>’</a:t>
            </a:r>
            <a:r>
              <a:rPr lang="zh-CN" altLang="en-US"/>
              <a:t>的。</a:t>
            </a:r>
            <a:r>
              <a:rPr lang="en-US" altLang="zh-CN"/>
              <a:t> </a:t>
            </a:r>
            <a:r>
              <a:rPr lang="zh-CN" altLang="en-US"/>
              <a:t>这一结果强有力地证明：轻量化采样并没有导致核心信息的丢失，我们以</a:t>
            </a:r>
            <a:r>
              <a:rPr lang="en-US" altLang="zh-CN"/>
              <a:t> 60% </a:t>
            </a:r>
            <a:r>
              <a:rPr lang="zh-CN" altLang="en-US"/>
              <a:t>的开销，完美复现了</a:t>
            </a:r>
            <a:r>
              <a:rPr lang="en-US" altLang="zh-CN"/>
              <a:t> 100% </a:t>
            </a:r>
            <a:r>
              <a:rPr lang="zh-CN" altLang="en-US"/>
              <a:t>的性能。</a:t>
            </a:r>
            <a:r>
              <a:rPr lang="en-US" altLang="zh-CN"/>
              <a:t>”</a:t>
            </a:r>
            <a:endParaRPr lang="en-US" altLang="zh-CN"/>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请大家直观地对比这两张图。左边是我们只用了</a:t>
            </a:r>
            <a:r>
              <a:rPr lang="en-US" altLang="zh-CN"/>
              <a:t> 60% </a:t>
            </a:r>
            <a:r>
              <a:rPr lang="zh-CN" altLang="en-US"/>
              <a:t>数据的改进组，右边是用了</a:t>
            </a:r>
            <a:r>
              <a:rPr lang="en-US" altLang="zh-CN"/>
              <a:t> 100% </a:t>
            </a:r>
            <a:r>
              <a:rPr lang="zh-CN" altLang="en-US"/>
              <a:t>数据的基准组。</a:t>
            </a:r>
            <a:r>
              <a:rPr lang="en-US" altLang="zh-CN"/>
              <a:t> </a:t>
            </a:r>
            <a:r>
              <a:rPr lang="zh-CN" altLang="en-US"/>
              <a:t>这是一个令人振奋的现象：两条曲线几乎是完美的复制粘贴。</a:t>
            </a:r>
            <a:r>
              <a:rPr lang="en-US" altLang="zh-CN"/>
              <a:t> </a:t>
            </a:r>
            <a:r>
              <a:rPr lang="zh-CN" altLang="en-US"/>
              <a:t>从</a:t>
            </a:r>
            <a:r>
              <a:rPr lang="en-US" altLang="zh-CN"/>
              <a:t> Task 1 </a:t>
            </a:r>
            <a:r>
              <a:rPr lang="zh-CN" altLang="en-US"/>
              <a:t>的</a:t>
            </a:r>
            <a:r>
              <a:rPr lang="en-US" altLang="zh-CN"/>
              <a:t> 0.98 </a:t>
            </a:r>
            <a:r>
              <a:rPr lang="zh-CN" altLang="en-US"/>
              <a:t>起步，到</a:t>
            </a:r>
            <a:r>
              <a:rPr lang="en-US" altLang="zh-CN"/>
              <a:t> Task 2 </a:t>
            </a:r>
            <a:r>
              <a:rPr lang="zh-CN" altLang="en-US"/>
              <a:t>提升至</a:t>
            </a:r>
            <a:r>
              <a:rPr lang="en-US" altLang="zh-CN"/>
              <a:t> 0.99</a:t>
            </a:r>
            <a:r>
              <a:rPr lang="zh-CN" altLang="en-US"/>
              <a:t>，并在后续的</a:t>
            </a:r>
            <a:r>
              <a:rPr lang="en-US" altLang="zh-CN"/>
              <a:t> Task 3 </a:t>
            </a:r>
            <a:r>
              <a:rPr lang="zh-CN" altLang="en-US"/>
              <a:t>和</a:t>
            </a:r>
            <a:r>
              <a:rPr lang="en-US" altLang="zh-CN"/>
              <a:t> Task 4 </a:t>
            </a:r>
            <a:r>
              <a:rPr lang="zh-CN" altLang="en-US"/>
              <a:t>中稳如磐石。这说明了什么？这说明我们在网络流量中丢弃的那</a:t>
            </a:r>
            <a:r>
              <a:rPr lang="en-US" altLang="zh-CN"/>
              <a:t> 40% </a:t>
            </a:r>
            <a:r>
              <a:rPr lang="zh-CN" altLang="en-US"/>
              <a:t>数据，确实是</a:t>
            </a:r>
            <a:r>
              <a:rPr lang="en-US" altLang="zh-CN"/>
              <a:t>‘</a:t>
            </a:r>
            <a:r>
              <a:rPr lang="zh-CN" altLang="en-US"/>
              <a:t>冗余</a:t>
            </a:r>
            <a:r>
              <a:rPr lang="en-US" altLang="zh-CN"/>
              <a:t>’</a:t>
            </a:r>
            <a:r>
              <a:rPr lang="zh-CN" altLang="en-US"/>
              <a:t>的。</a:t>
            </a:r>
            <a:r>
              <a:rPr lang="en-US" altLang="zh-CN"/>
              <a:t> </a:t>
            </a:r>
            <a:r>
              <a:rPr lang="zh-CN" altLang="en-US"/>
              <a:t>这一结果强有力地证明：轻量化采样并没有导致核心信息的丢失，我们以</a:t>
            </a:r>
            <a:r>
              <a:rPr lang="en-US" altLang="zh-CN"/>
              <a:t> 60% </a:t>
            </a:r>
            <a:r>
              <a:rPr lang="zh-CN" altLang="en-US"/>
              <a:t>的开销，完美复现了</a:t>
            </a:r>
            <a:r>
              <a:rPr lang="en-US" altLang="zh-CN"/>
              <a:t> 100% </a:t>
            </a:r>
            <a:r>
              <a:rPr lang="zh-CN" altLang="en-US"/>
              <a:t>的性能。</a:t>
            </a:r>
            <a:r>
              <a:rPr lang="en-US" altLang="zh-CN"/>
              <a:t>”</a:t>
            </a:r>
            <a:endParaRPr lang="en-US" altLang="zh-CN"/>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为什么丢弃了</a:t>
            </a:r>
            <a:r>
              <a:rPr lang="en-US" altLang="zh-CN"/>
              <a:t> 40% </a:t>
            </a:r>
            <a:r>
              <a:rPr lang="zh-CN" altLang="en-US"/>
              <a:t>的数据，精度却丝毫不减？请看这张采样原理图（引用论文</a:t>
            </a:r>
            <a:r>
              <a:rPr lang="en-US" altLang="zh-CN"/>
              <a:t> Figure 7</a:t>
            </a:r>
            <a:r>
              <a:rPr lang="zh-CN" altLang="en-US"/>
              <a:t>）。</a:t>
            </a:r>
            <a:r>
              <a:rPr lang="en-US" altLang="zh-CN"/>
              <a:t> </a:t>
            </a:r>
            <a:r>
              <a:rPr lang="zh-CN" altLang="en-US"/>
              <a:t>网络流量与图像数据不同，它是高度结构化和重复的。一次持续</a:t>
            </a:r>
            <a:r>
              <a:rPr lang="en-US" altLang="zh-CN"/>
              <a:t> 10 </a:t>
            </a:r>
            <a:r>
              <a:rPr lang="zh-CN" altLang="en-US"/>
              <a:t>秒的攻击可能产生数万个数据包，但它们在特征空间里其实只聚集成几个点。</a:t>
            </a:r>
            <a:r>
              <a:rPr lang="en-US" altLang="zh-CN"/>
              <a:t> </a:t>
            </a:r>
            <a:r>
              <a:rPr lang="zh-CN" altLang="en-US"/>
              <a:t>我们的实验证明，这</a:t>
            </a:r>
            <a:r>
              <a:rPr lang="en-US" altLang="zh-CN"/>
              <a:t> 60% </a:t>
            </a:r>
            <a:r>
              <a:rPr lang="zh-CN" altLang="en-US"/>
              <a:t>的数据不仅不是</a:t>
            </a:r>
            <a:r>
              <a:rPr lang="en-US" altLang="zh-CN"/>
              <a:t>‘</a:t>
            </a:r>
            <a:r>
              <a:rPr lang="zh-CN" altLang="en-US"/>
              <a:t>残缺</a:t>
            </a:r>
            <a:r>
              <a:rPr lang="en-US" altLang="zh-CN"/>
              <a:t>’</a:t>
            </a:r>
            <a:r>
              <a:rPr lang="zh-CN" altLang="en-US"/>
              <a:t>的，反而是经过</a:t>
            </a:r>
            <a:r>
              <a:rPr lang="en-US" altLang="zh-CN"/>
              <a:t>‘</a:t>
            </a:r>
            <a:r>
              <a:rPr lang="zh-CN" altLang="en-US"/>
              <a:t>提纯</a:t>
            </a:r>
            <a:r>
              <a:rPr lang="en-US" altLang="zh-CN"/>
              <a:t>’</a:t>
            </a:r>
            <a:r>
              <a:rPr lang="zh-CN" altLang="en-US"/>
              <a:t>的。它们完整覆盖了流量的流形分布，保留了核心的特征骨架，这解释了为何我们的精度曲线能与全量训练完美重合。</a:t>
            </a:r>
            <a:r>
              <a:rPr lang="en-US" altLang="zh-CN"/>
              <a:t>”</a:t>
            </a:r>
            <a:endParaRPr lang="en-US" altLang="zh-CN"/>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增量学习最大的挑战是</a:t>
            </a:r>
            <a:r>
              <a:rPr lang="en-US" altLang="zh-CN"/>
              <a:t>‘</a:t>
            </a:r>
            <a:r>
              <a:rPr lang="zh-CN" altLang="en-US"/>
              <a:t>学了新的，忘了旧的</a:t>
            </a:r>
            <a:r>
              <a:rPr lang="en-US" altLang="zh-CN"/>
              <a:t>’</a:t>
            </a:r>
            <a:r>
              <a:rPr lang="zh-CN" altLang="en-US"/>
              <a:t>。但我们的实验数据显示，在</a:t>
            </a:r>
            <a:r>
              <a:rPr lang="en-US" altLang="zh-CN"/>
              <a:t> Task 4 </a:t>
            </a:r>
            <a:r>
              <a:rPr lang="zh-CN" altLang="en-US"/>
              <a:t>阶段，模型对</a:t>
            </a:r>
            <a:r>
              <a:rPr lang="en-US" altLang="zh-CN"/>
              <a:t> Task 1 </a:t>
            </a:r>
            <a:r>
              <a:rPr lang="zh-CN" altLang="en-US"/>
              <a:t>的识别率依然锁定在</a:t>
            </a:r>
            <a:r>
              <a:rPr lang="en-US" altLang="zh-CN"/>
              <a:t> 0.99</a:t>
            </a:r>
            <a:r>
              <a:rPr lang="zh-CN" altLang="en-US"/>
              <a:t>。</a:t>
            </a:r>
            <a:r>
              <a:rPr lang="en-US" altLang="zh-CN"/>
              <a:t> </a:t>
            </a:r>
            <a:r>
              <a:rPr lang="zh-CN" altLang="en-US"/>
              <a:t>结合</a:t>
            </a:r>
            <a:r>
              <a:rPr lang="en-US" altLang="zh-CN"/>
              <a:t> Trident </a:t>
            </a:r>
            <a:r>
              <a:rPr lang="zh-CN" altLang="en-US"/>
              <a:t>的架构图（</a:t>
            </a:r>
            <a:r>
              <a:rPr lang="en-US" altLang="zh-CN"/>
              <a:t>Figure 2</a:t>
            </a:r>
            <a:r>
              <a:rPr lang="zh-CN" altLang="en-US"/>
              <a:t>）我们可以看到，由于采用了单类学习器的隔离机制，配合我们保留的那</a:t>
            </a:r>
            <a:r>
              <a:rPr lang="en-US" altLang="zh-CN"/>
              <a:t> 60% </a:t>
            </a:r>
            <a:r>
              <a:rPr lang="zh-CN" altLang="en-US"/>
              <a:t>关键历史样本作为</a:t>
            </a:r>
            <a:r>
              <a:rPr lang="en-US" altLang="zh-CN"/>
              <a:t>‘</a:t>
            </a:r>
            <a:r>
              <a:rPr lang="zh-CN" altLang="en-US"/>
              <a:t>记忆锚点</a:t>
            </a:r>
            <a:r>
              <a:rPr lang="en-US" altLang="zh-CN"/>
              <a:t>’</a:t>
            </a:r>
            <a:r>
              <a:rPr lang="zh-CN" altLang="en-US"/>
              <a:t>，模型在更新时既吸收了新知识，又被旧知识产生的梯度有效地</a:t>
            </a:r>
            <a:r>
              <a:rPr lang="en-US" altLang="zh-CN"/>
              <a:t>‘</a:t>
            </a:r>
            <a:r>
              <a:rPr lang="zh-CN" altLang="en-US"/>
              <a:t>拉住</a:t>
            </a:r>
            <a:r>
              <a:rPr lang="en-US" altLang="zh-CN"/>
              <a:t>’</a:t>
            </a:r>
            <a:r>
              <a:rPr lang="zh-CN" altLang="en-US"/>
              <a:t>了。这证明了我们的轻量化策略在鲁棒性上是经得起考验的。</a:t>
            </a:r>
            <a:r>
              <a:rPr lang="en-US" altLang="zh-CN"/>
              <a:t>”</a:t>
            </a:r>
            <a:endParaRPr lang="en-US" altLang="zh-CN"/>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a:t>
            </a:r>
            <a:r>
              <a:rPr lang="zh-CN" altLang="en-US"/>
              <a:t>这页</a:t>
            </a:r>
            <a:r>
              <a:rPr lang="en-US" altLang="zh-CN"/>
              <a:t> PPT </a:t>
            </a:r>
            <a:r>
              <a:rPr lang="zh-CN" altLang="en-US"/>
              <a:t>展示了本次实验最大的工程价值。通常我们为了效率需要牺牲一点精度，但在</a:t>
            </a:r>
            <a:r>
              <a:rPr lang="en-US" altLang="zh-CN"/>
              <a:t> Trident </a:t>
            </a:r>
            <a:r>
              <a:rPr lang="zh-CN" altLang="en-US"/>
              <a:t>框架下，我们实现了完美的</a:t>
            </a:r>
            <a:r>
              <a:rPr lang="en-US" altLang="zh-CN"/>
              <a:t>‘</a:t>
            </a:r>
            <a:r>
              <a:rPr lang="zh-CN" altLang="en-US"/>
              <a:t>帕累托改进</a:t>
            </a:r>
            <a:r>
              <a:rPr lang="en-US" altLang="zh-CN"/>
              <a:t>’</a:t>
            </a:r>
            <a:r>
              <a:rPr lang="zh-CN" altLang="en-US"/>
              <a:t>。</a:t>
            </a:r>
            <a:r>
              <a:rPr lang="en-US" altLang="zh-CN"/>
              <a:t> </a:t>
            </a:r>
            <a:r>
              <a:rPr lang="zh-CN" altLang="en-US"/>
              <a:t>大家看表格：精度完全保持在</a:t>
            </a:r>
            <a:r>
              <a:rPr lang="en-US" altLang="zh-CN"/>
              <a:t> 99% </a:t>
            </a:r>
            <a:r>
              <a:rPr lang="zh-CN" altLang="en-US"/>
              <a:t>的高位，但我们的存储需求和计算开销直接砍掉了</a:t>
            </a:r>
            <a:r>
              <a:rPr lang="en-US" altLang="zh-CN"/>
              <a:t> 40%</a:t>
            </a:r>
            <a:r>
              <a:rPr lang="zh-CN" altLang="en-US"/>
              <a:t>。</a:t>
            </a:r>
            <a:r>
              <a:rPr lang="en-US" altLang="zh-CN"/>
              <a:t> </a:t>
            </a:r>
            <a:r>
              <a:rPr lang="zh-CN" altLang="en-US"/>
              <a:t>在核心网流量动辄</a:t>
            </a:r>
            <a:r>
              <a:rPr lang="en-US" altLang="zh-CN"/>
              <a:t> PB </a:t>
            </a:r>
            <a:r>
              <a:rPr lang="zh-CN" altLang="en-US"/>
              <a:t>级的今天，</a:t>
            </a:r>
            <a:r>
              <a:rPr lang="en-US" altLang="zh-CN"/>
              <a:t>40% </a:t>
            </a:r>
            <a:r>
              <a:rPr lang="zh-CN" altLang="en-US"/>
              <a:t>的资源节省意味着巨大的成本优势；在边缘设备上，这</a:t>
            </a:r>
            <a:r>
              <a:rPr lang="en-US" altLang="zh-CN"/>
              <a:t> 40% </a:t>
            </a:r>
            <a:r>
              <a:rPr lang="zh-CN" altLang="en-US"/>
              <a:t>的节省可能就是</a:t>
            </a:r>
            <a:r>
              <a:rPr lang="en-US" altLang="zh-CN"/>
              <a:t>‘</a:t>
            </a:r>
            <a:r>
              <a:rPr lang="zh-CN" altLang="en-US"/>
              <a:t>能跑</a:t>
            </a:r>
            <a:r>
              <a:rPr lang="en-US" altLang="zh-CN"/>
              <a:t>’</a:t>
            </a:r>
            <a:r>
              <a:rPr lang="zh-CN" altLang="en-US"/>
              <a:t>和</a:t>
            </a:r>
            <a:r>
              <a:rPr lang="en-US" altLang="zh-CN"/>
              <a:t>‘</a:t>
            </a:r>
            <a:r>
              <a:rPr lang="zh-CN" altLang="en-US"/>
              <a:t>跑不动</a:t>
            </a:r>
            <a:r>
              <a:rPr lang="en-US" altLang="zh-CN"/>
              <a:t>’</a:t>
            </a:r>
            <a:r>
              <a:rPr lang="zh-CN" altLang="en-US"/>
              <a:t>的本质区别。</a:t>
            </a:r>
            <a:r>
              <a:rPr lang="en-US" altLang="zh-CN"/>
              <a:t>”</a:t>
            </a:r>
            <a:endParaRPr lang="en-US" altLang="zh-CN"/>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首先是项目背景</a:t>
            </a:r>
            <a:r>
              <a:rPr lang="zh-CN" altLang="en-US"/>
              <a:t>方面</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A6837353-30EB-4A48-80EB-173D804AEFBD}"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汇报完毕，谢谢观看。</a:t>
            </a:r>
            <a:endParaRPr lang="zh-CN" altLang="en-US"/>
          </a:p>
        </p:txBody>
      </p:sp>
      <p:sp>
        <p:nvSpPr>
          <p:cNvPr id="4" name="灯片编号占位符 3"/>
          <p:cNvSpPr>
            <a:spLocks noGrp="1"/>
          </p:cNvSpPr>
          <p:nvPr>
            <p:ph type="sldNum" sz="quarter" idx="5"/>
          </p:nvPr>
        </p:nvSpPr>
        <p:spPr/>
        <p:txBody>
          <a:bodyPr/>
          <a:p>
            <a:fld id="{A6837353-30EB-4A48-80EB-173D804AEFB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首页（无图使用）">
    <p:spTree>
      <p:nvGrpSpPr>
        <p:cNvPr id="1" name=""/>
        <p:cNvGrpSpPr/>
        <p:nvPr/>
      </p:nvGrpSpPr>
      <p:grpSpPr>
        <a:xfrm>
          <a:off x="0" y="0"/>
          <a:ext cx="0" cy="0"/>
          <a:chOff x="0" y="0"/>
          <a:chExt cx="0" cy="0"/>
        </a:xfrm>
      </p:grpSpPr>
      <p:pic>
        <p:nvPicPr>
          <p:cNvPr id="3" name="图片 2" descr="未标题-4-12"/>
          <p:cNvPicPr>
            <a:picLocks noChangeAspect="1"/>
          </p:cNvPicPr>
          <p:nvPr userDrawn="1"/>
        </p:nvPicPr>
        <p:blipFill>
          <a:blip r:embed="rId2"/>
          <a:stretch>
            <a:fillRect/>
          </a:stretch>
        </p:blipFill>
        <p:spPr>
          <a:xfrm>
            <a:off x="290830" y="4502150"/>
            <a:ext cx="11521440" cy="2355850"/>
          </a:xfrm>
          <a:prstGeom prst="rect">
            <a:avLst/>
          </a:prstGeom>
        </p:spPr>
      </p:pic>
      <p:sp>
        <p:nvSpPr>
          <p:cNvPr id="10" name="标题 1"/>
          <p:cNvSpPr>
            <a:spLocks noGrp="1"/>
          </p:cNvSpPr>
          <p:nvPr>
            <p:ph type="ctrTitle" hasCustomPrompt="1"/>
          </p:nvPr>
        </p:nvSpPr>
        <p:spPr>
          <a:xfrm>
            <a:off x="531273" y="1514898"/>
            <a:ext cx="7224995" cy="712054"/>
          </a:xfrm>
        </p:spPr>
        <p:txBody>
          <a:bodyPr anchor="b">
            <a:noAutofit/>
          </a:bodyPr>
          <a:lstStyle>
            <a:lvl1pPr algn="l">
              <a:defRPr sz="4600" b="1">
                <a:solidFill>
                  <a:srgbClr val="005744"/>
                </a:solidFill>
                <a:latin typeface="微软雅黑" panose="020B0503020204020204" charset="-122"/>
                <a:ea typeface="微软雅黑" panose="020B0503020204020204" charset="-122"/>
              </a:defRPr>
            </a:lvl1pPr>
          </a:lstStyle>
          <a:p>
            <a:r>
              <a:rPr lang="zh-CN" altLang="en-US" dirty="0"/>
              <a:t>国防科技大学幻灯片标题</a:t>
            </a:r>
            <a:endParaRPr lang="zh-CN" altLang="en-US" dirty="0"/>
          </a:p>
        </p:txBody>
      </p:sp>
      <p:sp>
        <p:nvSpPr>
          <p:cNvPr id="11"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rgbClr val="005744"/>
                </a:solidFill>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endParaRPr lang="zh-CN" altLang="en-US" dirty="0"/>
          </a:p>
        </p:txBody>
      </p:sp>
      <p:sp>
        <p:nvSpPr>
          <p:cNvPr id="12"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878787"/>
                </a:solidFill>
                <a:latin typeface="微软雅黑" panose="020B0503020204020204" charset="-122"/>
                <a:ea typeface="微软雅黑" panose="020B0503020204020204" charset="-122"/>
              </a:defRPr>
            </a:lvl1pPr>
          </a:lstStyle>
          <a:p>
            <a:pPr lvl="0"/>
            <a:r>
              <a:rPr lang="zh-CN" altLang="en-US" dirty="0"/>
              <a:t>网址或其他信息位置</a:t>
            </a:r>
            <a:endParaRPr lang="zh-CN" altLang="en-US" dirty="0"/>
          </a:p>
        </p:txBody>
      </p:sp>
      <p:pic>
        <p:nvPicPr>
          <p:cNvPr id="4" name="图片 3" descr="未标题-4-13"/>
          <p:cNvPicPr>
            <a:picLocks noChangeAspect="1"/>
          </p:cNvPicPr>
          <p:nvPr userDrawn="1"/>
        </p:nvPicPr>
        <p:blipFill>
          <a:blip r:embed="rId3"/>
          <a:stretch>
            <a:fillRect/>
          </a:stretch>
        </p:blipFill>
        <p:spPr>
          <a:xfrm>
            <a:off x="656590" y="2212340"/>
            <a:ext cx="6365240" cy="88265"/>
          </a:xfrm>
          <a:prstGeom prst="rect">
            <a:avLst/>
          </a:prstGeom>
        </p:spPr>
      </p:pic>
    </p:spTree>
  </p:cSld>
  <p:clrMapOvr>
    <a:masterClrMapping/>
  </p:clrMapOvr>
  <p:transition>
    <p:wip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无图）">
    <p:spTree>
      <p:nvGrpSpPr>
        <p:cNvPr id="1" name=""/>
        <p:cNvGrpSpPr/>
        <p:nvPr/>
      </p:nvGrpSpPr>
      <p:grpSpPr>
        <a:xfrm>
          <a:off x="0" y="0"/>
          <a:ext cx="0" cy="0"/>
          <a:chOff x="0" y="0"/>
          <a:chExt cx="0" cy="0"/>
        </a:xfrm>
      </p:grpSpPr>
      <p:pic>
        <p:nvPicPr>
          <p:cNvPr id="16" name="图片 15" descr="/Users/chenyirui/Desktop/未标题-4-16.png未标题-4-16"/>
          <p:cNvPicPr>
            <a:picLocks noChangeAspect="1"/>
          </p:cNvPicPr>
          <p:nvPr userDrawn="1"/>
        </p:nvPicPr>
        <p:blipFill>
          <a:blip r:embed="rId2"/>
          <a:srcRect/>
          <a:stretch>
            <a:fillRect/>
          </a:stretch>
        </p:blipFill>
        <p:spPr>
          <a:xfrm>
            <a:off x="0" y="3810"/>
            <a:ext cx="12216130" cy="6850380"/>
          </a:xfrm>
          <a:prstGeom prst="rect">
            <a:avLst/>
          </a:prstGeom>
        </p:spPr>
      </p:pic>
      <p:sp>
        <p:nvSpPr>
          <p:cNvPr id="3" name="文本占位符 23"/>
          <p:cNvSpPr>
            <a:spLocks noGrp="1"/>
          </p:cNvSpPr>
          <p:nvPr>
            <p:ph type="body" sz="quarter" idx="21" hasCustomPrompt="1"/>
          </p:nvPr>
        </p:nvSpPr>
        <p:spPr>
          <a:xfrm>
            <a:off x="10931237" y="6658281"/>
            <a:ext cx="1105592" cy="199719"/>
          </a:xfrm>
        </p:spPr>
        <p:txBody>
          <a:bodyPr>
            <a:normAutofit/>
          </a:bodyPr>
          <a:lstStyle>
            <a:lvl1pPr marL="0" indent="0">
              <a:buNone/>
              <a:defRPr sz="800" b="0">
                <a:solidFill>
                  <a:schemeClr val="bg1"/>
                </a:solidFill>
                <a:latin typeface="微软雅黑" panose="020B0503020204020204" charset="-122"/>
                <a:ea typeface="微软雅黑" panose="020B0503020204020204" charset="-122"/>
              </a:defRPr>
            </a:lvl1pPr>
          </a:lstStyle>
          <a:p>
            <a:pPr lvl="0"/>
            <a:r>
              <a:rPr lang="zh-CN" altLang="en-US" dirty="0"/>
              <a:t>网址或其他信息位置</a:t>
            </a:r>
            <a:endParaRPr lang="zh-CN" altLang="en-US" dirty="0"/>
          </a:p>
        </p:txBody>
      </p:sp>
      <p:sp>
        <p:nvSpPr>
          <p:cNvPr id="4" name="标题 1"/>
          <p:cNvSpPr>
            <a:spLocks noGrp="1"/>
          </p:cNvSpPr>
          <p:nvPr>
            <p:ph type="ctrTitle" hasCustomPrompt="1"/>
          </p:nvPr>
        </p:nvSpPr>
        <p:spPr>
          <a:xfrm>
            <a:off x="359683" y="408212"/>
            <a:ext cx="3690030" cy="506187"/>
          </a:xfrm>
        </p:spPr>
        <p:txBody>
          <a:bodyPr anchor="b">
            <a:noAutofit/>
          </a:bodyPr>
          <a:lstStyle>
            <a:lvl1pPr algn="l">
              <a:defRPr sz="2800" b="1">
                <a:solidFill>
                  <a:srgbClr val="025845"/>
                </a:solidFill>
                <a:latin typeface="微软雅黑" panose="020B0503020204020204" charset="-122"/>
                <a:ea typeface="微软雅黑" panose="020B0503020204020204" charset="-122"/>
              </a:defRPr>
            </a:lvl1pPr>
          </a:lstStyle>
          <a:p>
            <a:r>
              <a:rPr lang="zh-CN" altLang="en-US" dirty="0"/>
              <a:t>正文标题文字区域</a:t>
            </a:r>
            <a:endParaRPr lang="zh-CN" altLang="en-US" dirty="0"/>
          </a:p>
        </p:txBody>
      </p:sp>
      <p:sp>
        <p:nvSpPr>
          <p:cNvPr id="5" name="副标题 2"/>
          <p:cNvSpPr>
            <a:spLocks noGrp="1"/>
          </p:cNvSpPr>
          <p:nvPr>
            <p:ph type="subTitle" idx="1" hasCustomPrompt="1"/>
          </p:nvPr>
        </p:nvSpPr>
        <p:spPr>
          <a:xfrm>
            <a:off x="359683" y="938890"/>
            <a:ext cx="3285755" cy="383721"/>
          </a:xfrm>
        </p:spPr>
        <p:txBody>
          <a:bodyPr>
            <a:normAutofit/>
          </a:bodyPr>
          <a:lstStyle>
            <a:lvl1pPr marL="0" indent="0" algn="l">
              <a:buNone/>
              <a:defRPr sz="1800">
                <a:solidFill>
                  <a:srgbClr val="343434"/>
                </a:solidFill>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正文副标题标题文字区域</a:t>
            </a:r>
            <a:endParaRPr lang="zh-CN" altLang="en-US" dirty="0"/>
          </a:p>
        </p:txBody>
      </p:sp>
      <p:sp>
        <p:nvSpPr>
          <p:cNvPr id="6" name="文本占位符 15"/>
          <p:cNvSpPr>
            <a:spLocks noGrp="1"/>
          </p:cNvSpPr>
          <p:nvPr>
            <p:ph type="body" sz="quarter" idx="13" hasCustomPrompt="1"/>
          </p:nvPr>
        </p:nvSpPr>
        <p:spPr>
          <a:xfrm>
            <a:off x="359683" y="2270348"/>
            <a:ext cx="1819955" cy="285524"/>
          </a:xfrm>
        </p:spPr>
        <p:txBody>
          <a:bodyPr>
            <a:noAutofit/>
          </a:bodyPr>
          <a:lstStyle>
            <a:lvl1pPr marL="0" indent="0">
              <a:buNone/>
              <a:defRPr sz="1500" b="1">
                <a:solidFill>
                  <a:srgbClr val="025845"/>
                </a:solidFill>
                <a:latin typeface="微软雅黑" panose="020B0503020204020204" charset="-122"/>
                <a:ea typeface="微软雅黑" panose="020B0503020204020204" charset="-122"/>
              </a:defRPr>
            </a:lvl1pPr>
          </a:lstStyle>
          <a:p>
            <a:pPr lvl="0"/>
            <a:r>
              <a:rPr lang="zh-CN" altLang="en-US" dirty="0"/>
              <a:t>正文二级标题</a:t>
            </a:r>
            <a:endParaRPr lang="zh-CN" altLang="en-US" dirty="0"/>
          </a:p>
        </p:txBody>
      </p:sp>
      <p:sp>
        <p:nvSpPr>
          <p:cNvPr id="19" name="文本占位符 17"/>
          <p:cNvSpPr>
            <a:spLocks noGrp="1"/>
          </p:cNvSpPr>
          <p:nvPr>
            <p:ph type="body" sz="quarter" idx="14" hasCustomPrompt="1"/>
          </p:nvPr>
        </p:nvSpPr>
        <p:spPr>
          <a:xfrm>
            <a:off x="359683" y="2688900"/>
            <a:ext cx="5298168" cy="1199468"/>
          </a:xfrm>
        </p:spPr>
        <p:txBody>
          <a:bodyPr>
            <a:noAutofit/>
          </a:bodyPr>
          <a:lstStyle>
            <a:lvl1pPr marL="0" indent="0">
              <a:buNone/>
              <a:defRPr sz="1000">
                <a:solidFill>
                  <a:srgbClr val="424242"/>
                </a:solidFill>
                <a:latin typeface="微软雅黑" panose="020B0503020204020204" charset="-122"/>
                <a:ea typeface="微软雅黑" panose="020B0503020204020204" charset="-122"/>
              </a:defRPr>
            </a:lvl1pPr>
          </a:lstStyle>
          <a:p>
            <a:pPr lvl="0"/>
            <a:r>
              <a:rPr lang="zh-CN" altLang="en-US" dirty="0"/>
              <a:t>此处为模拟文字段落，请在实际使用中更换文字。此处为模拟文字段落，请在实际使用中更换文字。此处为模拟文字段落，请在实际使用中更换文字。</a:t>
            </a:r>
            <a:endParaRPr lang="zh-CN" altLang="en-US" dirty="0"/>
          </a:p>
          <a:p>
            <a:pPr lvl="0"/>
            <a:r>
              <a:rPr lang="zh-CN" altLang="en-US" dirty="0"/>
              <a:t>此处为模拟文字段落，请在实际使用中更换文字。此处为模拟文字段落，请在实际使用中更换文字。</a:t>
            </a:r>
            <a:endParaRPr lang="zh-CN" altLang="en-US" dirty="0"/>
          </a:p>
        </p:txBody>
      </p:sp>
      <p:sp>
        <p:nvSpPr>
          <p:cNvPr id="20" name="文本占位符 15"/>
          <p:cNvSpPr>
            <a:spLocks noGrp="1"/>
          </p:cNvSpPr>
          <p:nvPr>
            <p:ph type="body" sz="quarter" idx="15" hasCustomPrompt="1"/>
          </p:nvPr>
        </p:nvSpPr>
        <p:spPr>
          <a:xfrm>
            <a:off x="6275841" y="2270348"/>
            <a:ext cx="1819955" cy="285524"/>
          </a:xfrm>
        </p:spPr>
        <p:txBody>
          <a:bodyPr>
            <a:noAutofit/>
          </a:bodyPr>
          <a:lstStyle>
            <a:lvl1pPr marL="0" indent="0">
              <a:buNone/>
              <a:defRPr sz="1500" b="1">
                <a:solidFill>
                  <a:srgbClr val="025845"/>
                </a:solidFill>
                <a:latin typeface="微软雅黑" panose="020B0503020204020204" charset="-122"/>
                <a:ea typeface="微软雅黑" panose="020B0503020204020204" charset="-122"/>
              </a:defRPr>
            </a:lvl1pPr>
          </a:lstStyle>
          <a:p>
            <a:pPr lvl="0"/>
            <a:r>
              <a:rPr lang="zh-CN" altLang="en-US" dirty="0"/>
              <a:t>正文二级标题</a:t>
            </a:r>
            <a:endParaRPr lang="zh-CN" altLang="en-US" dirty="0"/>
          </a:p>
        </p:txBody>
      </p:sp>
      <p:sp>
        <p:nvSpPr>
          <p:cNvPr id="21" name="文本占位符 17"/>
          <p:cNvSpPr>
            <a:spLocks noGrp="1"/>
          </p:cNvSpPr>
          <p:nvPr>
            <p:ph type="body" sz="quarter" idx="16" hasCustomPrompt="1"/>
          </p:nvPr>
        </p:nvSpPr>
        <p:spPr>
          <a:xfrm>
            <a:off x="6275841" y="2688900"/>
            <a:ext cx="5298168" cy="1199468"/>
          </a:xfrm>
        </p:spPr>
        <p:txBody>
          <a:bodyPr>
            <a:noAutofit/>
          </a:bodyPr>
          <a:lstStyle>
            <a:lvl1pPr marL="0" indent="0">
              <a:buNone/>
              <a:defRPr sz="1000">
                <a:solidFill>
                  <a:srgbClr val="424242"/>
                </a:solidFill>
                <a:latin typeface="微软雅黑" panose="020B0503020204020204" charset="-122"/>
                <a:ea typeface="微软雅黑" panose="020B0503020204020204" charset="-122"/>
              </a:defRPr>
            </a:lvl1pPr>
          </a:lstStyle>
          <a:p>
            <a:pPr lvl="0"/>
            <a:r>
              <a:rPr lang="zh-CN" altLang="en-US" dirty="0"/>
              <a:t>此处为模拟文字段落，请在实际使用中更换文字。此处为模拟文字段落，请在实际使用中更换文字。此处为模拟文字段落，请在实际使用中更换文字。</a:t>
            </a:r>
            <a:endParaRPr lang="zh-CN" altLang="en-US" dirty="0"/>
          </a:p>
          <a:p>
            <a:pPr lvl="0"/>
            <a:r>
              <a:rPr lang="zh-CN" altLang="en-US" dirty="0"/>
              <a:t>此处为模拟文字段落，请在实际使用中更换文字。此处为模拟文字段落，请在实际使用中更换文字。</a:t>
            </a:r>
            <a:endParaRPr lang="zh-CN" altLang="en-US" dirty="0"/>
          </a:p>
        </p:txBody>
      </p:sp>
      <p:sp>
        <p:nvSpPr>
          <p:cNvPr id="22" name="文本占位符 15"/>
          <p:cNvSpPr>
            <a:spLocks noGrp="1"/>
          </p:cNvSpPr>
          <p:nvPr>
            <p:ph type="body" sz="quarter" idx="17" hasCustomPrompt="1"/>
          </p:nvPr>
        </p:nvSpPr>
        <p:spPr>
          <a:xfrm>
            <a:off x="359683" y="4443216"/>
            <a:ext cx="1819955" cy="285524"/>
          </a:xfrm>
        </p:spPr>
        <p:txBody>
          <a:bodyPr>
            <a:noAutofit/>
          </a:bodyPr>
          <a:lstStyle>
            <a:lvl1pPr marL="0" indent="0">
              <a:buNone/>
              <a:defRPr sz="1500" b="1">
                <a:solidFill>
                  <a:srgbClr val="025845"/>
                </a:solidFill>
                <a:latin typeface="微软雅黑" panose="020B0503020204020204" charset="-122"/>
                <a:ea typeface="微软雅黑" panose="020B0503020204020204" charset="-122"/>
              </a:defRPr>
            </a:lvl1pPr>
          </a:lstStyle>
          <a:p>
            <a:pPr lvl="0"/>
            <a:r>
              <a:rPr lang="zh-CN" altLang="en-US" dirty="0"/>
              <a:t>正文二级标题</a:t>
            </a:r>
            <a:endParaRPr lang="zh-CN" altLang="en-US" dirty="0"/>
          </a:p>
        </p:txBody>
      </p:sp>
      <p:sp>
        <p:nvSpPr>
          <p:cNvPr id="23" name="文本占位符 17"/>
          <p:cNvSpPr>
            <a:spLocks noGrp="1"/>
          </p:cNvSpPr>
          <p:nvPr>
            <p:ph type="body" sz="quarter" idx="18" hasCustomPrompt="1"/>
          </p:nvPr>
        </p:nvSpPr>
        <p:spPr>
          <a:xfrm>
            <a:off x="359683" y="4861768"/>
            <a:ext cx="5298168" cy="1199468"/>
          </a:xfrm>
        </p:spPr>
        <p:txBody>
          <a:bodyPr>
            <a:noAutofit/>
          </a:bodyPr>
          <a:lstStyle>
            <a:lvl1pPr marL="0" indent="0">
              <a:buNone/>
              <a:defRPr sz="1000">
                <a:solidFill>
                  <a:srgbClr val="424242"/>
                </a:solidFill>
                <a:latin typeface="微软雅黑" panose="020B0503020204020204" charset="-122"/>
                <a:ea typeface="微软雅黑" panose="020B0503020204020204" charset="-122"/>
              </a:defRPr>
            </a:lvl1pPr>
          </a:lstStyle>
          <a:p>
            <a:pPr lvl="0"/>
            <a:r>
              <a:rPr lang="zh-CN" altLang="en-US" dirty="0"/>
              <a:t>此处为模拟文字段落，请在实际使用中更换文字。此处为模拟文字段落，请在实际使用中更换文字。此处为模拟文字段落，请在实际使用中更换文字。</a:t>
            </a:r>
            <a:endParaRPr lang="zh-CN" altLang="en-US" dirty="0"/>
          </a:p>
          <a:p>
            <a:pPr lvl="0"/>
            <a:r>
              <a:rPr lang="zh-CN" altLang="en-US" dirty="0"/>
              <a:t>此处为模拟文字段落，请在实际使用中更换文字。此处为模拟文字段落，请在实际使用中更换文字。</a:t>
            </a:r>
            <a:endParaRPr lang="zh-CN" altLang="en-US" dirty="0"/>
          </a:p>
        </p:txBody>
      </p:sp>
      <p:sp>
        <p:nvSpPr>
          <p:cNvPr id="24" name="文本占位符 15"/>
          <p:cNvSpPr>
            <a:spLocks noGrp="1"/>
          </p:cNvSpPr>
          <p:nvPr>
            <p:ph type="body" sz="quarter" idx="19" hasCustomPrompt="1"/>
          </p:nvPr>
        </p:nvSpPr>
        <p:spPr>
          <a:xfrm>
            <a:off x="6275841" y="4421412"/>
            <a:ext cx="1819955" cy="285524"/>
          </a:xfrm>
        </p:spPr>
        <p:txBody>
          <a:bodyPr>
            <a:noAutofit/>
          </a:bodyPr>
          <a:lstStyle>
            <a:lvl1pPr marL="0" indent="0">
              <a:buNone/>
              <a:defRPr sz="1500" b="1">
                <a:solidFill>
                  <a:srgbClr val="025845"/>
                </a:solidFill>
                <a:latin typeface="微软雅黑" panose="020B0503020204020204" charset="-122"/>
                <a:ea typeface="微软雅黑" panose="020B0503020204020204" charset="-122"/>
              </a:defRPr>
            </a:lvl1pPr>
          </a:lstStyle>
          <a:p>
            <a:pPr lvl="0"/>
            <a:r>
              <a:rPr lang="zh-CN" altLang="en-US" dirty="0"/>
              <a:t>正文二级标题</a:t>
            </a:r>
            <a:endParaRPr lang="zh-CN" altLang="en-US" dirty="0"/>
          </a:p>
        </p:txBody>
      </p:sp>
      <p:sp>
        <p:nvSpPr>
          <p:cNvPr id="25" name="文本占位符 17"/>
          <p:cNvSpPr>
            <a:spLocks noGrp="1"/>
          </p:cNvSpPr>
          <p:nvPr>
            <p:ph type="body" sz="quarter" idx="20" hasCustomPrompt="1"/>
          </p:nvPr>
        </p:nvSpPr>
        <p:spPr>
          <a:xfrm>
            <a:off x="6275841" y="4839964"/>
            <a:ext cx="5298168" cy="1199468"/>
          </a:xfrm>
        </p:spPr>
        <p:txBody>
          <a:bodyPr>
            <a:noAutofit/>
          </a:bodyPr>
          <a:lstStyle>
            <a:lvl1pPr marL="0" indent="0">
              <a:buNone/>
              <a:defRPr sz="1000">
                <a:solidFill>
                  <a:srgbClr val="424242"/>
                </a:solidFill>
                <a:latin typeface="微软雅黑" panose="020B0503020204020204" charset="-122"/>
                <a:ea typeface="微软雅黑" panose="020B0503020204020204" charset="-122"/>
              </a:defRPr>
            </a:lvl1pPr>
          </a:lstStyle>
          <a:p>
            <a:pPr lvl="0"/>
            <a:r>
              <a:rPr lang="zh-CN" altLang="en-US" dirty="0"/>
              <a:t>此处为模拟文字段落，请在实际使用中更换文字。此处为模拟文字段落，请在实际使用中更换文字。此处为模拟文字段落，请在实际使用中更换文字。</a:t>
            </a:r>
            <a:endParaRPr lang="zh-CN" altLang="en-US" dirty="0"/>
          </a:p>
          <a:p>
            <a:pPr lvl="0"/>
            <a:r>
              <a:rPr lang="zh-CN" altLang="en-US" dirty="0"/>
              <a:t>此处为模拟文字段落，请在实际使用中更换文字。此处为模拟文字段落，请在实际使用中更换文字。</a:t>
            </a:r>
            <a:endParaRPr lang="zh-CN" altLang="en-US" dirty="0"/>
          </a:p>
        </p:txBody>
      </p:sp>
      <p:pic>
        <p:nvPicPr>
          <p:cNvPr id="2" name="图片 1" descr="插画_画板 1"/>
          <p:cNvPicPr>
            <a:picLocks noChangeAspect="1"/>
          </p:cNvPicPr>
          <p:nvPr userDrawn="1"/>
        </p:nvPicPr>
        <p:blipFill>
          <a:blip r:embed="rId3">
            <a:alphaModFix amt="50000"/>
          </a:blip>
          <a:stretch>
            <a:fillRect/>
          </a:stretch>
        </p:blipFill>
        <p:spPr>
          <a:xfrm>
            <a:off x="0" y="5498465"/>
            <a:ext cx="12192000" cy="1177290"/>
          </a:xfrm>
          <a:prstGeom prst="rect">
            <a:avLst/>
          </a:prstGeom>
        </p:spPr>
      </p:pic>
    </p:spTree>
  </p:cSld>
  <p:clrMapOvr>
    <a:masterClrMapping/>
  </p:clrMapOvr>
  <p:transition>
    <p:wipe/>
  </p:transition>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结束页">
    <p:spTree>
      <p:nvGrpSpPr>
        <p:cNvPr id="1" name=""/>
        <p:cNvGrpSpPr/>
        <p:nvPr/>
      </p:nvGrpSpPr>
      <p:grpSpPr>
        <a:xfrm>
          <a:off x="0" y="0"/>
          <a:ext cx="0" cy="0"/>
          <a:chOff x="0" y="0"/>
          <a:chExt cx="0" cy="0"/>
        </a:xfrm>
      </p:grpSpPr>
      <p:pic>
        <p:nvPicPr>
          <p:cNvPr id="8" name="图片 7" descr="未标题-4-14"/>
          <p:cNvPicPr>
            <a:picLocks noChangeAspect="1"/>
          </p:cNvPicPr>
          <p:nvPr userDrawn="1"/>
        </p:nvPicPr>
        <p:blipFill>
          <a:blip r:embed="rId2"/>
          <a:stretch>
            <a:fillRect/>
          </a:stretch>
        </p:blipFill>
        <p:spPr>
          <a:xfrm>
            <a:off x="-99060" y="-52070"/>
            <a:ext cx="12389485" cy="6962140"/>
          </a:xfrm>
          <a:prstGeom prst="rect">
            <a:avLst/>
          </a:prstGeom>
        </p:spPr>
      </p:pic>
      <p:sp>
        <p:nvSpPr>
          <p:cNvPr id="7" name="文本占位符 9"/>
          <p:cNvSpPr>
            <a:spLocks noGrp="1"/>
          </p:cNvSpPr>
          <p:nvPr>
            <p:ph type="body" sz="quarter" idx="10" hasCustomPrompt="1"/>
          </p:nvPr>
        </p:nvSpPr>
        <p:spPr>
          <a:xfrm>
            <a:off x="557715" y="2117992"/>
            <a:ext cx="4953007" cy="878595"/>
          </a:xfrm>
        </p:spPr>
        <p:txBody>
          <a:bodyPr>
            <a:noAutofit/>
          </a:bodyPr>
          <a:lstStyle>
            <a:lvl1pPr marL="0" indent="0">
              <a:buNone/>
              <a:defRPr sz="7000" b="1">
                <a:solidFill>
                  <a:schemeClr val="bg1"/>
                </a:solidFill>
                <a:latin typeface="微软雅黑" panose="020B0503020204020204" charset="-122"/>
                <a:ea typeface="微软雅黑" panose="020B0503020204020204" charset="-122"/>
              </a:defRPr>
            </a:lvl1pPr>
          </a:lstStyle>
          <a:p>
            <a:pPr lvl="0"/>
            <a:r>
              <a:rPr lang="en-US" altLang="zh-CN" dirty="0"/>
              <a:t>THANKS!</a:t>
            </a:r>
            <a:endParaRPr lang="zh-CN" altLang="en-US" dirty="0"/>
          </a:p>
        </p:txBody>
      </p:sp>
      <p:sp>
        <p:nvSpPr>
          <p:cNvPr id="6" name="文本占位符 10"/>
          <p:cNvSpPr>
            <a:spLocks noGrp="1"/>
          </p:cNvSpPr>
          <p:nvPr>
            <p:ph type="body" sz="quarter" idx="13"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charset="-122"/>
                <a:ea typeface="微软雅黑" panose="020B0503020204020204" charset="-122"/>
              </a:defRPr>
            </a:lvl1pPr>
          </a:lstStyle>
          <a:p>
            <a:pPr lvl="0"/>
            <a:r>
              <a:rPr lang="zh-CN" altLang="en-US" dirty="0"/>
              <a:t>网址或其他信息位置</a:t>
            </a:r>
            <a:endParaRPr lang="zh-CN" altLang="en-US" dirty="0"/>
          </a:p>
        </p:txBody>
      </p:sp>
    </p:spTree>
  </p:cSld>
  <p:clrMapOvr>
    <a:masterClrMapping/>
  </p:clrMapOvr>
  <p:transition>
    <p:wipe/>
  </p:transition>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首页（有图使用）">
    <p:spTree>
      <p:nvGrpSpPr>
        <p:cNvPr id="1" name=""/>
        <p:cNvGrpSpPr/>
        <p:nvPr/>
      </p:nvGrpSpPr>
      <p:grpSpPr>
        <a:xfrm>
          <a:off x="0" y="0"/>
          <a:ext cx="0" cy="0"/>
          <a:chOff x="0" y="0"/>
          <a:chExt cx="0" cy="0"/>
        </a:xfrm>
      </p:grpSpPr>
      <p:pic>
        <p:nvPicPr>
          <p:cNvPr id="2" name="图片 1" descr="未标题-4-14"/>
          <p:cNvPicPr>
            <a:picLocks noChangeAspect="1"/>
          </p:cNvPicPr>
          <p:nvPr userDrawn="1"/>
        </p:nvPicPr>
        <p:blipFill>
          <a:blip r:embed="rId2"/>
          <a:stretch>
            <a:fillRect/>
          </a:stretch>
        </p:blipFill>
        <p:spPr>
          <a:xfrm>
            <a:off x="-98425" y="-52070"/>
            <a:ext cx="12389485" cy="6962140"/>
          </a:xfrm>
          <a:prstGeom prst="rect">
            <a:avLst/>
          </a:prstGeom>
        </p:spPr>
      </p:pic>
      <p:sp>
        <p:nvSpPr>
          <p:cNvPr id="6" name="文本占位符 10"/>
          <p:cNvSpPr>
            <a:spLocks noGrp="1"/>
          </p:cNvSpPr>
          <p:nvPr>
            <p:ph type="body" sz="quarter" idx="10" hasCustomPrompt="1"/>
          </p:nvPr>
        </p:nvSpPr>
        <p:spPr>
          <a:xfrm>
            <a:off x="531273" y="570584"/>
            <a:ext cx="2187632" cy="308529"/>
          </a:xfrm>
        </p:spPr>
        <p:txBody>
          <a:bodyPr>
            <a:normAutofit/>
          </a:bodyPr>
          <a:lstStyle>
            <a:lvl1pPr marL="0" indent="0">
              <a:buNone/>
              <a:defRPr sz="1500">
                <a:solidFill>
                  <a:srgbClr val="FFFFFF"/>
                </a:solidFill>
                <a:latin typeface="微软雅黑" panose="020B0503020204020204" charset="-122"/>
                <a:ea typeface="微软雅黑" panose="020B0503020204020204" charset="-122"/>
              </a:defRPr>
            </a:lvl1pPr>
          </a:lstStyle>
          <a:p>
            <a:pPr lvl="0"/>
            <a:r>
              <a:rPr lang="zh-CN" altLang="en-US" dirty="0"/>
              <a:t>网址或其他信息位置</a:t>
            </a:r>
            <a:endParaRPr lang="zh-CN" altLang="en-US" dirty="0"/>
          </a:p>
        </p:txBody>
      </p:sp>
      <p:sp>
        <p:nvSpPr>
          <p:cNvPr id="7" name="标题 1"/>
          <p:cNvSpPr>
            <a:spLocks noGrp="1"/>
          </p:cNvSpPr>
          <p:nvPr>
            <p:ph type="ctrTitle" hasCustomPrompt="1"/>
          </p:nvPr>
        </p:nvSpPr>
        <p:spPr>
          <a:xfrm>
            <a:off x="531273" y="1514898"/>
            <a:ext cx="7224995" cy="712054"/>
          </a:xfrm>
        </p:spPr>
        <p:txBody>
          <a:bodyPr anchor="b">
            <a:noAutofit/>
          </a:bodyPr>
          <a:lstStyle>
            <a:lvl1pPr algn="l">
              <a:defRPr sz="4600" b="1">
                <a:solidFill>
                  <a:schemeClr val="bg1"/>
                </a:solidFill>
                <a:latin typeface="微软雅黑" panose="020B0503020204020204" charset="-122"/>
                <a:ea typeface="微软雅黑" panose="020B0503020204020204" charset="-122"/>
              </a:defRPr>
            </a:lvl1pPr>
          </a:lstStyle>
          <a:p>
            <a:r>
              <a:rPr lang="zh-CN" altLang="en-US" dirty="0"/>
              <a:t>国防科技大学幻灯片标题</a:t>
            </a:r>
            <a:endParaRPr lang="zh-CN" altLang="en-US" dirty="0"/>
          </a:p>
        </p:txBody>
      </p:sp>
      <p:sp>
        <p:nvSpPr>
          <p:cNvPr id="8" name="副标题 2"/>
          <p:cNvSpPr>
            <a:spLocks noGrp="1"/>
          </p:cNvSpPr>
          <p:nvPr>
            <p:ph type="subTitle" idx="1" hasCustomPrompt="1"/>
          </p:nvPr>
        </p:nvSpPr>
        <p:spPr>
          <a:xfrm>
            <a:off x="531273" y="2437016"/>
            <a:ext cx="4049089" cy="577458"/>
          </a:xfrm>
        </p:spPr>
        <p:txBody>
          <a:bodyPr>
            <a:normAutofit/>
          </a:bodyPr>
          <a:lstStyle>
            <a:lvl1pPr marL="0" indent="0" algn="l">
              <a:buNone/>
              <a:defRPr sz="3300">
                <a:solidFill>
                  <a:schemeClr val="bg1"/>
                </a:solidFill>
                <a:latin typeface="微软雅黑" panose="020B0503020204020204" charset="-122"/>
                <a:ea typeface="微软雅黑" panose="020B050302020402020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副标题编辑区域位置</a:t>
            </a:r>
            <a:endParaRPr lang="zh-CN" alt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tags" Target="../tags/tag62.xml"/><Relationship Id="rId20" Type="http://schemas.openxmlformats.org/officeDocument/2006/relationships/tags" Target="../tags/tag61.xml"/><Relationship Id="rId2" Type="http://schemas.openxmlformats.org/officeDocument/2006/relationships/slideLayout" Target="../slideLayouts/slideLayout2.xml"/><Relationship Id="rId19" Type="http://schemas.openxmlformats.org/officeDocument/2006/relationships/tags" Target="../tags/tag60.xml"/><Relationship Id="rId18" Type="http://schemas.openxmlformats.org/officeDocument/2006/relationships/tags" Target="../tags/tag59.xml"/><Relationship Id="rId17" Type="http://schemas.openxmlformats.org/officeDocument/2006/relationships/tags" Target="../tags/tag58.xml"/><Relationship Id="rId16" Type="http://schemas.openxmlformats.org/officeDocument/2006/relationships/tags" Target="../tags/tag57.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8"/>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9"/>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0"/>
            </p:custDataLst>
          </p:nvPr>
        </p:nvSpPr>
        <p:spPr>
          <a:xfrm>
            <a:off x="9238280" y="6162000"/>
            <a:ext cx="2700000" cy="316800"/>
          </a:xfrm>
          <a:prstGeom prst="rect">
            <a:avLst/>
          </a:prstGeom>
        </p:spPr>
        <p:txBody>
          <a:bodyPr vert="horz" lIns="91440" tIns="45720" rIns="91440" bIns="45720" rtlCol="0" anchor="ctr">
            <a:normAutofit/>
          </a:bodyPr>
          <a:lstStyle>
            <a:lvl1pPr algn="r">
              <a:defRPr sz="12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21"/>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6.png"/></Relationships>
</file>

<file path=ppt/slides/_rels/slide2.xml.rels><?xml version="1.0" encoding="UTF-8" standalone="yes"?>
<Relationships xmlns="http://schemas.openxmlformats.org/package/2006/relationships"><Relationship Id="rId9" Type="http://schemas.openxmlformats.org/officeDocument/2006/relationships/tags" Target="../tags/tag71.xml"/><Relationship Id="rId8" Type="http://schemas.openxmlformats.org/officeDocument/2006/relationships/tags" Target="../tags/tag70.xml"/><Relationship Id="rId7" Type="http://schemas.openxmlformats.org/officeDocument/2006/relationships/tags" Target="../tags/tag69.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 Id="rId3" Type="http://schemas.openxmlformats.org/officeDocument/2006/relationships/tags" Target="../tags/tag65.xml"/><Relationship Id="rId20" Type="http://schemas.openxmlformats.org/officeDocument/2006/relationships/notesSlide" Target="../notesSlides/notesSlide2.xml"/><Relationship Id="rId2" Type="http://schemas.openxmlformats.org/officeDocument/2006/relationships/tags" Target="../tags/tag64.xml"/><Relationship Id="rId19" Type="http://schemas.openxmlformats.org/officeDocument/2006/relationships/slideLayout" Target="../slideLayouts/slideLayout15.xml"/><Relationship Id="rId18" Type="http://schemas.openxmlformats.org/officeDocument/2006/relationships/tags" Target="../tags/tag80.xml"/><Relationship Id="rId17" Type="http://schemas.openxmlformats.org/officeDocument/2006/relationships/tags" Target="../tags/tag79.xml"/><Relationship Id="rId16" Type="http://schemas.openxmlformats.org/officeDocument/2006/relationships/tags" Target="../tags/tag78.xml"/><Relationship Id="rId15" Type="http://schemas.openxmlformats.org/officeDocument/2006/relationships/tags" Target="../tags/tag77.xml"/><Relationship Id="rId14" Type="http://schemas.openxmlformats.org/officeDocument/2006/relationships/tags" Target="../tags/tag76.xml"/><Relationship Id="rId13" Type="http://schemas.openxmlformats.org/officeDocument/2006/relationships/tags" Target="../tags/tag75.xml"/><Relationship Id="rId12" Type="http://schemas.openxmlformats.org/officeDocument/2006/relationships/tags" Target="../tags/tag74.xml"/><Relationship Id="rId11" Type="http://schemas.openxmlformats.org/officeDocument/2006/relationships/tags" Target="../tags/tag73.xml"/><Relationship Id="rId10" Type="http://schemas.openxmlformats.org/officeDocument/2006/relationships/tags" Target="../tags/tag72.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5.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5.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5.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slideLayout" Target="../slideLayouts/slideLayout13.xml"/><Relationship Id="rId7" Type="http://schemas.openxmlformats.org/officeDocument/2006/relationships/tags" Target="../tags/tag93.xml"/><Relationship Id="rId6" Type="http://schemas.openxmlformats.org/officeDocument/2006/relationships/tags" Target="../tags/tag92.xml"/><Relationship Id="rId5" Type="http://schemas.openxmlformats.org/officeDocument/2006/relationships/image" Target="../media/image12.png"/><Relationship Id="rId4" Type="http://schemas.openxmlformats.org/officeDocument/2006/relationships/image" Target="../media/image11.png"/><Relationship Id="rId3" Type="http://schemas.openxmlformats.org/officeDocument/2006/relationships/tags" Target="../tags/tag91.xml"/><Relationship Id="rId2" Type="http://schemas.openxmlformats.org/officeDocument/2006/relationships/image" Target="../media/image10.png"/><Relationship Id="rId1" Type="http://schemas.openxmlformats.org/officeDocument/2006/relationships/tags" Target="../tags/tag90.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3.xml"/><Relationship Id="rId2" Type="http://schemas.openxmlformats.org/officeDocument/2006/relationships/image" Target="../media/image14.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3.xml"/><Relationship Id="rId2" Type="http://schemas.openxmlformats.org/officeDocument/2006/relationships/image" Target="../media/image16.pn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5.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3.xml"/><Relationship Id="rId2" Type="http://schemas.openxmlformats.org/officeDocument/2006/relationships/image" Target="../media/image18.png"/><Relationship Id="rId1" Type="http://schemas.openxmlformats.org/officeDocument/2006/relationships/image" Target="../media/image17.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5.xml"/><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3.xml"/><Relationship Id="rId2" Type="http://schemas.openxmlformats.org/officeDocument/2006/relationships/image" Target="../media/image20.png"/><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3.xml"/><Relationship Id="rId2" Type="http://schemas.openxmlformats.org/officeDocument/2006/relationships/image" Target="../media/image20.png"/><Relationship Id="rId1"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21.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3.xml"/><Relationship Id="rId2" Type="http://schemas.openxmlformats.org/officeDocument/2006/relationships/image" Target="../media/image19.png"/><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5.xml"/><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4.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10540" y="1090930"/>
            <a:ext cx="11959590" cy="1035685"/>
          </a:xfrm>
        </p:spPr>
        <p:txBody>
          <a:bodyPr/>
          <a:lstStyle/>
          <a:p>
            <a:r>
              <a:rPr lang="en-US" altLang="zh-CN" sz="2800" dirty="0"/>
              <a:t>Trident:A Universal Framework for Fine-Grained and</a:t>
            </a:r>
            <a:br>
              <a:rPr lang="en-US" altLang="zh-CN" sz="2800" dirty="0"/>
            </a:br>
            <a:r>
              <a:rPr lang="en-US" altLang="zh-CN" sz="2800" dirty="0"/>
              <a:t>Class-Incremental Unknown Traffic Detection</a:t>
            </a:r>
            <a:endParaRPr lang="en-US" altLang="zh-CN" sz="2800" dirty="0"/>
          </a:p>
        </p:txBody>
      </p:sp>
      <p:pic>
        <p:nvPicPr>
          <p:cNvPr id="7" name="图片 6"/>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733430" y="122711"/>
            <a:ext cx="1458542" cy="1162447"/>
          </a:xfrm>
          <a:prstGeom prst="rect">
            <a:avLst/>
          </a:prstGeom>
        </p:spPr>
      </p:pic>
      <p:sp>
        <p:nvSpPr>
          <p:cNvPr id="8" name="文本占位符 3"/>
          <p:cNvSpPr>
            <a:spLocks noGrp="1"/>
          </p:cNvSpPr>
          <p:nvPr/>
        </p:nvSpPr>
        <p:spPr>
          <a:xfrm>
            <a:off x="1177925" y="3960495"/>
            <a:ext cx="10017760" cy="490855"/>
          </a:xfrm>
          <a:prstGeom prst="rect">
            <a:avLst/>
          </a:prstGeom>
        </p:spPr>
        <p:txBody>
          <a:bodyPr vert="horz" lIns="90000" tIns="46800" rIns="90000" bIns="46800" rtlCol="0">
            <a:noAutofit/>
          </a:bodyPr>
          <a:lstStyle>
            <a:lvl1pPr marL="0" indent="0" algn="l" defTabSz="914400" rtl="0" eaLnBrk="1" fontAlgn="auto" latinLnBrk="0" hangingPunct="1">
              <a:lnSpc>
                <a:spcPct val="130000"/>
              </a:lnSpc>
              <a:spcBef>
                <a:spcPts val="0"/>
              </a:spcBef>
              <a:spcAft>
                <a:spcPts val="1000"/>
              </a:spcAft>
              <a:buFont typeface="Arial" panose="020B0604020202020204" pitchFamily="34" charset="0"/>
              <a:buNone/>
              <a:defRPr sz="1500" u="none" strike="noStrike" kern="1200" cap="none" spc="150" normalizeH="0" baseline="0">
                <a:solidFill>
                  <a:srgbClr val="878787"/>
                </a:solidFill>
                <a:uFillTx/>
                <a:latin typeface="微软雅黑" panose="020B0503020204020204" charset="-122"/>
                <a:ea typeface="微软雅黑" panose="020B050302020402020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dirty="0">
                <a:solidFill>
                  <a:schemeClr val="tx1">
                    <a:lumMod val="65000"/>
                    <a:lumOff val="35000"/>
                  </a:schemeClr>
                </a:solidFill>
                <a:sym typeface="+mn-ea"/>
              </a:rPr>
              <a:t>小组成员：任琳瑞</a:t>
            </a:r>
            <a:r>
              <a:rPr lang="en-US" altLang="zh-CN" sz="1800" dirty="0">
                <a:solidFill>
                  <a:schemeClr val="tx1">
                    <a:lumMod val="65000"/>
                    <a:lumOff val="35000"/>
                  </a:schemeClr>
                </a:solidFill>
                <a:sym typeface="+mn-ea"/>
              </a:rPr>
              <a:t> </a:t>
            </a:r>
            <a:r>
              <a:rPr lang="zh-CN" altLang="en-US" sz="1800" dirty="0">
                <a:solidFill>
                  <a:schemeClr val="tx1">
                    <a:lumMod val="65000"/>
                    <a:lumOff val="35000"/>
                  </a:schemeClr>
                </a:solidFill>
                <a:sym typeface="+mn-ea"/>
              </a:rPr>
              <a:t>李美含</a:t>
            </a:r>
            <a:r>
              <a:rPr lang="en-US" altLang="zh-CN" sz="1800" dirty="0">
                <a:solidFill>
                  <a:schemeClr val="tx1">
                    <a:lumMod val="65000"/>
                    <a:lumOff val="35000"/>
                  </a:schemeClr>
                </a:solidFill>
                <a:sym typeface="+mn-ea"/>
              </a:rPr>
              <a:t> </a:t>
            </a:r>
            <a:r>
              <a:rPr lang="zh-CN" altLang="en-US" sz="1800" dirty="0">
                <a:solidFill>
                  <a:schemeClr val="tx1">
                    <a:lumMod val="65000"/>
                    <a:lumOff val="35000"/>
                  </a:schemeClr>
                </a:solidFill>
                <a:sym typeface="+mn-ea"/>
              </a:rPr>
              <a:t>陈怡</a:t>
            </a:r>
            <a:r>
              <a:rPr lang="en-US" altLang="zh-CN" sz="1800" dirty="0">
                <a:solidFill>
                  <a:schemeClr val="tx1">
                    <a:lumMod val="65000"/>
                    <a:lumOff val="35000"/>
                  </a:schemeClr>
                </a:solidFill>
                <a:sym typeface="+mn-ea"/>
              </a:rPr>
              <a:t> </a:t>
            </a:r>
            <a:r>
              <a:rPr lang="zh-CN" altLang="en-US" sz="1800" dirty="0">
                <a:solidFill>
                  <a:schemeClr val="tx1">
                    <a:lumMod val="65000"/>
                    <a:lumOff val="35000"/>
                  </a:schemeClr>
                </a:solidFill>
                <a:sym typeface="+mn-ea"/>
              </a:rPr>
              <a:t>刘鑫</a:t>
            </a:r>
            <a:r>
              <a:rPr lang="en-US" altLang="zh-CN" sz="1800" dirty="0">
                <a:solidFill>
                  <a:schemeClr val="tx1">
                    <a:lumMod val="65000"/>
                    <a:lumOff val="35000"/>
                  </a:schemeClr>
                </a:solidFill>
                <a:sym typeface="+mn-ea"/>
              </a:rPr>
              <a:t> </a:t>
            </a:r>
            <a:r>
              <a:rPr lang="zh-CN" altLang="en-US" sz="1800" dirty="0">
                <a:solidFill>
                  <a:schemeClr val="tx1">
                    <a:lumMod val="65000"/>
                    <a:lumOff val="35000"/>
                  </a:schemeClr>
                </a:solidFill>
                <a:sym typeface="+mn-ea"/>
              </a:rPr>
              <a:t>刘瑞岩</a:t>
            </a:r>
            <a:r>
              <a:rPr lang="en-US" altLang="zh-CN" sz="1800" dirty="0">
                <a:solidFill>
                  <a:schemeClr val="tx1">
                    <a:lumMod val="65000"/>
                    <a:lumOff val="35000"/>
                  </a:schemeClr>
                </a:solidFill>
                <a:sym typeface="+mn-ea"/>
              </a:rPr>
              <a:t>      </a:t>
            </a:r>
            <a:r>
              <a:rPr lang="zh-CN" altLang="en-US" sz="1800" dirty="0">
                <a:solidFill>
                  <a:schemeClr val="tx1">
                    <a:lumMod val="65000"/>
                    <a:lumOff val="35000"/>
                  </a:schemeClr>
                </a:solidFill>
                <a:sym typeface="+mn-ea"/>
              </a:rPr>
              <a:t>日期：</a:t>
            </a:r>
            <a:r>
              <a:rPr lang="en-US" altLang="zh-CN" sz="1800" dirty="0">
                <a:solidFill>
                  <a:schemeClr val="tx1">
                    <a:lumMod val="65000"/>
                    <a:lumOff val="35000"/>
                  </a:schemeClr>
                </a:solidFill>
                <a:sym typeface="+mn-ea"/>
              </a:rPr>
              <a:t>2026.1.12     </a:t>
            </a:r>
            <a:r>
              <a:rPr lang="zh-CN" altLang="en-US" sz="1800" dirty="0">
                <a:solidFill>
                  <a:schemeClr val="tx1">
                    <a:lumMod val="65000"/>
                    <a:lumOff val="35000"/>
                  </a:schemeClr>
                </a:solidFill>
                <a:sym typeface="+mn-ea"/>
              </a:rPr>
              <a:t>汇报人：刘</a:t>
            </a:r>
            <a:r>
              <a:rPr lang="zh-CN" altLang="en-US" sz="1800" dirty="0">
                <a:solidFill>
                  <a:schemeClr val="tx1">
                    <a:lumMod val="65000"/>
                    <a:lumOff val="35000"/>
                  </a:schemeClr>
                </a:solidFill>
                <a:sym typeface="+mn-ea"/>
              </a:rPr>
              <a:t>鑫</a:t>
            </a:r>
            <a:endParaRPr lang="zh-CN" altLang="en-US" sz="1800" dirty="0">
              <a:solidFill>
                <a:schemeClr val="tx1">
                  <a:lumMod val="65000"/>
                  <a:lumOff val="35000"/>
                </a:schemeClr>
              </a:solidFill>
              <a:sym typeface="+mn-ea"/>
            </a:endParaRPr>
          </a:p>
        </p:txBody>
      </p:sp>
      <p:sp>
        <p:nvSpPr>
          <p:cNvPr id="3" name="文本框 2"/>
          <p:cNvSpPr txBox="1"/>
          <p:nvPr/>
        </p:nvSpPr>
        <p:spPr>
          <a:xfrm>
            <a:off x="833120" y="2372360"/>
            <a:ext cx="10443845" cy="1476375"/>
          </a:xfrm>
          <a:prstGeom prst="rect">
            <a:avLst/>
          </a:prstGeom>
          <a:noFill/>
        </p:spPr>
        <p:txBody>
          <a:bodyPr wrap="square" rtlCol="0">
            <a:spAutoFit/>
          </a:bodyPr>
          <a:p>
            <a:pPr algn="ctr">
              <a:lnSpc>
                <a:spcPct val="150000"/>
              </a:lnSpc>
            </a:pPr>
            <a:r>
              <a:rPr lang="en-US" altLang="zh-CN" sz="2000">
                <a:latin typeface="Times New Roman" panose="02020603050405020304" charset="0"/>
                <a:cs typeface="Times New Roman" panose="02020603050405020304" charset="0"/>
              </a:rPr>
              <a:t>ZIMING ZHAO</a:t>
            </a:r>
            <a:r>
              <a:rPr lang="zh-CN" altLang="en-US" sz="2000">
                <a:latin typeface="Times New Roman" panose="02020603050405020304" charset="0"/>
                <a:cs typeface="Times New Roman" panose="02020603050405020304" charset="0"/>
              </a:rPr>
              <a:t>、</a:t>
            </a:r>
            <a:r>
              <a:rPr lang="en-US" altLang="zh-CN" sz="2000">
                <a:latin typeface="Times New Roman" panose="02020603050405020304" charset="0"/>
                <a:cs typeface="Times New Roman" panose="02020603050405020304" charset="0"/>
              </a:rPr>
              <a:t>ZHAOXUAN LI</a:t>
            </a:r>
            <a:r>
              <a:rPr lang="zh-CN" altLang="en-US" sz="2000">
                <a:latin typeface="Times New Roman" panose="02020603050405020304" charset="0"/>
                <a:cs typeface="Times New Roman" panose="02020603050405020304" charset="0"/>
              </a:rPr>
              <a:t>、</a:t>
            </a:r>
            <a:r>
              <a:rPr lang="en-US" altLang="zh-CN" sz="2000">
                <a:latin typeface="Times New Roman" panose="02020603050405020304" charset="0"/>
                <a:cs typeface="Times New Roman" panose="02020603050405020304" charset="0"/>
              </a:rPr>
              <a:t>ZHUOXUE SONG</a:t>
            </a:r>
            <a:r>
              <a:rPr lang="zh-CN" altLang="en-US" sz="2000">
                <a:latin typeface="Times New Roman" panose="02020603050405020304" charset="0"/>
                <a:cs typeface="Times New Roman" panose="02020603050405020304" charset="0"/>
              </a:rPr>
              <a:t>、</a:t>
            </a:r>
            <a:r>
              <a:rPr lang="en-US" altLang="zh-CN" sz="2000">
                <a:latin typeface="Times New Roman" panose="02020603050405020304" charset="0"/>
                <a:cs typeface="Times New Roman" panose="02020603050405020304" charset="0"/>
              </a:rPr>
              <a:t>WENHAO LI</a:t>
            </a:r>
            <a:r>
              <a:rPr lang="zh-CN" altLang="en-US" sz="2000">
                <a:latin typeface="Times New Roman" panose="02020603050405020304" charset="0"/>
                <a:cs typeface="Times New Roman" panose="02020603050405020304" charset="0"/>
              </a:rPr>
              <a:t>、</a:t>
            </a:r>
            <a:r>
              <a:rPr lang="en-US" altLang="zh-CN" sz="2000">
                <a:latin typeface="Times New Roman" panose="02020603050405020304" charset="0"/>
                <a:cs typeface="Times New Roman" panose="02020603050405020304" charset="0"/>
              </a:rPr>
              <a:t>FAN ZHANG</a:t>
            </a:r>
            <a:endParaRPr lang="en-US" altLang="zh-CN" sz="2000">
              <a:latin typeface="Times New Roman" panose="02020603050405020304" charset="0"/>
              <a:cs typeface="Times New Roman" panose="02020603050405020304" charset="0"/>
            </a:endParaRPr>
          </a:p>
          <a:p>
            <a:pPr algn="ctr">
              <a:lnSpc>
                <a:spcPct val="150000"/>
              </a:lnSpc>
            </a:pPr>
            <a:r>
              <a:rPr lang="en-US" altLang="zh-CN" sz="2000">
                <a:latin typeface="Times New Roman" panose="02020603050405020304" charset="0"/>
                <a:cs typeface="Times New Roman" panose="02020603050405020304" charset="0"/>
              </a:rPr>
              <a:t>Zhejiang University, Institute of Information Engineering</a:t>
            </a:r>
            <a:endParaRPr lang="en-US" altLang="zh-CN" sz="2000">
              <a:latin typeface="Times New Roman" panose="02020603050405020304" charset="0"/>
              <a:cs typeface="Times New Roman" panose="02020603050405020304" charset="0"/>
            </a:endParaRPr>
          </a:p>
          <a:p>
            <a:pPr algn="ctr">
              <a:lnSpc>
                <a:spcPct val="150000"/>
              </a:lnSpc>
            </a:pPr>
            <a:r>
              <a:rPr lang="en-US" altLang="zh-CN" sz="2000">
                <a:latin typeface="Times New Roman" panose="02020603050405020304" charset="0"/>
                <a:cs typeface="Times New Roman" panose="02020603050405020304" charset="0"/>
              </a:rPr>
              <a:t>WWW 2024</a:t>
            </a:r>
            <a:endParaRPr lang="zh-CN" altLang="en-US" sz="2000">
              <a:latin typeface="Times New Roman" panose="02020603050405020304" charset="0"/>
              <a:cs typeface="Times New Roman" panose="02020603050405020304" charset="0"/>
            </a:endParaRP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839655" y="841085"/>
            <a:ext cx="2479040" cy="3988435"/>
            <a:chOff x="2069379" y="115983"/>
            <a:chExt cx="2479040" cy="3988435"/>
          </a:xfrm>
        </p:grpSpPr>
        <p:sp>
          <p:nvSpPr>
            <p:cNvPr id="21" name="文本框 20"/>
            <p:cNvSpPr txBox="1"/>
            <p:nvPr/>
          </p:nvSpPr>
          <p:spPr>
            <a:xfrm>
              <a:off x="2069379" y="115983"/>
              <a:ext cx="2479040" cy="3988435"/>
            </a:xfrm>
            <a:prstGeom prst="rect">
              <a:avLst/>
            </a:prstGeom>
            <a:noFill/>
          </p:spPr>
          <p:txBody>
            <a:bodyPr wrap="square" rtlCol="0">
              <a:no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mn-lt"/>
                </a:rPr>
                <a:t>目</a:t>
              </a:r>
              <a:endParaRPr kumimoji="0" lang="en-US" altLang="zh-CN" sz="6600" b="0" i="0" u="none" strike="noStrike" kern="1200" cap="none" spc="0" normalizeH="0" baseline="0" noProof="0" dirty="0">
                <a:ln>
                  <a:noFill/>
                </a:ln>
                <a:solidFill>
                  <a:schemeClr val="bg1"/>
                </a:solidFill>
                <a:effectLst/>
                <a:uLnTx/>
                <a:uFillTx/>
                <a:latin typeface="思源宋体 CN Heavy" panose="02020900000000000000" pitchFamily="18" charset="-122"/>
                <a:ea typeface="思源宋体 CN Heavy" panose="02020900000000000000" pitchFamily="18"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0" i="0" u="none" strike="noStrike" kern="1200" cap="none" spc="0" normalizeH="0" baseline="0" noProof="0" dirty="0">
                  <a:ln>
                    <a:noFill/>
                  </a:ln>
                  <a:solidFill>
                    <a:schemeClr val="bg1"/>
                  </a:solidFill>
                  <a:effectLst/>
                  <a:uLnTx/>
                  <a:uFillTx/>
                  <a:latin typeface="思源宋体 CN Heavy" panose="02020900000000000000" pitchFamily="18" charset="-122"/>
                  <a:ea typeface="思源宋体 CN Heavy" panose="02020900000000000000" pitchFamily="18" charset="-122"/>
                  <a:cs typeface="+mn-ea"/>
                  <a:sym typeface="+mn-lt"/>
                </a:rPr>
                <a:t> </a:t>
              </a:r>
              <a:endParaRPr kumimoji="0" lang="zh-CN" altLang="en-US" sz="6600" b="0" i="0" u="none" strike="noStrike" kern="1200" cap="none" spc="0" normalizeH="0" baseline="0" noProof="0" dirty="0">
                <a:ln>
                  <a:noFill/>
                </a:ln>
                <a:solidFill>
                  <a:schemeClr val="bg1"/>
                </a:solidFill>
                <a:effectLst/>
                <a:uLnTx/>
                <a:uFillTx/>
                <a:latin typeface="思源宋体 CN Heavy" panose="02020900000000000000" pitchFamily="18" charset="-122"/>
                <a:ea typeface="思源宋体 CN Heavy" panose="02020900000000000000" pitchFamily="18" charset="-122"/>
                <a:cs typeface="+mn-ea"/>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0" i="0" u="none" strike="noStrike" kern="1200" cap="none" spc="0" normalizeH="0" baseline="0" noProof="0" dirty="0">
                  <a:ln>
                    <a:noFill/>
                  </a:ln>
                  <a:solidFill>
                    <a:schemeClr val="bg1"/>
                  </a:solidFill>
                  <a:effectLst/>
                  <a:uLnTx/>
                  <a:uFillTx/>
                  <a:latin typeface="思源宋体 CN Heavy" panose="02020900000000000000" pitchFamily="18" charset="-122"/>
                  <a:ea typeface="思源宋体 CN Heavy" panose="02020900000000000000" pitchFamily="18" charset="-122"/>
                  <a:cs typeface="+mn-ea"/>
                  <a:sym typeface="+mn-lt"/>
                </a:rPr>
                <a:t>     </a:t>
              </a:r>
              <a:r>
                <a:rPr kumimoji="0" lang="zh-CN" altLang="en-US" sz="66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mn-lt"/>
                </a:rPr>
                <a:t>录</a:t>
              </a:r>
              <a:endParaRPr kumimoji="0" lang="zh-CN" altLang="en-US" sz="400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mn-lt"/>
              </a:endParaRPr>
            </a:p>
          </p:txBody>
        </p:sp>
        <p:sp>
          <p:nvSpPr>
            <p:cNvPr id="22" name="文本框 21"/>
            <p:cNvSpPr txBox="1"/>
            <p:nvPr/>
          </p:nvSpPr>
          <p:spPr>
            <a:xfrm>
              <a:off x="3002194" y="1429798"/>
              <a:ext cx="613410" cy="1598295"/>
            </a:xfrm>
            <a:prstGeom prst="rect">
              <a:avLst/>
            </a:prstGeom>
            <a:noFill/>
          </p:spPr>
          <p:txBody>
            <a:bodyPr vert="eaVert" wrap="square" rtlCol="0">
              <a:spAutoFit/>
            </a:bodyPr>
            <a:p>
              <a:r>
                <a:rPr kumimoji="0" lang="en-US" altLang="zh-CN" sz="28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mn-ea"/>
                  <a:sym typeface="+mn-lt"/>
                </a:rPr>
                <a:t>contents</a:t>
              </a:r>
              <a:endParaRPr kumimoji="0" lang="zh-CN" altLang="en-US" sz="28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p:txBody>
        </p:sp>
      </p:grpSp>
      <p:grpSp>
        <p:nvGrpSpPr>
          <p:cNvPr id="6" name="组合 5"/>
          <p:cNvGrpSpPr/>
          <p:nvPr>
            <p:custDataLst>
              <p:tags r:id="rId1"/>
            </p:custDataLst>
          </p:nvPr>
        </p:nvGrpSpPr>
        <p:grpSpPr>
          <a:xfrm>
            <a:off x="4991735" y="593725"/>
            <a:ext cx="3966210" cy="497205"/>
            <a:chOff x="7006" y="1928"/>
            <a:chExt cx="6246" cy="783"/>
          </a:xfrm>
        </p:grpSpPr>
        <p:sp>
          <p:nvSpPr>
            <p:cNvPr id="24" name="矩形: 圆角 23"/>
            <p:cNvSpPr/>
            <p:nvPr>
              <p:custDataLst>
                <p:tags r:id="rId2"/>
              </p:custDataLst>
            </p:nvPr>
          </p:nvSpPr>
          <p:spPr>
            <a:xfrm>
              <a:off x="7006" y="1928"/>
              <a:ext cx="1263" cy="783"/>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01</a:t>
              </a:r>
              <a:endParaRPr kumimoji="0" lang="zh-CN" altLang="en-US"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 name="文本占位符 3"/>
            <p:cNvSpPr>
              <a:spLocks noGrp="1"/>
            </p:cNvSpPr>
            <p:nvPr>
              <p:custDataLst>
                <p:tags r:id="rId3"/>
              </p:custDataLst>
            </p:nvPr>
          </p:nvSpPr>
          <p:spPr>
            <a:xfrm>
              <a:off x="8455" y="2093"/>
              <a:ext cx="4797" cy="4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solidFill>
                    <a:schemeClr val="bg1"/>
                  </a:solidFill>
                </a:rPr>
                <a:t>研究背景与动机</a:t>
              </a:r>
              <a:endParaRPr lang="zh-CN" altLang="en-US" sz="2400">
                <a:solidFill>
                  <a:schemeClr val="bg1"/>
                </a:solidFill>
              </a:endParaRPr>
            </a:p>
          </p:txBody>
        </p:sp>
      </p:grpSp>
      <p:grpSp>
        <p:nvGrpSpPr>
          <p:cNvPr id="7" name="组合 6"/>
          <p:cNvGrpSpPr/>
          <p:nvPr>
            <p:custDataLst>
              <p:tags r:id="rId4"/>
            </p:custDataLst>
          </p:nvPr>
        </p:nvGrpSpPr>
        <p:grpSpPr>
          <a:xfrm>
            <a:off x="4991735" y="1390015"/>
            <a:ext cx="3890010" cy="497205"/>
            <a:chOff x="7006" y="3699"/>
            <a:chExt cx="6126" cy="783"/>
          </a:xfrm>
        </p:grpSpPr>
        <p:sp>
          <p:nvSpPr>
            <p:cNvPr id="14" name="矩形: 圆角 23"/>
            <p:cNvSpPr/>
            <p:nvPr>
              <p:custDataLst>
                <p:tags r:id="rId5"/>
              </p:custDataLst>
            </p:nvPr>
          </p:nvSpPr>
          <p:spPr>
            <a:xfrm>
              <a:off x="7006" y="3699"/>
              <a:ext cx="1263" cy="783"/>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02</a:t>
              </a:r>
              <a:endParaRPr kumimoji="0" lang="zh-CN" altLang="en-US"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5" name="文本占位符 3"/>
            <p:cNvSpPr>
              <a:spLocks noGrp="1"/>
            </p:cNvSpPr>
            <p:nvPr>
              <p:custDataLst>
                <p:tags r:id="rId6"/>
              </p:custDataLst>
            </p:nvPr>
          </p:nvSpPr>
          <p:spPr>
            <a:xfrm>
              <a:off x="8455" y="3864"/>
              <a:ext cx="4677" cy="4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a:solidFill>
                    <a:schemeClr val="bg1"/>
                  </a:solidFill>
                </a:rPr>
                <a:t>NIDS</a:t>
              </a:r>
              <a:r>
                <a:rPr lang="zh-CN" altLang="en-US" sz="2400">
                  <a:solidFill>
                    <a:schemeClr val="bg1"/>
                  </a:solidFill>
                </a:rPr>
                <a:t>发展现状</a:t>
              </a:r>
              <a:endParaRPr lang="zh-CN" altLang="en-US" sz="2400">
                <a:solidFill>
                  <a:schemeClr val="bg1"/>
                </a:solidFill>
              </a:endParaRPr>
            </a:p>
          </p:txBody>
        </p:sp>
      </p:grpSp>
      <p:grpSp>
        <p:nvGrpSpPr>
          <p:cNvPr id="8" name="组合 7"/>
          <p:cNvGrpSpPr/>
          <p:nvPr>
            <p:custDataLst>
              <p:tags r:id="rId7"/>
            </p:custDataLst>
          </p:nvPr>
        </p:nvGrpSpPr>
        <p:grpSpPr>
          <a:xfrm>
            <a:off x="4991735" y="2186305"/>
            <a:ext cx="3173095" cy="497205"/>
            <a:chOff x="7006" y="5470"/>
            <a:chExt cx="4997" cy="783"/>
          </a:xfrm>
        </p:grpSpPr>
        <p:sp>
          <p:nvSpPr>
            <p:cNvPr id="17" name="矩形: 圆角 23"/>
            <p:cNvSpPr/>
            <p:nvPr>
              <p:custDataLst>
                <p:tags r:id="rId8"/>
              </p:custDataLst>
            </p:nvPr>
          </p:nvSpPr>
          <p:spPr>
            <a:xfrm>
              <a:off x="7006" y="5470"/>
              <a:ext cx="1263" cy="783"/>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03</a:t>
              </a:r>
              <a:endParaRPr kumimoji="0" lang="zh-CN" altLang="en-US"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9" name="文本占位符 3"/>
            <p:cNvSpPr>
              <a:spLocks noGrp="1"/>
            </p:cNvSpPr>
            <p:nvPr>
              <p:custDataLst>
                <p:tags r:id="rId9"/>
              </p:custDataLst>
            </p:nvPr>
          </p:nvSpPr>
          <p:spPr>
            <a:xfrm>
              <a:off x="8455" y="5635"/>
              <a:ext cx="3548" cy="4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400">
                  <a:solidFill>
                    <a:schemeClr val="bg1"/>
                  </a:solidFill>
                  <a:sym typeface="+mn-ea"/>
                </a:rPr>
                <a:t>Trident</a:t>
              </a:r>
              <a:r>
                <a:rPr lang="zh-CN" altLang="en-US" sz="2400">
                  <a:solidFill>
                    <a:schemeClr val="bg1"/>
                  </a:solidFill>
                  <a:sym typeface="+mn-ea"/>
                </a:rPr>
                <a:t>框架</a:t>
              </a:r>
              <a:endParaRPr lang="zh-CN" altLang="en-US" sz="2400">
                <a:solidFill>
                  <a:schemeClr val="bg1"/>
                </a:solidFill>
                <a:sym typeface="+mn-ea"/>
              </a:endParaRPr>
            </a:p>
          </p:txBody>
        </p:sp>
      </p:grpSp>
      <p:grpSp>
        <p:nvGrpSpPr>
          <p:cNvPr id="5" name="组合 4"/>
          <p:cNvGrpSpPr/>
          <p:nvPr>
            <p:custDataLst>
              <p:tags r:id="rId10"/>
            </p:custDataLst>
          </p:nvPr>
        </p:nvGrpSpPr>
        <p:grpSpPr>
          <a:xfrm>
            <a:off x="4991735" y="2943860"/>
            <a:ext cx="4331970" cy="497205"/>
            <a:chOff x="7006" y="6823"/>
            <a:chExt cx="6822" cy="783"/>
          </a:xfrm>
        </p:grpSpPr>
        <p:sp>
          <p:nvSpPr>
            <p:cNvPr id="2" name="矩形: 圆角 23"/>
            <p:cNvSpPr/>
            <p:nvPr>
              <p:custDataLst>
                <p:tags r:id="rId11"/>
              </p:custDataLst>
            </p:nvPr>
          </p:nvSpPr>
          <p:spPr>
            <a:xfrm>
              <a:off x="7006" y="6823"/>
              <a:ext cx="1263" cy="783"/>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04</a:t>
              </a:r>
              <a:endParaRPr kumimoji="0" lang="zh-CN" altLang="en-US"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3" name="文本占位符 3"/>
            <p:cNvSpPr>
              <a:spLocks noGrp="1"/>
            </p:cNvSpPr>
            <p:nvPr>
              <p:custDataLst>
                <p:tags r:id="rId12"/>
              </p:custDataLst>
            </p:nvPr>
          </p:nvSpPr>
          <p:spPr>
            <a:xfrm>
              <a:off x="8455" y="6988"/>
              <a:ext cx="5373" cy="4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solidFill>
                    <a:schemeClr val="bg1"/>
                  </a:solidFill>
                </a:rPr>
                <a:t>数据集与实验设置</a:t>
              </a:r>
              <a:endParaRPr lang="zh-CN" altLang="en-US" sz="2400">
                <a:solidFill>
                  <a:schemeClr val="bg1"/>
                </a:solidFill>
              </a:endParaRPr>
            </a:p>
          </p:txBody>
        </p:sp>
      </p:grpSp>
      <p:grpSp>
        <p:nvGrpSpPr>
          <p:cNvPr id="4" name="组合 3"/>
          <p:cNvGrpSpPr/>
          <p:nvPr>
            <p:custDataLst>
              <p:tags r:id="rId13"/>
            </p:custDataLst>
          </p:nvPr>
        </p:nvGrpSpPr>
        <p:grpSpPr>
          <a:xfrm>
            <a:off x="4991735" y="3701415"/>
            <a:ext cx="4070985" cy="497205"/>
            <a:chOff x="7006" y="6823"/>
            <a:chExt cx="6411" cy="783"/>
          </a:xfrm>
        </p:grpSpPr>
        <p:sp>
          <p:nvSpPr>
            <p:cNvPr id="9" name="矩形: 圆角 23"/>
            <p:cNvSpPr/>
            <p:nvPr>
              <p:custDataLst>
                <p:tags r:id="rId14"/>
              </p:custDataLst>
            </p:nvPr>
          </p:nvSpPr>
          <p:spPr>
            <a:xfrm>
              <a:off x="7006" y="6823"/>
              <a:ext cx="1263" cy="783"/>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05</a:t>
              </a:r>
              <a:endParaRPr kumimoji="0" lang="zh-CN" altLang="en-US"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0" name="文本占位符 3"/>
            <p:cNvSpPr>
              <a:spLocks noGrp="1"/>
            </p:cNvSpPr>
            <p:nvPr>
              <p:custDataLst>
                <p:tags r:id="rId15"/>
              </p:custDataLst>
            </p:nvPr>
          </p:nvSpPr>
          <p:spPr>
            <a:xfrm>
              <a:off x="8455" y="6988"/>
              <a:ext cx="4962" cy="4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solidFill>
                    <a:schemeClr val="bg1"/>
                  </a:solidFill>
                </a:rPr>
                <a:t>实验结果分析</a:t>
              </a:r>
              <a:endParaRPr lang="zh-CN" altLang="en-US" sz="2400">
                <a:solidFill>
                  <a:schemeClr val="bg1"/>
                </a:solidFill>
              </a:endParaRPr>
            </a:p>
          </p:txBody>
        </p:sp>
      </p:grpSp>
      <p:grpSp>
        <p:nvGrpSpPr>
          <p:cNvPr id="11" name="组合 10"/>
          <p:cNvGrpSpPr/>
          <p:nvPr>
            <p:custDataLst>
              <p:tags r:id="rId16"/>
            </p:custDataLst>
          </p:nvPr>
        </p:nvGrpSpPr>
        <p:grpSpPr>
          <a:xfrm>
            <a:off x="4991735" y="4458970"/>
            <a:ext cx="4457065" cy="497205"/>
            <a:chOff x="7006" y="6823"/>
            <a:chExt cx="7019" cy="783"/>
          </a:xfrm>
        </p:grpSpPr>
        <p:sp>
          <p:nvSpPr>
            <p:cNvPr id="16" name="矩形: 圆角 23"/>
            <p:cNvSpPr/>
            <p:nvPr>
              <p:custDataLst>
                <p:tags r:id="rId17"/>
              </p:custDataLst>
            </p:nvPr>
          </p:nvSpPr>
          <p:spPr>
            <a:xfrm>
              <a:off x="7006" y="6823"/>
              <a:ext cx="1263" cy="783"/>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06</a:t>
              </a:r>
              <a:endParaRPr kumimoji="0" lang="zh-CN" altLang="en-US" sz="28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8" name="文本占位符 3"/>
            <p:cNvSpPr>
              <a:spLocks noGrp="1"/>
            </p:cNvSpPr>
            <p:nvPr>
              <p:custDataLst>
                <p:tags r:id="rId18"/>
              </p:custDataLst>
            </p:nvPr>
          </p:nvSpPr>
          <p:spPr>
            <a:xfrm>
              <a:off x="8455" y="6988"/>
              <a:ext cx="5570" cy="453"/>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400">
                  <a:solidFill>
                    <a:schemeClr val="bg1"/>
                  </a:solidFill>
                </a:rPr>
                <a:t>总结与展望</a:t>
              </a:r>
              <a:endParaRPr lang="zh-CN" altLang="en-US" sz="2400">
                <a:solidFill>
                  <a:schemeClr val="bg1"/>
                </a:solidFill>
              </a:endParaRPr>
            </a:p>
          </p:txBody>
        </p:sp>
      </p:gr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1497965" y="2243455"/>
            <a:ext cx="9519285" cy="1429385"/>
            <a:chOff x="7006" y="1928"/>
            <a:chExt cx="14991" cy="2251"/>
          </a:xfrm>
        </p:grpSpPr>
        <p:sp>
          <p:nvSpPr>
            <p:cNvPr id="24" name="矩形: 圆角 23"/>
            <p:cNvSpPr/>
            <p:nvPr>
              <p:custDataLst>
                <p:tags r:id="rId2"/>
              </p:custDataLst>
            </p:nvPr>
          </p:nvSpPr>
          <p:spPr>
            <a:xfrm>
              <a:off x="7006" y="1928"/>
              <a:ext cx="3164" cy="2251"/>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01</a:t>
              </a:r>
              <a:endParaRPr kumimoji="0" lang="zh-CN" altLang="en-US"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 name="文本占位符 3"/>
            <p:cNvSpPr>
              <a:spLocks noGrp="1"/>
            </p:cNvSpPr>
            <p:nvPr>
              <p:custDataLst>
                <p:tags r:id="rId3"/>
              </p:custDataLst>
            </p:nvPr>
          </p:nvSpPr>
          <p:spPr>
            <a:xfrm>
              <a:off x="11004" y="2276"/>
              <a:ext cx="10993" cy="116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7200">
                  <a:solidFill>
                    <a:schemeClr val="bg1"/>
                  </a:solidFill>
                </a:rPr>
                <a:t>研究背景与</a:t>
              </a:r>
              <a:r>
                <a:rPr lang="zh-CN" altLang="en-US" sz="7200">
                  <a:solidFill>
                    <a:schemeClr val="bg1"/>
                  </a:solidFill>
                </a:rPr>
                <a:t>动机</a:t>
              </a:r>
              <a:endParaRPr lang="zh-CN" altLang="en-US" sz="7200">
                <a:solidFill>
                  <a:schemeClr val="bg1"/>
                </a:solidFill>
              </a:endParaRPr>
            </a:p>
          </p:txBody>
        </p:sp>
      </p:gr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4640"/>
            <a:ext cx="6746240" cy="530225"/>
          </a:xfrm>
          <a:prstGeom prst="rect">
            <a:avLst/>
          </a:prstGeom>
          <a:noFill/>
        </p:spPr>
        <p:txBody>
          <a:bodyPr wrap="square" rtlCol="0">
            <a:noAutofit/>
          </a:bodyPr>
          <a:lstStyle/>
          <a:p>
            <a:pPr algn="l"/>
            <a:r>
              <a:rPr lang="zh-CN" altLang="en-US" sz="3200" b="1" dirty="0">
                <a:solidFill>
                  <a:srgbClr val="005744"/>
                </a:solidFill>
                <a:latin typeface="微软雅黑" panose="020B0503020204020204" charset="-122"/>
                <a:ea typeface="微软雅黑" panose="020B0503020204020204" charset="-122"/>
                <a:sym typeface="+mn-ea"/>
              </a:rPr>
              <a:t>一、研究背景与</a:t>
            </a:r>
            <a:r>
              <a:rPr lang="zh-CN" altLang="en-US" sz="3200" b="1" dirty="0">
                <a:solidFill>
                  <a:srgbClr val="005744"/>
                </a:solidFill>
                <a:latin typeface="微软雅黑" panose="020B0503020204020204" charset="-122"/>
                <a:ea typeface="微软雅黑" panose="020B0503020204020204" charset="-122"/>
                <a:sym typeface="+mn-ea"/>
              </a:rPr>
              <a:t>动机</a:t>
            </a:r>
            <a:endParaRPr lang="zh-CN" altLang="en-US" sz="3200" b="1" dirty="0">
              <a:solidFill>
                <a:srgbClr val="005744"/>
              </a:solidFill>
              <a:latin typeface="微软雅黑" panose="020B0503020204020204" charset="-122"/>
              <a:ea typeface="微软雅黑" panose="020B0503020204020204" charset="-122"/>
              <a:sym typeface="+mn-ea"/>
            </a:endParaRPr>
          </a:p>
        </p:txBody>
      </p:sp>
      <p:sp>
        <p:nvSpPr>
          <p:cNvPr id="9" name="文本框 8"/>
          <p:cNvSpPr txBox="1"/>
          <p:nvPr/>
        </p:nvSpPr>
        <p:spPr>
          <a:xfrm>
            <a:off x="415925" y="1024255"/>
            <a:ext cx="11204575" cy="5204460"/>
          </a:xfrm>
          <a:prstGeom prst="rect">
            <a:avLst/>
          </a:prstGeom>
          <a:noFill/>
        </p:spPr>
        <p:txBody>
          <a:bodyPr wrap="square" rtlCol="0" anchor="t">
            <a:noAutofit/>
          </a:bodyPr>
          <a:p>
            <a:pPr indent="457200"/>
            <a:r>
              <a:rPr lang="zh-CN" altLang="en-US" sz="2400" dirty="0">
                <a:latin typeface="微软雅黑" panose="020B0503020204020204" charset="-122"/>
                <a:ea typeface="微软雅黑" panose="020B0503020204020204" charset="-122"/>
                <a:cs typeface="微软雅黑" panose="020B0503020204020204" charset="-122"/>
              </a:rPr>
              <a:t>随着互联网基础设施的快速发展，网络安全威胁日益复杂化，尤其是未知攻击流量的检测成为网络入侵检测系统（</a:t>
            </a:r>
            <a:r>
              <a:rPr lang="en-US" altLang="zh-CN" sz="2400" dirty="0">
                <a:latin typeface="微软雅黑" panose="020B0503020204020204" charset="-122"/>
                <a:ea typeface="微软雅黑" panose="020B0503020204020204" charset="-122"/>
                <a:cs typeface="微软雅黑" panose="020B0503020204020204" charset="-122"/>
              </a:rPr>
              <a:t>NIDS</a:t>
            </a:r>
            <a:r>
              <a:rPr lang="zh-CN" altLang="en-US" sz="2400" dirty="0">
                <a:latin typeface="微软雅黑" panose="020B0503020204020204" charset="-122"/>
                <a:ea typeface="微软雅黑" panose="020B0503020204020204" charset="-122"/>
                <a:cs typeface="微软雅黑" panose="020B0503020204020204" charset="-122"/>
              </a:rPr>
              <a:t>）面临的重大挑战。传统的基于签名的检测方法难以应对不断演变的攻击形式，因此基于机器学习的异常检测方法逐渐成为主流。</a:t>
            </a:r>
            <a:endParaRPr lang="zh-CN" altLang="en-US" sz="2400" dirty="0">
              <a:latin typeface="微软雅黑" panose="020B0503020204020204" charset="-122"/>
              <a:ea typeface="微软雅黑" panose="020B0503020204020204" charset="-122"/>
              <a:cs typeface="微软雅黑" panose="020B0503020204020204" charset="-122"/>
            </a:endParaRPr>
          </a:p>
          <a:p>
            <a:endParaRPr lang="en-US" altLang="zh-CN" sz="2400" dirty="0">
              <a:latin typeface="微软雅黑" panose="020B0503020204020204" charset="-122"/>
              <a:ea typeface="微软雅黑" panose="020B0503020204020204" charset="-122"/>
              <a:cs typeface="微软雅黑" panose="020B0503020204020204" charset="-122"/>
            </a:endParaRPr>
          </a:p>
          <a:p>
            <a:r>
              <a:rPr lang="zh-CN" altLang="en-US" sz="2400" dirty="0">
                <a:latin typeface="微软雅黑" panose="020B0503020204020204" charset="-122"/>
                <a:ea typeface="微软雅黑" panose="020B0503020204020204" charset="-122"/>
                <a:cs typeface="微软雅黑" panose="020B0503020204020204" charset="-122"/>
              </a:rPr>
              <a:t>两大核心局限性：</a:t>
            </a:r>
            <a:endParaRPr lang="zh-CN" altLang="en-US" sz="24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lang="zh-CN" altLang="en-US" sz="2400" b="1" dirty="0">
                <a:latin typeface="微软雅黑" panose="020B0503020204020204" charset="-122"/>
                <a:ea typeface="微软雅黑" panose="020B0503020204020204" charset="-122"/>
                <a:cs typeface="微软雅黑" panose="020B0503020204020204" charset="-122"/>
              </a:rPr>
              <a:t>细粒度检测能力不足</a:t>
            </a:r>
            <a:r>
              <a:rPr lang="en-US" altLang="zh-CN" sz="2400" dirty="0">
                <a:latin typeface="微软雅黑" panose="020B0503020204020204" charset="-122"/>
                <a:ea typeface="微软雅黑" panose="020B0503020204020204" charset="-122"/>
                <a:cs typeface="微软雅黑" panose="020B0503020204020204" charset="-122"/>
              </a:rPr>
              <a:t>  </a:t>
            </a:r>
            <a:endParaRPr lang="en-US" altLang="zh-CN" sz="2400" dirty="0">
              <a:latin typeface="微软雅黑" panose="020B0503020204020204" charset="-122"/>
              <a:ea typeface="微软雅黑" panose="020B0503020204020204" charset="-122"/>
              <a:cs typeface="微软雅黑" panose="020B0503020204020204" charset="-122"/>
            </a:endParaRPr>
          </a:p>
          <a:p>
            <a:pPr indent="457200" fontAlgn="auto">
              <a:spcAft>
                <a:spcPts val="600"/>
              </a:spcAft>
            </a:pPr>
            <a:r>
              <a:rPr lang="zh-CN" altLang="en-US" sz="2400" dirty="0">
                <a:latin typeface="微软雅黑" panose="020B0503020204020204" charset="-122"/>
                <a:ea typeface="微软雅黑" panose="020B0503020204020204" charset="-122"/>
                <a:cs typeface="微软雅黑" panose="020B0503020204020204" charset="-122"/>
              </a:rPr>
              <a:t>大多数现有方法仅能进行二分类检测，而无法区分异常流量的具体类型。这种语义鸿沟使得网络管理员难以根据检测结果采取针对性的防御措施。</a:t>
            </a:r>
            <a:endParaRPr lang="en-US" altLang="zh-CN" sz="2400" dirty="0">
              <a:latin typeface="微软雅黑" panose="020B0503020204020204" charset="-122"/>
              <a:ea typeface="微软雅黑" panose="020B0503020204020204" charset="-122"/>
              <a:cs typeface="微软雅黑" panose="020B0503020204020204" charset="-122"/>
            </a:endParaRPr>
          </a:p>
          <a:p>
            <a:pPr marL="342900" indent="-342900">
              <a:buFont typeface="Arial" panose="020B0604020202020204" pitchFamily="34" charset="0"/>
              <a:buChar char="•"/>
            </a:pPr>
            <a:r>
              <a:rPr lang="zh-CN" altLang="en-US" sz="2400" b="1" dirty="0">
                <a:latin typeface="微软雅黑" panose="020B0503020204020204" charset="-122"/>
                <a:ea typeface="微软雅黑" panose="020B0503020204020204" charset="-122"/>
                <a:cs typeface="微软雅黑" panose="020B0503020204020204" charset="-122"/>
              </a:rPr>
              <a:t>缺乏增量更新与适应能力</a:t>
            </a:r>
            <a:r>
              <a:rPr lang="en-US" altLang="zh-CN" sz="2400" dirty="0">
                <a:latin typeface="微软雅黑" panose="020B0503020204020204" charset="-122"/>
                <a:ea typeface="微软雅黑" panose="020B0503020204020204" charset="-122"/>
                <a:cs typeface="微软雅黑" panose="020B0503020204020204" charset="-122"/>
              </a:rPr>
              <a:t>  </a:t>
            </a:r>
            <a:endParaRPr lang="en-US" altLang="zh-CN" sz="2400" dirty="0">
              <a:latin typeface="微软雅黑" panose="020B0503020204020204" charset="-122"/>
              <a:ea typeface="微软雅黑" panose="020B0503020204020204" charset="-122"/>
              <a:cs typeface="微软雅黑" panose="020B0503020204020204" charset="-122"/>
            </a:endParaRPr>
          </a:p>
          <a:p>
            <a:pPr indent="457200"/>
            <a:r>
              <a:rPr lang="zh-CN" altLang="en-US" sz="2400" dirty="0">
                <a:latin typeface="微软雅黑" panose="020B0503020204020204" charset="-122"/>
                <a:ea typeface="微软雅黑" panose="020B0503020204020204" charset="-122"/>
                <a:cs typeface="微软雅黑" panose="020B0503020204020204" charset="-122"/>
              </a:rPr>
              <a:t>网络环境中的流量模式会随时间发生变化，包括正常流量的演变和攻击手法的更新。现有方法通常需要全量重新训练模型以适应新数据，效率低下且难以支持动态类别增量。此外，现有方法在处理多类别增量时往往存在灾难性遗忘问题，即新类别的引入会影响对原有类别的识别性能。</a:t>
            </a:r>
            <a:endParaRPr lang="zh-CN" altLang="en-US" sz="1800" dirty="0">
              <a:latin typeface="微软雅黑" panose="020B0503020204020204" charset="-122"/>
              <a:ea typeface="微软雅黑" panose="020B0503020204020204" charset="-122"/>
              <a:cs typeface="微软雅黑" panose="020B0503020204020204" charset="-122"/>
            </a:endParaRPr>
          </a:p>
          <a:p>
            <a:endParaRPr lang="en-US" altLang="zh-CN" sz="1800" dirty="0">
              <a:latin typeface="微软雅黑" panose="020B0503020204020204" charset="-122"/>
              <a:ea typeface="微软雅黑" panose="020B0503020204020204" charset="-122"/>
              <a:cs typeface="微软雅黑" panose="020B0503020204020204" charset="-122"/>
            </a:endParaRPr>
          </a:p>
          <a:p>
            <a:endParaRPr lang="en-US" altLang="zh-CN" sz="1800" dirty="0">
              <a:latin typeface="微软雅黑" panose="020B0503020204020204" charset="-122"/>
              <a:ea typeface="微软雅黑" panose="020B0503020204020204" charset="-122"/>
              <a:cs typeface="微软雅黑" panose="020B0503020204020204" charset="-122"/>
            </a:endParaRPr>
          </a:p>
          <a:p>
            <a:endParaRPr lang="zh-CN" altLang="en-US"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6746240" cy="530225"/>
          </a:xfrm>
          <a:prstGeom prst="rect">
            <a:avLst/>
          </a:prstGeom>
          <a:noFill/>
        </p:spPr>
        <p:txBody>
          <a:bodyPr wrap="square" rtlCol="0">
            <a:noAutofit/>
          </a:bodyPr>
          <a:lstStyle/>
          <a:p>
            <a:pPr algn="l"/>
            <a:r>
              <a:rPr lang="zh-CN" altLang="en-US" sz="3200" b="1" dirty="0">
                <a:solidFill>
                  <a:srgbClr val="005744"/>
                </a:solidFill>
                <a:latin typeface="微软雅黑" panose="020B0503020204020204" charset="-122"/>
                <a:ea typeface="微软雅黑" panose="020B0503020204020204" charset="-122"/>
                <a:sym typeface="+mn-ea"/>
              </a:rPr>
              <a:t>一、研究背景与</a:t>
            </a:r>
            <a:r>
              <a:rPr lang="zh-CN" altLang="en-US" sz="3200" b="1" dirty="0">
                <a:solidFill>
                  <a:srgbClr val="005744"/>
                </a:solidFill>
                <a:latin typeface="微软雅黑" panose="020B0503020204020204" charset="-122"/>
                <a:ea typeface="微软雅黑" panose="020B0503020204020204" charset="-122"/>
                <a:sym typeface="+mn-ea"/>
              </a:rPr>
              <a:t>动机</a:t>
            </a:r>
            <a:endParaRPr lang="zh-CN" altLang="en-US" sz="3200" b="1" dirty="0">
              <a:solidFill>
                <a:srgbClr val="005744"/>
              </a:solidFill>
              <a:latin typeface="微软雅黑" panose="020B0503020204020204" charset="-122"/>
              <a:ea typeface="微软雅黑" panose="020B0503020204020204" charset="-122"/>
              <a:sym typeface="+mn-ea"/>
            </a:endParaRPr>
          </a:p>
        </p:txBody>
      </p:sp>
      <p:sp>
        <p:nvSpPr>
          <p:cNvPr id="9" name="文本框 8"/>
          <p:cNvSpPr txBox="1"/>
          <p:nvPr/>
        </p:nvSpPr>
        <p:spPr>
          <a:xfrm>
            <a:off x="563245" y="1303020"/>
            <a:ext cx="11331575" cy="4356100"/>
          </a:xfrm>
          <a:prstGeom prst="rect">
            <a:avLst/>
          </a:prstGeom>
          <a:noFill/>
        </p:spPr>
        <p:txBody>
          <a:bodyPr wrap="square" rtlCol="0" anchor="t">
            <a:noAutofit/>
          </a:bodyPr>
          <a:p>
            <a:pPr indent="0" algn="l" fontAlgn="auto">
              <a:lnSpc>
                <a:spcPct val="100000"/>
              </a:lnSpc>
              <a:spcBef>
                <a:spcPts val="600"/>
              </a:spcBef>
              <a:spcAft>
                <a:spcPts val="600"/>
              </a:spcAft>
              <a:buClrTx/>
              <a:buSzTx/>
              <a:buFontTx/>
              <a:buNone/>
            </a:pPr>
            <a:r>
              <a:rPr lang="en-US" altLang="zh-CN" sz="2800" b="1" dirty="0">
                <a:latin typeface="微软雅黑" panose="020B0503020204020204" charset="-122"/>
                <a:ea typeface="微软雅黑" panose="020B0503020204020204" charset="-122"/>
                <a:cs typeface="微软雅黑" panose="020B0503020204020204" charset="-122"/>
                <a:sym typeface="+mn-ea"/>
              </a:rPr>
              <a:t>Trident——</a:t>
            </a:r>
            <a:r>
              <a:rPr lang="zh-CN" altLang="en-US" sz="2800" b="1" dirty="0">
                <a:latin typeface="微软雅黑" panose="020B0503020204020204" charset="-122"/>
                <a:ea typeface="微软雅黑" panose="020B0503020204020204" charset="-122"/>
                <a:cs typeface="微软雅黑" panose="020B0503020204020204" charset="-122"/>
                <a:sym typeface="+mn-ea"/>
              </a:rPr>
              <a:t>面向细粒度、类别增量式的未知流量检测的通用框架</a:t>
            </a:r>
            <a:endParaRPr lang="zh-CN" altLang="en-US" sz="2800"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00000"/>
              </a:lnSpc>
              <a:spcBef>
                <a:spcPts val="600"/>
              </a:spcBef>
              <a:buClrTx/>
              <a:buSzTx/>
              <a:buFont typeface="Arial" panose="020B0604020202020204" pitchFamily="34" charset="0"/>
              <a:buChar char="•"/>
            </a:pPr>
            <a:r>
              <a:rPr lang="zh-CN" altLang="en-US" sz="2400" dirty="0">
                <a:latin typeface="微软雅黑" panose="020B0503020204020204" charset="-122"/>
                <a:ea typeface="微软雅黑" panose="020B0503020204020204" charset="-122"/>
                <a:cs typeface="微软雅黑" panose="020B0503020204020204" charset="-122"/>
              </a:rPr>
              <a:t>动机：</a:t>
            </a:r>
            <a:endParaRPr lang="zh-CN" altLang="en-US" sz="2400" dirty="0">
              <a:latin typeface="微软雅黑" panose="020B0503020204020204" charset="-122"/>
              <a:ea typeface="微软雅黑" panose="020B0503020204020204" charset="-122"/>
              <a:cs typeface="微软雅黑" panose="020B0503020204020204" charset="-122"/>
            </a:endParaRPr>
          </a:p>
          <a:p>
            <a:pPr indent="457200" fontAlgn="auto">
              <a:lnSpc>
                <a:spcPct val="100000"/>
              </a:lnSpc>
              <a:spcBef>
                <a:spcPts val="600"/>
              </a:spcBef>
              <a:spcAft>
                <a:spcPts val="600"/>
              </a:spcAft>
            </a:pPr>
            <a:r>
              <a:rPr lang="zh-CN" altLang="en-US" sz="2400" dirty="0">
                <a:latin typeface="微软雅黑" panose="020B0503020204020204" charset="-122"/>
                <a:ea typeface="微软雅黑" panose="020B0503020204020204" charset="-122"/>
                <a:cs typeface="微软雅黑" panose="020B0503020204020204" charset="-122"/>
              </a:rPr>
              <a:t>为</a:t>
            </a:r>
            <a:r>
              <a:rPr lang="zh-CN" altLang="en-US" sz="2400" dirty="0">
                <a:latin typeface="微软雅黑" panose="020B0503020204020204" charset="-122"/>
                <a:ea typeface="微软雅黑" panose="020B0503020204020204" charset="-122"/>
                <a:cs typeface="微软雅黑" panose="020B0503020204020204" charset="-122"/>
                <a:sym typeface="+mn-ea"/>
              </a:rPr>
              <a:t>弥补当前异常检测系统在细粒度识别和持续适应能力方面的不足，推动</a:t>
            </a:r>
            <a:r>
              <a:rPr lang="en-US" altLang="zh-CN" sz="2400" dirty="0">
                <a:latin typeface="微软雅黑" panose="020B0503020204020204" charset="-122"/>
                <a:ea typeface="微软雅黑" panose="020B0503020204020204" charset="-122"/>
                <a:cs typeface="微软雅黑" panose="020B0503020204020204" charset="-122"/>
                <a:sym typeface="+mn-ea"/>
              </a:rPr>
              <a:t>NIDS</a:t>
            </a:r>
            <a:r>
              <a:rPr lang="zh-CN" altLang="en-US" sz="2400" dirty="0">
                <a:latin typeface="微软雅黑" panose="020B0503020204020204" charset="-122"/>
                <a:ea typeface="微软雅黑" panose="020B0503020204020204" charset="-122"/>
                <a:cs typeface="微软雅黑" panose="020B0503020204020204" charset="-122"/>
                <a:sym typeface="+mn-ea"/>
              </a:rPr>
              <a:t>向更智能、更灵活、更实用的方向发展，以适应不断变化的网络威胁环境</a:t>
            </a:r>
            <a:r>
              <a:rPr lang="zh-CN" altLang="en-US" sz="2400" dirty="0">
                <a:latin typeface="微软雅黑" panose="020B0503020204020204" charset="-122"/>
                <a:ea typeface="微软雅黑" panose="020B0503020204020204" charset="-122"/>
                <a:cs typeface="微软雅黑" panose="020B0503020204020204" charset="-122"/>
              </a:rPr>
              <a:t>。</a:t>
            </a:r>
            <a:endParaRPr lang="zh-CN" altLang="en-US" sz="2400" dirty="0">
              <a:latin typeface="微软雅黑" panose="020B0503020204020204" charset="-122"/>
              <a:ea typeface="微软雅黑" panose="020B0503020204020204" charset="-122"/>
              <a:cs typeface="微软雅黑" panose="020B0503020204020204" charset="-122"/>
            </a:endParaRPr>
          </a:p>
          <a:p>
            <a:pPr marL="342900" indent="-342900" fontAlgn="auto">
              <a:lnSpc>
                <a:spcPct val="100000"/>
              </a:lnSpc>
              <a:spcBef>
                <a:spcPts val="600"/>
              </a:spcBef>
              <a:buFont typeface="Arial" panose="020B0604020202020204" pitchFamily="34" charset="0"/>
              <a:buChar char="•"/>
            </a:pPr>
            <a:r>
              <a:rPr lang="zh-CN" altLang="en-US" sz="2400" dirty="0">
                <a:latin typeface="微软雅黑" panose="020B0503020204020204" charset="-122"/>
                <a:ea typeface="微软雅黑" panose="020B0503020204020204" charset="-122"/>
                <a:cs typeface="微软雅黑" panose="020B0503020204020204" charset="-122"/>
              </a:rPr>
              <a:t>核心思想：</a:t>
            </a:r>
            <a:endParaRPr lang="zh-CN" altLang="en-US" sz="2400" dirty="0">
              <a:latin typeface="微软雅黑" panose="020B0503020204020204" charset="-122"/>
              <a:ea typeface="微软雅黑" panose="020B0503020204020204" charset="-122"/>
              <a:cs typeface="微软雅黑" panose="020B0503020204020204" charset="-122"/>
            </a:endParaRPr>
          </a:p>
          <a:p>
            <a:pPr indent="457200" fontAlgn="auto">
              <a:lnSpc>
                <a:spcPct val="100000"/>
              </a:lnSpc>
              <a:spcBef>
                <a:spcPts val="600"/>
              </a:spcBef>
            </a:pPr>
            <a:r>
              <a:rPr lang="zh-CN" altLang="en-US" sz="2400" dirty="0">
                <a:latin typeface="微软雅黑" panose="020B0503020204020204" charset="-122"/>
                <a:ea typeface="微软雅黑" panose="020B0503020204020204" charset="-122"/>
                <a:cs typeface="微软雅黑" panose="020B0503020204020204" charset="-122"/>
              </a:rPr>
              <a:t>将传统的多分类或异常检测问题解耦为多个独立的一类学习任务，每个任务仅专注于一个流量类别。</a:t>
            </a:r>
            <a:endParaRPr lang="zh-CN" altLang="en-US" sz="2400" dirty="0">
              <a:latin typeface="微软雅黑" panose="020B0503020204020204" charset="-122"/>
              <a:ea typeface="微软雅黑" panose="020B0503020204020204" charset="-122"/>
              <a:cs typeface="微软雅黑" panose="020B0503020204020204" charset="-122"/>
            </a:endParaRPr>
          </a:p>
          <a:p>
            <a:pPr marL="342900" indent="-342900" fontAlgn="auto">
              <a:lnSpc>
                <a:spcPct val="100000"/>
              </a:lnSpc>
              <a:spcBef>
                <a:spcPts val="600"/>
              </a:spcBef>
              <a:buFont typeface="Arial" panose="020B0604020202020204" pitchFamily="34" charset="0"/>
              <a:buChar char="•"/>
            </a:pPr>
            <a:r>
              <a:rPr lang="zh-CN" altLang="en-US" sz="2400" dirty="0">
                <a:latin typeface="微软雅黑" panose="020B0503020204020204" charset="-122"/>
                <a:ea typeface="微软雅黑" panose="020B0503020204020204" charset="-122"/>
                <a:cs typeface="微软雅黑" panose="020B0503020204020204" charset="-122"/>
              </a:rPr>
              <a:t>优势：</a:t>
            </a:r>
            <a:endParaRPr lang="zh-CN" altLang="en-US" sz="2400" dirty="0">
              <a:latin typeface="微软雅黑" panose="020B0503020204020204" charset="-122"/>
              <a:ea typeface="微软雅黑" panose="020B0503020204020204" charset="-122"/>
              <a:cs typeface="微软雅黑" panose="020B0503020204020204" charset="-122"/>
            </a:endParaRPr>
          </a:p>
          <a:p>
            <a:pPr indent="457200" fontAlgn="auto">
              <a:lnSpc>
                <a:spcPct val="100000"/>
              </a:lnSpc>
              <a:spcBef>
                <a:spcPts val="600"/>
              </a:spcBef>
            </a:pPr>
            <a:r>
              <a:rPr lang="zh-CN" altLang="en-US" sz="2400" dirty="0">
                <a:latin typeface="微软雅黑" panose="020B0503020204020204" charset="-122"/>
                <a:ea typeface="微软雅黑" panose="020B0503020204020204" charset="-122"/>
                <a:cs typeface="微软雅黑" panose="020B0503020204020204" charset="-122"/>
              </a:rPr>
              <a:t>通过这种</a:t>
            </a:r>
            <a:r>
              <a:rPr lang="en-US" altLang="zh-CN" sz="2400" dirty="0">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分而治之</a:t>
            </a:r>
            <a:r>
              <a:rPr lang="en-US" altLang="zh-CN" sz="2400" dirty="0">
                <a:latin typeface="微软雅黑" panose="020B0503020204020204" charset="-122"/>
                <a:ea typeface="微软雅黑" panose="020B0503020204020204" charset="-122"/>
                <a:cs typeface="微软雅黑" panose="020B0503020204020204" charset="-122"/>
              </a:rPr>
              <a:t>”</a:t>
            </a:r>
            <a:r>
              <a:rPr lang="zh-CN" altLang="en-US" sz="2400" dirty="0">
                <a:latin typeface="微软雅黑" panose="020B0503020204020204" charset="-122"/>
                <a:ea typeface="微软雅黑" panose="020B0503020204020204" charset="-122"/>
                <a:cs typeface="微软雅黑" panose="020B0503020204020204" charset="-122"/>
              </a:rPr>
              <a:t>的策略，</a:t>
            </a:r>
            <a:r>
              <a:rPr lang="en-US" altLang="zh-CN" sz="2400" dirty="0">
                <a:latin typeface="微软雅黑" panose="020B0503020204020204" charset="-122"/>
                <a:ea typeface="微软雅黑" panose="020B0503020204020204" charset="-122"/>
                <a:cs typeface="微软雅黑" panose="020B0503020204020204" charset="-122"/>
              </a:rPr>
              <a:t>Trident </a:t>
            </a:r>
            <a:r>
              <a:rPr lang="zh-CN" altLang="en-US" sz="2400" dirty="0">
                <a:latin typeface="微软雅黑" panose="020B0503020204020204" charset="-122"/>
                <a:ea typeface="微软雅黑" panose="020B0503020204020204" charset="-122"/>
                <a:cs typeface="微软雅黑" panose="020B0503020204020204" charset="-122"/>
              </a:rPr>
              <a:t>能够在不影响已有类别性能的前提下，动态地增加新类别检测能力，并有效缓解概念漂移带来的影响。</a:t>
            </a:r>
            <a:endParaRPr lang="zh-CN" altLang="en-US" sz="1800" dirty="0">
              <a:latin typeface="微软雅黑" panose="020B0503020204020204" charset="-122"/>
              <a:ea typeface="微软雅黑" panose="020B0503020204020204" charset="-122"/>
              <a:cs typeface="微软雅黑" panose="020B0503020204020204" charset="-122"/>
            </a:endParaRPr>
          </a:p>
          <a:p>
            <a:pPr fontAlgn="auto">
              <a:lnSpc>
                <a:spcPct val="100000"/>
              </a:lnSpc>
              <a:spcBef>
                <a:spcPts val="600"/>
              </a:spcBef>
            </a:pPr>
            <a:endParaRPr lang="en-US" altLang="zh-CN" sz="1800" dirty="0">
              <a:latin typeface="微软雅黑" panose="020B0503020204020204" charset="-122"/>
              <a:ea typeface="微软雅黑" panose="020B0503020204020204" charset="-122"/>
              <a:cs typeface="微软雅黑" panose="020B0503020204020204" charset="-122"/>
            </a:endParaRPr>
          </a:p>
          <a:p>
            <a:pPr fontAlgn="auto">
              <a:lnSpc>
                <a:spcPct val="100000"/>
              </a:lnSpc>
              <a:spcBef>
                <a:spcPts val="600"/>
              </a:spcBef>
            </a:pPr>
            <a:endParaRPr lang="zh-CN" altLang="en-US" sz="1800" dirty="0">
              <a:latin typeface="微软雅黑" panose="020B0503020204020204" charset="-122"/>
              <a:ea typeface="微软雅黑" panose="020B0503020204020204" charset="-122"/>
              <a:cs typeface="微软雅黑" panose="020B0503020204020204" charset="-122"/>
            </a:endParaRPr>
          </a:p>
          <a:p>
            <a:pPr fontAlgn="auto">
              <a:lnSpc>
                <a:spcPct val="100000"/>
              </a:lnSpc>
              <a:spcBef>
                <a:spcPts val="600"/>
              </a:spcBef>
            </a:pPr>
            <a:endParaRPr lang="zh-CN" altLang="en-US" sz="1800" dirty="0">
              <a:latin typeface="微软雅黑" panose="020B0503020204020204" charset="-122"/>
              <a:ea typeface="微软雅黑" panose="020B0503020204020204" charset="-122"/>
              <a:cs typeface="微软雅黑" panose="020B0503020204020204" charset="-122"/>
            </a:endParaRPr>
          </a:p>
          <a:p>
            <a:pPr fontAlgn="auto">
              <a:lnSpc>
                <a:spcPct val="100000"/>
              </a:lnSpc>
              <a:spcBef>
                <a:spcPts val="600"/>
              </a:spcBef>
            </a:pPr>
            <a:endParaRPr lang="zh-CN" altLang="en-US" sz="18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2301875" y="2243455"/>
            <a:ext cx="9519285" cy="1429385"/>
            <a:chOff x="7006" y="1928"/>
            <a:chExt cx="14991" cy="2251"/>
          </a:xfrm>
        </p:grpSpPr>
        <p:sp>
          <p:nvSpPr>
            <p:cNvPr id="24" name="矩形: 圆角 23"/>
            <p:cNvSpPr/>
            <p:nvPr>
              <p:custDataLst>
                <p:tags r:id="rId2"/>
              </p:custDataLst>
            </p:nvPr>
          </p:nvSpPr>
          <p:spPr>
            <a:xfrm>
              <a:off x="7006" y="1928"/>
              <a:ext cx="3164" cy="2251"/>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02</a:t>
              </a:r>
              <a:endParaRPr kumimoji="0" lang="zh-CN" altLang="en-US"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 name="文本占位符 3"/>
            <p:cNvSpPr>
              <a:spLocks noGrp="1"/>
            </p:cNvSpPr>
            <p:nvPr>
              <p:custDataLst>
                <p:tags r:id="rId3"/>
              </p:custDataLst>
            </p:nvPr>
          </p:nvSpPr>
          <p:spPr>
            <a:xfrm>
              <a:off x="11004" y="2276"/>
              <a:ext cx="10993" cy="116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7200">
                  <a:solidFill>
                    <a:schemeClr val="bg1"/>
                  </a:solidFill>
                </a:rPr>
                <a:t>NIDS</a:t>
              </a:r>
              <a:r>
                <a:rPr lang="zh-CN" altLang="en-US" sz="7200">
                  <a:solidFill>
                    <a:schemeClr val="bg1"/>
                  </a:solidFill>
                </a:rPr>
                <a:t>发展</a:t>
              </a:r>
              <a:r>
                <a:rPr lang="zh-CN" altLang="en-US" sz="7200">
                  <a:solidFill>
                    <a:schemeClr val="bg1"/>
                  </a:solidFill>
                </a:rPr>
                <a:t>现状</a:t>
              </a:r>
              <a:endParaRPr lang="zh-CN" altLang="en-US" sz="7200">
                <a:solidFill>
                  <a:schemeClr val="bg1"/>
                </a:solidFill>
              </a:endParaRPr>
            </a:p>
          </p:txBody>
        </p:sp>
      </p:gr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8895715" cy="530225"/>
          </a:xfrm>
          <a:prstGeom prst="rect">
            <a:avLst/>
          </a:prstGeom>
          <a:noFill/>
        </p:spPr>
        <p:txBody>
          <a:bodyPr wrap="square" rtlCol="0">
            <a:noAutofit/>
          </a:bodyPr>
          <a:lstStyle/>
          <a:p>
            <a:pPr algn="l">
              <a:buClrTx/>
              <a:buSzTx/>
              <a:buFontTx/>
            </a:pPr>
            <a:r>
              <a:rPr lang="zh-CN" altLang="en-US" sz="3200" b="1" dirty="0">
                <a:solidFill>
                  <a:srgbClr val="005744"/>
                </a:solidFill>
                <a:latin typeface="微软雅黑" panose="020B0503020204020204" charset="-122"/>
                <a:ea typeface="微软雅黑" panose="020B0503020204020204" charset="-122"/>
                <a:sym typeface="+mn-ea"/>
              </a:rPr>
              <a:t>二、网络入侵检测系统 (NIDS) 发展现状</a:t>
            </a:r>
            <a:endParaRPr lang="zh-CN" altLang="en-US" sz="3200" b="1" dirty="0">
              <a:solidFill>
                <a:srgbClr val="005744"/>
              </a:solidFill>
              <a:latin typeface="微软雅黑" panose="020B0503020204020204" charset="-122"/>
              <a:ea typeface="微软雅黑" panose="020B0503020204020204" charset="-122"/>
            </a:endParaRPr>
          </a:p>
          <a:p>
            <a:pPr algn="l"/>
            <a:endParaRPr lang="zh-CN" altLang="en-US" sz="2800" dirty="0"/>
          </a:p>
          <a:p>
            <a:pPr algn="l"/>
            <a:endParaRPr lang="zh-CN" altLang="en-US" sz="2800" dirty="0">
              <a:sym typeface="+mn-ea"/>
            </a:endParaRPr>
          </a:p>
        </p:txBody>
      </p:sp>
      <p:sp>
        <p:nvSpPr>
          <p:cNvPr id="2" name="文本框 1"/>
          <p:cNvSpPr txBox="1"/>
          <p:nvPr/>
        </p:nvSpPr>
        <p:spPr>
          <a:xfrm>
            <a:off x="572770" y="1502410"/>
            <a:ext cx="11046460" cy="4023360"/>
          </a:xfrm>
          <a:prstGeom prst="rect">
            <a:avLst/>
          </a:prstGeom>
          <a:noFill/>
        </p:spPr>
        <p:txBody>
          <a:bodyPr wrap="square" rtlCol="0">
            <a:noAutofit/>
          </a:bodyPr>
          <a:p>
            <a:pPr indent="457200" algn="l" fontAlgn="auto">
              <a:spcBef>
                <a:spcPts val="600"/>
              </a:spcBef>
              <a:buClrTx/>
              <a:buSzTx/>
              <a:buFontTx/>
            </a:pPr>
            <a:r>
              <a:rPr lang="zh-CN" altLang="en-US" sz="2400" dirty="0">
                <a:latin typeface="微软雅黑" panose="020B0503020204020204" charset="-122"/>
                <a:ea typeface="微软雅黑" panose="020B0503020204020204" charset="-122"/>
                <a:cs typeface="微软雅黑" panose="020B0503020204020204" charset="-122"/>
              </a:rPr>
              <a:t>随着加密流量成为常态，NIDS 的研究重心已从早期的特征码匹配转向了基于机器学习（ML）的流量分析。</a:t>
            </a:r>
            <a:endParaRPr lang="zh-CN" altLang="en-US" sz="2400" dirty="0">
              <a:latin typeface="微软雅黑" panose="020B0503020204020204" charset="-122"/>
              <a:ea typeface="微软雅黑" panose="020B0503020204020204" charset="-122"/>
              <a:cs typeface="微软雅黑" panose="020B0503020204020204" charset="-122"/>
            </a:endParaRPr>
          </a:p>
          <a:p>
            <a:pPr algn="l" fontAlgn="auto">
              <a:spcBef>
                <a:spcPts val="600"/>
              </a:spcBef>
              <a:buClrTx/>
              <a:buSzTx/>
              <a:buFontTx/>
            </a:pPr>
            <a:r>
              <a:rPr lang="zh-CN" altLang="en-US" sz="2400" dirty="0">
                <a:latin typeface="微软雅黑" panose="020B0503020204020204" charset="-122"/>
                <a:ea typeface="微软雅黑" panose="020B0503020204020204" charset="-122"/>
                <a:cs typeface="微软雅黑" panose="020B0503020204020204" charset="-122"/>
              </a:rPr>
              <a:t>根据检测目标的不同，现有的工作主要分为两类：</a:t>
            </a:r>
            <a:endParaRPr lang="zh-CN" altLang="en-US" sz="2400" dirty="0">
              <a:latin typeface="微软雅黑" panose="020B0503020204020204" charset="-122"/>
              <a:ea typeface="微软雅黑" panose="020B0503020204020204" charset="-122"/>
              <a:cs typeface="微软雅黑" panose="020B0503020204020204" charset="-122"/>
            </a:endParaRPr>
          </a:p>
          <a:p>
            <a:pPr marL="285750" indent="-285750" algn="l" fontAlgn="auto">
              <a:spcBef>
                <a:spcPts val="600"/>
              </a:spcBef>
              <a:spcAft>
                <a:spcPts val="600"/>
              </a:spcAft>
              <a:buClrTx/>
              <a:buSzTx/>
              <a:buFont typeface="Wingdings" panose="05000000000000000000" charset="0"/>
              <a:buChar char="l"/>
            </a:pPr>
            <a:r>
              <a:rPr lang="zh-CN" altLang="en-US" sz="2400" dirty="0">
                <a:latin typeface="微软雅黑" panose="020B0503020204020204" charset="-122"/>
                <a:ea typeface="微软雅黑" panose="020B0503020204020204" charset="-122"/>
                <a:cs typeface="微软雅黑" panose="020B0503020204020204" charset="-122"/>
              </a:rPr>
              <a:t>已知攻击分类 </a:t>
            </a:r>
            <a:endParaRPr lang="zh-CN" altLang="en-US" sz="2400" dirty="0">
              <a:latin typeface="微软雅黑" panose="020B0503020204020204" charset="-122"/>
              <a:ea typeface="微软雅黑" panose="020B0503020204020204" charset="-122"/>
              <a:cs typeface="微软雅黑" panose="020B0503020204020204" charset="-122"/>
            </a:endParaRPr>
          </a:p>
          <a:p>
            <a:pPr marL="285750" indent="-285750" algn="l" fontAlgn="auto">
              <a:spcBef>
                <a:spcPts val="600"/>
              </a:spcBef>
              <a:buClrTx/>
              <a:buSzTx/>
              <a:buFont typeface="Wingdings" panose="05000000000000000000" charset="0"/>
              <a:buChar char="ü"/>
            </a:pPr>
            <a:r>
              <a:rPr lang="zh-CN" altLang="en-US" sz="2400" b="1" dirty="0">
                <a:latin typeface="微软雅黑" panose="020B0503020204020204" charset="-122"/>
                <a:ea typeface="微软雅黑" panose="020B0503020204020204" charset="-122"/>
                <a:cs typeface="微软雅黑" panose="020B0503020204020204" charset="-122"/>
              </a:rPr>
              <a:t>基于统计特征</a:t>
            </a:r>
            <a:r>
              <a:rPr lang="zh-CN" altLang="en-US" sz="2400" dirty="0">
                <a:latin typeface="微软雅黑" panose="020B0503020204020204" charset="-122"/>
                <a:ea typeface="微软雅黑" panose="020B0503020204020204" charset="-122"/>
                <a:cs typeface="微软雅黑" panose="020B0503020204020204" charset="-122"/>
              </a:rPr>
              <a:t>：许多研究基于提取的统计特征（如包大小、持续时间），利用随机森林（Random Forests）、深度神经网络（DNN）等模型进行分类。</a:t>
            </a:r>
            <a:endParaRPr lang="zh-CN" altLang="en-US" sz="2400" dirty="0">
              <a:latin typeface="微软雅黑" panose="020B0503020204020204" charset="-122"/>
              <a:ea typeface="微软雅黑" panose="020B0503020204020204" charset="-122"/>
              <a:cs typeface="微软雅黑" panose="020B0503020204020204" charset="-122"/>
            </a:endParaRPr>
          </a:p>
          <a:p>
            <a:pPr marL="285750" indent="-285750" algn="l" fontAlgn="auto">
              <a:spcBef>
                <a:spcPts val="600"/>
              </a:spcBef>
              <a:buClrTx/>
              <a:buSzTx/>
              <a:buFont typeface="Wingdings" panose="05000000000000000000" charset="0"/>
              <a:buChar char="ü"/>
            </a:pPr>
            <a:r>
              <a:rPr lang="zh-CN" altLang="en-US" sz="2400" b="1" dirty="0">
                <a:latin typeface="微软雅黑" panose="020B0503020204020204" charset="-122"/>
                <a:ea typeface="微软雅黑" panose="020B0503020204020204" charset="-122"/>
                <a:cs typeface="微软雅黑" panose="020B0503020204020204" charset="-122"/>
              </a:rPr>
              <a:t>基于序列特征</a:t>
            </a:r>
            <a:r>
              <a:rPr lang="zh-CN" altLang="en-US" sz="2400" dirty="0">
                <a:latin typeface="微软雅黑" panose="020B0503020204020204" charset="-122"/>
                <a:ea typeface="微软雅黑" panose="020B0503020204020204" charset="-122"/>
                <a:cs typeface="微软雅黑" panose="020B0503020204020204" charset="-122"/>
              </a:rPr>
              <a:t>：为了捕捉流量的时序依赖性，部分工作采用了马尔可夫链或循环神经网络（RNN）来刻画数据包长度序列等特征。</a:t>
            </a:r>
            <a:endParaRPr lang="zh-CN" altLang="en-US" sz="2400" dirty="0">
              <a:latin typeface="微软雅黑" panose="020B0503020204020204" charset="-122"/>
              <a:ea typeface="微软雅黑" panose="020B0503020204020204" charset="-122"/>
              <a:cs typeface="微软雅黑" panose="020B0503020204020204" charset="-122"/>
            </a:endParaRPr>
          </a:p>
          <a:p>
            <a:pPr indent="0" algn="l" fontAlgn="auto">
              <a:spcBef>
                <a:spcPts val="600"/>
              </a:spcBef>
              <a:buClrTx/>
              <a:buSzTx/>
              <a:buFont typeface="Wingdings" panose="05000000000000000000" charset="0"/>
              <a:buNone/>
            </a:pPr>
            <a:r>
              <a:rPr lang="zh-CN" altLang="en-US" sz="2400" dirty="0">
                <a:latin typeface="微软雅黑" panose="020B0503020204020204" charset="-122"/>
                <a:ea typeface="微软雅黑" panose="020B0503020204020204" charset="-122"/>
                <a:cs typeface="微软雅黑" panose="020B0503020204020204" charset="-122"/>
              </a:rPr>
              <a:t>局限性：这些监督模型通常假设训练集和测试集分布一致，因此在面对训练集中未包含的未知攻击时，表现往往不尽如人意。</a:t>
            </a:r>
            <a:endParaRPr lang="zh-CN" altLang="en-US" sz="2400" dirty="0">
              <a:latin typeface="微软雅黑" panose="020B0503020204020204" charset="-122"/>
              <a:ea typeface="微软雅黑" panose="020B0503020204020204" charset="-122"/>
              <a:cs typeface="微软雅黑" panose="020B0503020204020204" charset="-122"/>
            </a:endParaRPr>
          </a:p>
          <a:p>
            <a:pPr indent="0" algn="l" fontAlgn="auto">
              <a:spcBef>
                <a:spcPts val="600"/>
              </a:spcBef>
              <a:buClrTx/>
              <a:buSzTx/>
              <a:buFont typeface="Wingdings" panose="05000000000000000000" charset="0"/>
              <a:buNone/>
            </a:pPr>
            <a:endParaRPr lang="zh-CN" altLang="en-US"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8895715" cy="530225"/>
          </a:xfrm>
          <a:prstGeom prst="rect">
            <a:avLst/>
          </a:prstGeom>
          <a:noFill/>
        </p:spPr>
        <p:txBody>
          <a:bodyPr wrap="square" rtlCol="0">
            <a:noAutofit/>
          </a:bodyPr>
          <a:lstStyle/>
          <a:p>
            <a:pPr algn="l">
              <a:buClrTx/>
              <a:buSzTx/>
              <a:buFontTx/>
            </a:pPr>
            <a:r>
              <a:rPr lang="zh-CN" altLang="en-US" sz="3200" b="1" dirty="0">
                <a:solidFill>
                  <a:srgbClr val="005744"/>
                </a:solidFill>
                <a:latin typeface="微软雅黑" panose="020B0503020204020204" charset="-122"/>
                <a:ea typeface="微软雅黑" panose="020B0503020204020204" charset="-122"/>
                <a:sym typeface="+mn-ea"/>
              </a:rPr>
              <a:t>二、网络入侵检测系统 (NIDS) 发展现状</a:t>
            </a:r>
            <a:endParaRPr lang="zh-CN" altLang="en-US" sz="3200" b="1" dirty="0">
              <a:solidFill>
                <a:srgbClr val="005744"/>
              </a:solidFill>
              <a:latin typeface="微软雅黑" panose="020B0503020204020204" charset="-122"/>
              <a:ea typeface="微软雅黑" panose="020B0503020204020204" charset="-122"/>
            </a:endParaRPr>
          </a:p>
          <a:p>
            <a:pPr algn="l"/>
            <a:endParaRPr lang="zh-CN" altLang="en-US" sz="2800" dirty="0"/>
          </a:p>
          <a:p>
            <a:pPr algn="l"/>
            <a:endParaRPr lang="zh-CN" altLang="en-US" sz="2800" dirty="0">
              <a:sym typeface="+mn-ea"/>
            </a:endParaRPr>
          </a:p>
        </p:txBody>
      </p:sp>
      <p:sp>
        <p:nvSpPr>
          <p:cNvPr id="2" name="文本框 1"/>
          <p:cNvSpPr txBox="1"/>
          <p:nvPr/>
        </p:nvSpPr>
        <p:spPr>
          <a:xfrm>
            <a:off x="572770" y="1367790"/>
            <a:ext cx="11046460" cy="4246245"/>
          </a:xfrm>
          <a:prstGeom prst="rect">
            <a:avLst/>
          </a:prstGeom>
          <a:noFill/>
        </p:spPr>
        <p:txBody>
          <a:bodyPr wrap="square" rtlCol="0">
            <a:spAutoFit/>
          </a:bodyPr>
          <a:p>
            <a:pPr marL="285750" indent="-285750" algn="l" fontAlgn="auto">
              <a:spcBef>
                <a:spcPts val="600"/>
              </a:spcBef>
              <a:spcAft>
                <a:spcPts val="600"/>
              </a:spcAft>
              <a:buClrTx/>
              <a:buSzTx/>
              <a:buFont typeface="Wingdings" panose="05000000000000000000" charset="0"/>
              <a:buChar char="l"/>
            </a:pPr>
            <a:r>
              <a:rPr lang="zh-CN" altLang="en-US" sz="2400" dirty="0">
                <a:latin typeface="微软雅黑" panose="020B0503020204020204" charset="-122"/>
                <a:ea typeface="微软雅黑" panose="020B0503020204020204" charset="-122"/>
                <a:cs typeface="微软雅黑" panose="020B0503020204020204" charset="-122"/>
                <a:sym typeface="+mn-ea"/>
              </a:rPr>
              <a:t>未知攻击检测 </a:t>
            </a:r>
            <a:endParaRPr lang="zh-CN" altLang="en-US" sz="2400" dirty="0">
              <a:latin typeface="微软雅黑" panose="020B0503020204020204" charset="-122"/>
              <a:ea typeface="微软雅黑" panose="020B0503020204020204" charset="-122"/>
              <a:cs typeface="微软雅黑" panose="020B0503020204020204" charset="-122"/>
              <a:sym typeface="+mn-ea"/>
            </a:endParaRPr>
          </a:p>
          <a:p>
            <a:pPr marL="342900" indent="-342900" algn="l" fontAlgn="auto">
              <a:spcBef>
                <a:spcPts val="600"/>
              </a:spcBef>
              <a:buClrTx/>
              <a:buSzTx/>
              <a:buFont typeface="Wingdings" panose="05000000000000000000" charset="0"/>
              <a:buChar char="ü"/>
            </a:pPr>
            <a:r>
              <a:rPr lang="zh-CN" altLang="en-US" sz="2400" b="1" dirty="0">
                <a:latin typeface="微软雅黑" panose="020B0503020204020204" charset="-122"/>
                <a:ea typeface="微软雅黑" panose="020B0503020204020204" charset="-122"/>
                <a:cs typeface="微软雅黑" panose="020B0503020204020204" charset="-122"/>
                <a:sym typeface="+mn-ea"/>
              </a:rPr>
              <a:t>无监督学习</a:t>
            </a:r>
            <a:r>
              <a:rPr lang="zh-CN" altLang="en-US" sz="2400" dirty="0">
                <a:latin typeface="微软雅黑" panose="020B0503020204020204" charset="-122"/>
                <a:ea typeface="微软雅黑" panose="020B0503020204020204" charset="-122"/>
                <a:cs typeface="微软雅黑" panose="020B0503020204020204" charset="-122"/>
                <a:sym typeface="+mn-ea"/>
              </a:rPr>
              <a:t>：如 K-means、DBSCAN 等聚类算法。由于这类方法仅使用良性样本进行训练，因此也被称为“零正类”学习。</a:t>
            </a:r>
            <a:endParaRPr lang="zh-CN" altLang="en-US" sz="2400" dirty="0">
              <a:latin typeface="微软雅黑" panose="020B0503020204020204" charset="-122"/>
              <a:ea typeface="微软雅黑" panose="020B0503020204020204" charset="-122"/>
              <a:cs typeface="微软雅黑" panose="020B0503020204020204" charset="-122"/>
            </a:endParaRPr>
          </a:p>
          <a:p>
            <a:pPr marL="285750" indent="-285750" algn="l" fontAlgn="auto">
              <a:spcBef>
                <a:spcPts val="600"/>
              </a:spcBef>
              <a:buClrTx/>
              <a:buSzTx/>
              <a:buFont typeface="Wingdings" panose="05000000000000000000" charset="0"/>
              <a:buChar char="ü"/>
            </a:pPr>
            <a:r>
              <a:rPr lang="zh-CN" altLang="en-US" sz="2400" b="1" dirty="0">
                <a:latin typeface="微软雅黑" panose="020B0503020204020204" charset="-122"/>
                <a:ea typeface="微软雅黑" panose="020B0503020204020204" charset="-122"/>
                <a:cs typeface="微软雅黑" panose="020B0503020204020204" charset="-122"/>
                <a:sym typeface="+mn-ea"/>
              </a:rPr>
              <a:t>半监督学习</a:t>
            </a:r>
            <a:r>
              <a:rPr lang="zh-CN" altLang="en-US" sz="2400" dirty="0">
                <a:latin typeface="微软雅黑" panose="020B0503020204020204" charset="-122"/>
                <a:ea typeface="微软雅黑" panose="020B0503020204020204" charset="-122"/>
                <a:cs typeface="微软雅黑" panose="020B0503020204020204" charset="-122"/>
                <a:sym typeface="+mn-ea"/>
              </a:rPr>
              <a:t>：结合了无监督学习和监督学习的优势，如 Cls-Anomaly 和 FARE，试图在少量标签下通过聚类推断未知类。</a:t>
            </a:r>
            <a:endParaRPr lang="zh-CN" altLang="en-US" sz="2400" dirty="0">
              <a:latin typeface="微软雅黑" panose="020B0503020204020204" charset="-122"/>
              <a:ea typeface="微软雅黑" panose="020B0503020204020204" charset="-122"/>
              <a:cs typeface="微软雅黑" panose="020B0503020204020204" charset="-122"/>
            </a:endParaRPr>
          </a:p>
          <a:p>
            <a:pPr marL="285750" indent="-285750" algn="l" fontAlgn="auto">
              <a:spcBef>
                <a:spcPts val="600"/>
              </a:spcBef>
              <a:buClrTx/>
              <a:buSzTx/>
              <a:buFont typeface="Wingdings" panose="05000000000000000000" charset="0"/>
              <a:buChar char="ü"/>
            </a:pPr>
            <a:r>
              <a:rPr lang="zh-CN" altLang="en-US" sz="2400" b="1" dirty="0">
                <a:latin typeface="微软雅黑" panose="020B0503020204020204" charset="-122"/>
                <a:ea typeface="微软雅黑" panose="020B0503020204020204" charset="-122"/>
                <a:cs typeface="微软雅黑" panose="020B0503020204020204" charset="-122"/>
                <a:sym typeface="+mn-ea"/>
              </a:rPr>
              <a:t>零样本学习：</a:t>
            </a:r>
            <a:r>
              <a:rPr lang="zh-CN" altLang="en-US" sz="2400" dirty="0">
                <a:latin typeface="微软雅黑" panose="020B0503020204020204" charset="-122"/>
                <a:ea typeface="微软雅黑" panose="020B0503020204020204" charset="-122"/>
                <a:cs typeface="微软雅黑" panose="020B0503020204020204" charset="-122"/>
                <a:sym typeface="+mn-ea"/>
              </a:rPr>
              <a:t>旨在分类未见过的类别，通常需要丰富的“辅助信息”来构建特征映射，且缺乏增量学习能力，因此并不完全适用于本文探讨的流量检测场景。</a:t>
            </a:r>
            <a:endParaRPr lang="zh-CN" altLang="en-US" sz="2400" dirty="0">
              <a:latin typeface="微软雅黑" panose="020B0503020204020204" charset="-122"/>
              <a:ea typeface="微软雅黑" panose="020B0503020204020204" charset="-122"/>
              <a:cs typeface="微软雅黑" panose="020B0503020204020204" charset="-122"/>
              <a:sym typeface="+mn-ea"/>
            </a:endParaRPr>
          </a:p>
          <a:p>
            <a:pPr indent="0" algn="l" fontAlgn="auto">
              <a:spcBef>
                <a:spcPts val="600"/>
              </a:spcBef>
              <a:buClrTx/>
              <a:buSzTx/>
              <a:buFont typeface="Wingdings" panose="05000000000000000000" charset="0"/>
              <a:buNone/>
            </a:pPr>
            <a:endParaRPr lang="zh-CN" altLang="en-US" sz="2400" dirty="0">
              <a:latin typeface="微软雅黑" panose="020B0503020204020204" charset="-122"/>
              <a:ea typeface="微软雅黑" panose="020B0503020204020204" charset="-122"/>
              <a:cs typeface="微软雅黑" panose="020B0503020204020204" charset="-122"/>
            </a:endParaRPr>
          </a:p>
          <a:p>
            <a:pPr algn="l" fontAlgn="auto">
              <a:spcBef>
                <a:spcPts val="600"/>
              </a:spcBef>
              <a:buClrTx/>
              <a:buSzTx/>
              <a:buFontTx/>
            </a:pPr>
            <a:r>
              <a:rPr lang="zh-CN" altLang="en-US" sz="2400" dirty="0">
                <a:latin typeface="微软雅黑" panose="020B0503020204020204" charset="-122"/>
                <a:ea typeface="微软雅黑" panose="020B0503020204020204" charset="-122"/>
                <a:cs typeface="微软雅黑" panose="020B0503020204020204" charset="-122"/>
                <a:sym typeface="+mn-ea"/>
              </a:rPr>
              <a:t>总结：现有方法要么只能识别已知攻击，要么虽然能发现异常但缺乏细粒度的标签，且大多无法适应流量的动态变化（增量更新）。</a:t>
            </a:r>
            <a:endParaRPr lang="zh-CN" altLang="en-US" sz="24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313690"/>
            <a:ext cx="8895715" cy="530225"/>
          </a:xfrm>
          <a:prstGeom prst="rect">
            <a:avLst/>
          </a:prstGeom>
          <a:noFill/>
        </p:spPr>
        <p:txBody>
          <a:bodyPr wrap="square" rtlCol="0">
            <a:noAutofit/>
          </a:bodyPr>
          <a:lstStyle/>
          <a:p>
            <a:pPr algn="l">
              <a:buClrTx/>
              <a:buSzTx/>
              <a:buFontTx/>
            </a:pPr>
            <a:r>
              <a:rPr lang="zh-CN" altLang="en-US" sz="3200" b="1" dirty="0">
                <a:solidFill>
                  <a:srgbClr val="005744"/>
                </a:solidFill>
                <a:latin typeface="微软雅黑" panose="020B0503020204020204" charset="-122"/>
                <a:ea typeface="微软雅黑" panose="020B0503020204020204" charset="-122"/>
                <a:sym typeface="+mn-ea"/>
              </a:rPr>
              <a:t>二、网络入侵检测系统 (NIDS) 发展现状</a:t>
            </a:r>
            <a:endParaRPr lang="zh-CN" altLang="en-US" sz="2800" b="1" dirty="0">
              <a:solidFill>
                <a:srgbClr val="005744"/>
              </a:solidFill>
              <a:latin typeface="微软雅黑" panose="020B0503020204020204" charset="-122"/>
              <a:ea typeface="微软雅黑" panose="020B0503020204020204" charset="-122"/>
            </a:endParaRPr>
          </a:p>
          <a:p>
            <a:pPr algn="l"/>
            <a:endParaRPr lang="zh-CN" altLang="en-US" sz="2800" dirty="0"/>
          </a:p>
          <a:p>
            <a:pPr algn="l"/>
            <a:endParaRPr lang="zh-CN" altLang="en-US" sz="2800" dirty="0">
              <a:sym typeface="+mn-ea"/>
            </a:endParaRPr>
          </a:p>
        </p:txBody>
      </p:sp>
      <p:sp>
        <p:nvSpPr>
          <p:cNvPr id="3" name="文本框 2"/>
          <p:cNvSpPr txBox="1"/>
          <p:nvPr/>
        </p:nvSpPr>
        <p:spPr>
          <a:xfrm>
            <a:off x="573405" y="1612900"/>
            <a:ext cx="10878185" cy="3456940"/>
          </a:xfrm>
          <a:prstGeom prst="rect">
            <a:avLst/>
          </a:prstGeom>
          <a:noFill/>
        </p:spPr>
        <p:txBody>
          <a:bodyPr wrap="square" rtlCol="0">
            <a:noAutofit/>
          </a:bodyPr>
          <a:p>
            <a:pPr indent="0" algn="l" fontAlgn="auto">
              <a:spcBef>
                <a:spcPts val="600"/>
              </a:spcBef>
              <a:spcAft>
                <a:spcPts val="600"/>
              </a:spcAft>
              <a:buClrTx/>
              <a:buSzTx/>
              <a:buFontTx/>
            </a:pPr>
            <a:r>
              <a:rPr lang="zh-CN" altLang="en-US" sz="2800" b="1" dirty="0">
                <a:latin typeface="微软雅黑" panose="020B0503020204020204" charset="-122"/>
                <a:ea typeface="微软雅黑" panose="020B0503020204020204" charset="-122"/>
                <a:sym typeface="+mn-ea"/>
              </a:rPr>
              <a:t>相关概念</a:t>
            </a:r>
            <a:endParaRPr lang="zh-CN" altLang="en-US" sz="2800" b="1" dirty="0">
              <a:latin typeface="微软雅黑" panose="020B0503020204020204" charset="-122"/>
              <a:ea typeface="微软雅黑" panose="020B0503020204020204" charset="-122"/>
              <a:sym typeface="+mn-ea"/>
            </a:endParaRPr>
          </a:p>
          <a:p>
            <a:pPr algn="l" fontAlgn="auto">
              <a:spcBef>
                <a:spcPts val="600"/>
              </a:spcBef>
              <a:buClrTx/>
              <a:buSzTx/>
              <a:buFontTx/>
            </a:pPr>
            <a:r>
              <a:rPr lang="zh-CN" altLang="en-US" sz="2400" b="1" dirty="0">
                <a:latin typeface="微软雅黑" panose="020B0503020204020204" charset="-122"/>
                <a:ea typeface="微软雅黑" panose="020B0503020204020204" charset="-122"/>
                <a:sym typeface="+mn-ea"/>
              </a:rPr>
              <a:t>增量更新：</a:t>
            </a:r>
            <a:r>
              <a:rPr lang="zh-CN" altLang="en-US" sz="2400" dirty="0">
                <a:latin typeface="微软雅黑" panose="020B0503020204020204" charset="-122"/>
                <a:ea typeface="微软雅黑" panose="020B0503020204020204" charset="-122"/>
                <a:sym typeface="+mn-ea"/>
              </a:rPr>
              <a:t>指机器学习模型在初始训练后，能够在不遗忘旧知识的情况下，持续学习新数据的能力。</a:t>
            </a:r>
            <a:r>
              <a:rPr lang="zh-CN" altLang="en-US" sz="2400" dirty="0">
                <a:latin typeface="微软雅黑" panose="020B0503020204020204" charset="-122"/>
                <a:ea typeface="微软雅黑" panose="020B0503020204020204" charset="-122"/>
                <a:sym typeface="+mn-ea"/>
              </a:rPr>
              <a:t>分为：</a:t>
            </a:r>
            <a:endParaRPr lang="zh-CN" altLang="en-US" sz="2400" dirty="0">
              <a:latin typeface="微软雅黑" panose="020B0503020204020204" charset="-122"/>
              <a:ea typeface="微软雅黑" panose="020B0503020204020204" charset="-122"/>
              <a:sym typeface="+mn-ea"/>
            </a:endParaRPr>
          </a:p>
          <a:p>
            <a:pPr marL="342900" indent="-342900" algn="l" fontAlgn="auto">
              <a:spcBef>
                <a:spcPts val="600"/>
              </a:spcBef>
              <a:buClrTx/>
              <a:buSzTx/>
              <a:buFont typeface="Arial" panose="020B0604020202020204" pitchFamily="34" charset="0"/>
              <a:buChar char="•"/>
            </a:pPr>
            <a:r>
              <a:rPr lang="zh-CN" altLang="en-US" sz="2400" b="1" dirty="0">
                <a:latin typeface="微软雅黑" panose="020B0503020204020204" charset="-122"/>
                <a:ea typeface="微软雅黑" panose="020B0503020204020204" charset="-122"/>
                <a:sym typeface="+mn-ea"/>
              </a:rPr>
              <a:t>样本增量</a:t>
            </a:r>
            <a:r>
              <a:rPr lang="zh-CN" altLang="en-US" sz="2400" dirty="0">
                <a:latin typeface="微软雅黑" panose="020B0503020204020204" charset="-122"/>
                <a:ea typeface="微软雅黑" panose="020B0503020204020204" charset="-122"/>
                <a:sym typeface="+mn-ea"/>
              </a:rPr>
              <a:t>：新的数据属于模型已知的类别，只是为已有类别提供了更多、可能具有新特征的样本，通过新样本，深化、细化或泛化对已有类别的理解，而不仅仅是记住旧样本。</a:t>
            </a:r>
            <a:endParaRPr lang="zh-CN" altLang="en-US" sz="2400" dirty="0">
              <a:latin typeface="微软雅黑" panose="020B0503020204020204" charset="-122"/>
              <a:ea typeface="微软雅黑" panose="020B0503020204020204" charset="-122"/>
              <a:sym typeface="+mn-ea"/>
            </a:endParaRPr>
          </a:p>
          <a:p>
            <a:pPr marL="342900" indent="-342900" algn="l" fontAlgn="auto">
              <a:spcBef>
                <a:spcPts val="600"/>
              </a:spcBef>
              <a:buClrTx/>
              <a:buSzTx/>
              <a:buFont typeface="Arial" panose="020B0604020202020204" pitchFamily="34" charset="0"/>
              <a:buChar char="•"/>
            </a:pPr>
            <a:r>
              <a:rPr lang="zh-CN" altLang="en-US" sz="2400" b="1" dirty="0">
                <a:latin typeface="微软雅黑" panose="020B0503020204020204" charset="-122"/>
                <a:ea typeface="微软雅黑" panose="020B0503020204020204" charset="-122"/>
                <a:sym typeface="+mn-ea"/>
              </a:rPr>
              <a:t>类别增量</a:t>
            </a:r>
            <a:r>
              <a:rPr lang="zh-CN" altLang="en-US" sz="2400" dirty="0">
                <a:latin typeface="微软雅黑" panose="020B0503020204020204" charset="-122"/>
                <a:ea typeface="微软雅黑" panose="020B0503020204020204" charset="-122"/>
                <a:sym typeface="+mn-ea"/>
              </a:rPr>
              <a:t>：</a:t>
            </a:r>
            <a:r>
              <a:rPr lang="zh-CN" altLang="en-US" sz="2400" dirty="0">
                <a:latin typeface="微软雅黑" panose="020B0503020204020204" charset="-122"/>
                <a:ea typeface="微软雅黑" panose="020B0503020204020204" charset="-122"/>
              </a:rPr>
              <a:t>新的数据包含了全新的、模型从未见过的类别。在不重新访问旧类别数据的情况下，让模型学会识别新类别，同时不忘记如何识别旧类别。</a:t>
            </a:r>
            <a:endParaRPr lang="zh-CN" altLang="en-US" sz="2400" dirty="0">
              <a:latin typeface="微软雅黑" panose="020B0503020204020204" charset="-122"/>
              <a:ea typeface="微软雅黑" panose="020B0503020204020204" charset="-122"/>
            </a:endParaRPr>
          </a:p>
          <a:p>
            <a:pPr marL="285750" indent="-285750" algn="l" fontAlgn="auto">
              <a:spcBef>
                <a:spcPts val="600"/>
              </a:spcBef>
              <a:buClrTx/>
              <a:buSzTx/>
              <a:buFont typeface="Arial" panose="020B0604020202020204" pitchFamily="34" charset="0"/>
              <a:buChar char="•"/>
            </a:pPr>
            <a:endParaRPr lang="en-US" altLang="zh-CN" sz="2400">
              <a:latin typeface="微软雅黑" panose="020B0503020204020204" charset="-122"/>
              <a:ea typeface="微软雅黑" panose="020B0503020204020204" charset="-122"/>
            </a:endParaRPr>
          </a:p>
          <a:p>
            <a:pPr indent="0" algn="l" fontAlgn="auto">
              <a:spcBef>
                <a:spcPts val="600"/>
              </a:spcBef>
              <a:buClrTx/>
              <a:buSzTx/>
              <a:buFont typeface="Arial" panose="020B0604020202020204" pitchFamily="34" charset="0"/>
              <a:buNone/>
            </a:pPr>
            <a:endParaRPr lang="zh-CN" altLang="en-US" sz="2400">
              <a:latin typeface="微软雅黑" panose="020B0503020204020204" charset="-122"/>
              <a:ea typeface="微软雅黑" panose="020B0503020204020204" charset="-122"/>
            </a:endParaRPr>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2301875" y="2243455"/>
            <a:ext cx="9519285" cy="1429385"/>
            <a:chOff x="7006" y="1928"/>
            <a:chExt cx="14991" cy="2251"/>
          </a:xfrm>
        </p:grpSpPr>
        <p:sp>
          <p:nvSpPr>
            <p:cNvPr id="24" name="矩形: 圆角 23"/>
            <p:cNvSpPr/>
            <p:nvPr>
              <p:custDataLst>
                <p:tags r:id="rId2"/>
              </p:custDataLst>
            </p:nvPr>
          </p:nvSpPr>
          <p:spPr>
            <a:xfrm>
              <a:off x="7006" y="1928"/>
              <a:ext cx="3164" cy="2251"/>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03</a:t>
              </a:r>
              <a:endParaRPr kumimoji="0" lang="zh-CN" altLang="en-US"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 name="文本占位符 3"/>
            <p:cNvSpPr>
              <a:spLocks noGrp="1"/>
            </p:cNvSpPr>
            <p:nvPr>
              <p:custDataLst>
                <p:tags r:id="rId3"/>
              </p:custDataLst>
            </p:nvPr>
          </p:nvSpPr>
          <p:spPr>
            <a:xfrm>
              <a:off x="11004" y="2276"/>
              <a:ext cx="10993" cy="116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7200">
                  <a:solidFill>
                    <a:schemeClr val="bg1"/>
                  </a:solidFill>
                  <a:sym typeface="+mn-ea"/>
                </a:rPr>
                <a:t>Trident</a:t>
              </a:r>
              <a:r>
                <a:rPr lang="zh-CN" altLang="en-US" sz="7200">
                  <a:solidFill>
                    <a:schemeClr val="bg1"/>
                  </a:solidFill>
                  <a:sym typeface="+mn-ea"/>
                </a:rPr>
                <a:t>框架</a:t>
              </a:r>
              <a:endParaRPr lang="zh-CN" altLang="en-US" sz="7200">
                <a:solidFill>
                  <a:schemeClr val="bg1"/>
                </a:solidFill>
              </a:endParaRPr>
            </a:p>
          </p:txBody>
        </p:sp>
      </p:gr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rPr>
              <a:t>三、</a:t>
            </a:r>
            <a:r>
              <a:rPr lang="en-US" altLang="zh-CN" sz="2800" b="1" dirty="0">
                <a:solidFill>
                  <a:srgbClr val="005744"/>
                </a:solidFill>
                <a:latin typeface="微软雅黑" panose="020B0503020204020204" charset="-122"/>
                <a:ea typeface="微软雅黑" panose="020B0503020204020204" charset="-122"/>
              </a:rPr>
              <a:t>Trident</a:t>
            </a:r>
            <a:r>
              <a:rPr lang="zh-CN" altLang="en-US" sz="2800" b="1" dirty="0">
                <a:solidFill>
                  <a:srgbClr val="005744"/>
                </a:solidFill>
                <a:latin typeface="微软雅黑" panose="020B0503020204020204" charset="-122"/>
                <a:ea typeface="微软雅黑" panose="020B0503020204020204" charset="-122"/>
              </a:rPr>
              <a:t>框架</a:t>
            </a:r>
            <a:r>
              <a:rPr lang="en-US" altLang="zh-CN" sz="2800" b="1" dirty="0">
                <a:solidFill>
                  <a:srgbClr val="005744"/>
                </a:solidFill>
                <a:latin typeface="微软雅黑" panose="020B0503020204020204" charset="-122"/>
                <a:ea typeface="微软雅黑" panose="020B0503020204020204" charset="-122"/>
              </a:rPr>
              <a:t>-</a:t>
            </a:r>
            <a:r>
              <a:rPr lang="zh-CN" altLang="en-US" sz="2800" b="1" dirty="0">
                <a:solidFill>
                  <a:srgbClr val="005744"/>
                </a:solidFill>
                <a:latin typeface="微软雅黑" panose="020B0503020204020204" charset="-122"/>
                <a:ea typeface="微软雅黑" panose="020B0503020204020204" charset="-122"/>
              </a:rPr>
              <a:t>核心思想</a:t>
            </a:r>
            <a:endParaRPr lang="zh-CN" altLang="en-US" sz="2800" b="1" dirty="0">
              <a:solidFill>
                <a:srgbClr val="005744"/>
              </a:solidFill>
              <a:latin typeface="微软雅黑" panose="020B0503020204020204" charset="-122"/>
              <a:ea typeface="微软雅黑" panose="020B0503020204020204" charset="-122"/>
            </a:endParaRPr>
          </a:p>
        </p:txBody>
      </p:sp>
      <p:sp>
        <p:nvSpPr>
          <p:cNvPr id="3" name="文本框 2"/>
          <p:cNvSpPr txBox="1"/>
          <p:nvPr/>
        </p:nvSpPr>
        <p:spPr>
          <a:xfrm>
            <a:off x="548005" y="5450840"/>
            <a:ext cx="5182870" cy="645160"/>
          </a:xfrm>
          <a:prstGeom prst="rect">
            <a:avLst/>
          </a:prstGeom>
          <a:noFill/>
        </p:spPr>
        <p:txBody>
          <a:bodyPr wrap="square" rtlCol="0">
            <a:spAutoFit/>
          </a:bodyPr>
          <a:p>
            <a:r>
              <a:rPr lang="zh-CN" altLang="en-US"/>
              <a:t>传统方法：试图</a:t>
            </a:r>
            <a:r>
              <a:rPr lang="zh-CN" altLang="en-US">
                <a:latin typeface="微软雅黑" panose="020B0503020204020204" charset="-122"/>
                <a:ea typeface="微软雅黑" panose="020B0503020204020204" charset="-122"/>
              </a:rPr>
              <a:t>学习所有正常流量的广义特征，导致漂移样本和未知攻击</a:t>
            </a:r>
            <a:r>
              <a:rPr lang="zh-CN" altLang="en-US"/>
              <a:t>难以区分。</a:t>
            </a:r>
            <a:endParaRPr lang="zh-CN" altLang="en-US"/>
          </a:p>
        </p:txBody>
      </p:sp>
      <p:sp>
        <p:nvSpPr>
          <p:cNvPr id="4" name="文本框 3"/>
          <p:cNvSpPr txBox="1"/>
          <p:nvPr/>
        </p:nvSpPr>
        <p:spPr>
          <a:xfrm>
            <a:off x="6096000" y="5418455"/>
            <a:ext cx="6015990" cy="645160"/>
          </a:xfrm>
          <a:prstGeom prst="rect">
            <a:avLst/>
          </a:prstGeom>
          <a:noFill/>
        </p:spPr>
        <p:txBody>
          <a:bodyPr wrap="square" rtlCol="0">
            <a:spAutoFit/>
          </a:bodyPr>
          <a:p>
            <a:r>
              <a:rPr lang="en-US" altLang="zh-CN"/>
              <a:t>Trident</a:t>
            </a:r>
            <a:r>
              <a:rPr lang="zh-CN" altLang="en-US"/>
              <a:t>方法：采用</a:t>
            </a:r>
            <a:r>
              <a:rPr lang="en-US" altLang="zh-CN"/>
              <a:t>“</a:t>
            </a:r>
            <a:r>
              <a:rPr lang="zh-CN" altLang="en-US"/>
              <a:t>分而治之</a:t>
            </a:r>
            <a:r>
              <a:rPr lang="en-US" altLang="zh-CN"/>
              <a:t>”</a:t>
            </a:r>
            <a:r>
              <a:rPr lang="zh-CN" altLang="en-US"/>
              <a:t>策略，每个学习器只关注一类样本，形成紧凑的类中心，显著提高可区别度。</a:t>
            </a:r>
            <a:endParaRPr lang="zh-CN" altLang="en-US"/>
          </a:p>
        </p:txBody>
      </p:sp>
      <p:pic>
        <p:nvPicPr>
          <p:cNvPr id="5" name="图片 4"/>
          <p:cNvPicPr>
            <a:picLocks noChangeAspect="1"/>
          </p:cNvPicPr>
          <p:nvPr/>
        </p:nvPicPr>
        <p:blipFill>
          <a:blip r:embed="rId1"/>
          <a:stretch>
            <a:fillRect/>
          </a:stretch>
        </p:blipFill>
        <p:spPr>
          <a:xfrm>
            <a:off x="382905" y="1167130"/>
            <a:ext cx="11426825" cy="4079875"/>
          </a:xfrm>
          <a:prstGeom prst="rect">
            <a:avLst/>
          </a:prstGeom>
        </p:spPr>
      </p:pic>
    </p:spTree>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rPr>
              <a:t>三、</a:t>
            </a:r>
            <a:r>
              <a:rPr lang="en-US" altLang="zh-CN" sz="2800" b="1" dirty="0">
                <a:solidFill>
                  <a:srgbClr val="005744"/>
                </a:solidFill>
                <a:latin typeface="微软雅黑" panose="020B0503020204020204" charset="-122"/>
                <a:ea typeface="微软雅黑" panose="020B0503020204020204" charset="-122"/>
              </a:rPr>
              <a:t>Trident</a:t>
            </a:r>
            <a:r>
              <a:rPr lang="zh-CN" altLang="en-US" sz="2800" b="1" dirty="0">
                <a:solidFill>
                  <a:srgbClr val="005744"/>
                </a:solidFill>
                <a:latin typeface="微软雅黑" panose="020B0503020204020204" charset="-122"/>
                <a:ea typeface="微软雅黑" panose="020B0503020204020204" charset="-122"/>
              </a:rPr>
              <a:t>框架</a:t>
            </a:r>
            <a:r>
              <a:rPr lang="en-US" altLang="zh-CN" sz="2800" b="1" dirty="0">
                <a:solidFill>
                  <a:srgbClr val="005744"/>
                </a:solidFill>
                <a:latin typeface="微软雅黑" panose="020B0503020204020204" charset="-122"/>
                <a:ea typeface="微软雅黑" panose="020B0503020204020204" charset="-122"/>
              </a:rPr>
              <a:t>-Overview</a:t>
            </a:r>
            <a:endParaRPr lang="en-US" altLang="zh-CN" sz="2800" b="1" dirty="0">
              <a:solidFill>
                <a:srgbClr val="005744"/>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rcRect r="1875"/>
          <a:stretch>
            <a:fillRect/>
          </a:stretch>
        </p:blipFill>
        <p:spPr>
          <a:xfrm>
            <a:off x="3460115" y="1628140"/>
            <a:ext cx="8637905" cy="4610735"/>
          </a:xfrm>
          <a:prstGeom prst="rect">
            <a:avLst/>
          </a:prstGeom>
        </p:spPr>
      </p:pic>
      <p:sp>
        <p:nvSpPr>
          <p:cNvPr id="3" name="文本框 2"/>
          <p:cNvSpPr txBox="1"/>
          <p:nvPr/>
        </p:nvSpPr>
        <p:spPr>
          <a:xfrm>
            <a:off x="247650" y="826135"/>
            <a:ext cx="11435080" cy="706755"/>
          </a:xfrm>
          <a:prstGeom prst="rect">
            <a:avLst/>
          </a:prstGeom>
          <a:noFill/>
        </p:spPr>
        <p:txBody>
          <a:bodyPr wrap="square" rtlCol="0">
            <a:spAutoFit/>
          </a:bodyPr>
          <a:p>
            <a:pPr indent="457200"/>
            <a:r>
              <a:rPr lang="en-US" altLang="zh-CN" sz="2000">
                <a:latin typeface="微软雅黑" panose="020B0503020204020204" charset="-122"/>
                <a:ea typeface="微软雅黑" panose="020B0503020204020204" charset="-122"/>
                <a:cs typeface="微软雅黑" panose="020B0503020204020204" charset="-122"/>
              </a:rPr>
              <a:t>Trident</a:t>
            </a:r>
            <a:r>
              <a:rPr lang="zh-CN" altLang="en-US" sz="2000">
                <a:latin typeface="微软雅黑" panose="020B0503020204020204" charset="-122"/>
                <a:ea typeface="微软雅黑" panose="020B0503020204020204" charset="-122"/>
                <a:cs typeface="微软雅黑" panose="020B0503020204020204" charset="-122"/>
              </a:rPr>
              <a:t>由</a:t>
            </a:r>
            <a:r>
              <a:rPr lang="en-US" altLang="zh-CN" sz="2000">
                <a:latin typeface="微软雅黑" panose="020B0503020204020204" charset="-122"/>
                <a:ea typeface="微软雅黑" panose="020B0503020204020204" charset="-122"/>
                <a:cs typeface="微软雅黑" panose="020B0503020204020204" charset="-122"/>
              </a:rPr>
              <a:t>tSieve</a:t>
            </a:r>
            <a:r>
              <a:rPr lang="zh-CN" altLang="en-US" sz="2000">
                <a:latin typeface="微软雅黑" panose="020B0503020204020204" charset="-122"/>
                <a:ea typeface="微软雅黑" panose="020B0503020204020204" charset="-122"/>
                <a:cs typeface="微软雅黑" panose="020B0503020204020204" charset="-122"/>
              </a:rPr>
              <a:t>、</a:t>
            </a:r>
            <a:r>
              <a:rPr lang="en-US" altLang="zh-CN" sz="2000">
                <a:latin typeface="微软雅黑" panose="020B0503020204020204" charset="-122"/>
                <a:ea typeface="微软雅黑" panose="020B0503020204020204" charset="-122"/>
                <a:cs typeface="微软雅黑" panose="020B0503020204020204" charset="-122"/>
              </a:rPr>
              <a:t>tScissors</a:t>
            </a:r>
            <a:r>
              <a:rPr lang="zh-CN" altLang="en-US" sz="2000">
                <a:latin typeface="微软雅黑" panose="020B0503020204020204" charset="-122"/>
                <a:ea typeface="微软雅黑" panose="020B0503020204020204" charset="-122"/>
                <a:cs typeface="微软雅黑" panose="020B0503020204020204" charset="-122"/>
              </a:rPr>
              <a:t>和</a:t>
            </a:r>
            <a:r>
              <a:rPr lang="en-US" altLang="zh-CN" sz="2000">
                <a:latin typeface="微软雅黑" panose="020B0503020204020204" charset="-122"/>
                <a:ea typeface="微软雅黑" panose="020B0503020204020204" charset="-122"/>
                <a:cs typeface="微软雅黑" panose="020B0503020204020204" charset="-122"/>
              </a:rPr>
              <a:t>tMagnifier</a:t>
            </a:r>
            <a:r>
              <a:rPr lang="zh-CN" altLang="en-US" sz="2000">
                <a:latin typeface="微软雅黑" panose="020B0503020204020204" charset="-122"/>
                <a:ea typeface="微软雅黑" panose="020B0503020204020204" charset="-122"/>
                <a:cs typeface="微软雅黑" panose="020B0503020204020204" charset="-122"/>
              </a:rPr>
              <a:t>三个紧密耦合的组件构成，协同工作以</a:t>
            </a:r>
            <a:r>
              <a:rPr lang="zh-CN" altLang="en-US" sz="2000" b="1">
                <a:latin typeface="微软雅黑" panose="020B0503020204020204" charset="-122"/>
                <a:ea typeface="微软雅黑" panose="020B0503020204020204" charset="-122"/>
                <a:cs typeface="微软雅黑" panose="020B0503020204020204" charset="-122"/>
              </a:rPr>
              <a:t>实现已知类分类、未知类细粒度检测和模型增量更新</a:t>
            </a:r>
            <a:r>
              <a:rPr lang="zh-CN" altLang="en-US" sz="2000" b="1">
                <a:latin typeface="微软雅黑" panose="020B0503020204020204" charset="-122"/>
                <a:ea typeface="微软雅黑" panose="020B0503020204020204" charset="-122"/>
                <a:cs typeface="微软雅黑" panose="020B0503020204020204" charset="-122"/>
              </a:rPr>
              <a:t>。</a:t>
            </a:r>
            <a:endParaRPr lang="zh-CN" altLang="en-US" sz="2000" b="1">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76835" y="1571625"/>
            <a:ext cx="3395980" cy="4892675"/>
          </a:xfrm>
          <a:prstGeom prst="rect">
            <a:avLst/>
          </a:prstGeom>
          <a:noFill/>
        </p:spPr>
        <p:txBody>
          <a:bodyPr wrap="square" rtlCol="0">
            <a:spAutoFit/>
          </a:bodyPr>
          <a:p>
            <a:pPr marL="285750" indent="-285750">
              <a:lnSpc>
                <a:spcPct val="120000"/>
              </a:lnSpc>
              <a:spcBef>
                <a:spcPts val="0"/>
              </a:spcBef>
              <a:spcAft>
                <a:spcPts val="0"/>
              </a:spcAft>
              <a:buFont typeface="Wingdings" panose="05000000000000000000" charset="0"/>
              <a:buChar char="Ø"/>
            </a:pPr>
            <a:r>
              <a:rPr lang="en-US" altLang="zh-CN" sz="2000" b="1"/>
              <a:t>tSieve</a:t>
            </a:r>
            <a:r>
              <a:rPr lang="zh-CN" altLang="en-US" sz="2000" b="1"/>
              <a:t>（流量分析）：</a:t>
            </a:r>
            <a:endParaRPr lang="zh-CN" altLang="en-US" sz="2000" b="1"/>
          </a:p>
          <a:p>
            <a:pPr indent="457200">
              <a:lnSpc>
                <a:spcPct val="120000"/>
              </a:lnSpc>
              <a:spcBef>
                <a:spcPts val="0"/>
              </a:spcBef>
              <a:spcAft>
                <a:spcPts val="0"/>
              </a:spcAft>
              <a:buFont typeface="Wingdings" panose="05000000000000000000" charset="0"/>
              <a:buNone/>
            </a:pPr>
            <a:r>
              <a:rPr lang="zh-CN" altLang="en-US" sz="2000"/>
              <a:t>维护一系列单类学习器。</a:t>
            </a:r>
            <a:r>
              <a:rPr lang="en-US" altLang="zh-CN" sz="2000"/>
              <a:t> </a:t>
            </a:r>
            <a:r>
              <a:rPr lang="zh-CN" altLang="en-US" sz="2000"/>
              <a:t>输入流量后，每个学习器输出一个重构损失值。</a:t>
            </a:r>
            <a:endParaRPr lang="zh-CN" altLang="en-US" sz="2000"/>
          </a:p>
          <a:p>
            <a:pPr marL="285750" indent="-285750">
              <a:lnSpc>
                <a:spcPct val="120000"/>
              </a:lnSpc>
              <a:spcBef>
                <a:spcPts val="0"/>
              </a:spcBef>
              <a:spcAft>
                <a:spcPts val="0"/>
              </a:spcAft>
              <a:buFont typeface="Wingdings" panose="05000000000000000000" charset="0"/>
              <a:buChar char="Ø"/>
            </a:pPr>
            <a:r>
              <a:rPr lang="en-US" altLang="zh-CN" sz="2000" b="1"/>
              <a:t>tScissors</a:t>
            </a:r>
            <a:r>
              <a:rPr lang="zh-CN" altLang="en-US" sz="2000" b="1"/>
              <a:t>（阈值判定）：</a:t>
            </a:r>
            <a:endParaRPr lang="zh-CN" altLang="en-US" sz="2000" b="1"/>
          </a:p>
          <a:p>
            <a:pPr indent="457200">
              <a:lnSpc>
                <a:spcPct val="120000"/>
              </a:lnSpc>
              <a:spcBef>
                <a:spcPts val="0"/>
              </a:spcBef>
              <a:spcAft>
                <a:spcPts val="0"/>
              </a:spcAft>
              <a:buFont typeface="Wingdings" panose="05000000000000000000" charset="0"/>
              <a:buNone/>
            </a:pPr>
            <a:r>
              <a:rPr lang="zh-CN" altLang="en-US" sz="2000"/>
              <a:t>为每个学习器自动确定异常阈值，判断样本是被接受还是拒绝。</a:t>
            </a:r>
            <a:endParaRPr lang="zh-CN" altLang="en-US" sz="2000"/>
          </a:p>
          <a:p>
            <a:pPr marL="285750" indent="-285750">
              <a:lnSpc>
                <a:spcPct val="120000"/>
              </a:lnSpc>
              <a:spcBef>
                <a:spcPts val="0"/>
              </a:spcBef>
              <a:spcAft>
                <a:spcPts val="0"/>
              </a:spcAft>
              <a:buFont typeface="Wingdings" panose="05000000000000000000" charset="0"/>
              <a:buChar char="Ø"/>
            </a:pPr>
            <a:r>
              <a:rPr lang="en-US" altLang="zh-CN" sz="2000" b="1"/>
              <a:t>tMagnifier</a:t>
            </a:r>
            <a:r>
              <a:rPr lang="zh-CN" altLang="en-US" sz="2000" b="1"/>
              <a:t>（聚类识别）：</a:t>
            </a:r>
            <a:endParaRPr lang="zh-CN" altLang="en-US" sz="2000" b="1"/>
          </a:p>
          <a:p>
            <a:pPr indent="457200">
              <a:lnSpc>
                <a:spcPct val="120000"/>
              </a:lnSpc>
              <a:spcBef>
                <a:spcPts val="0"/>
              </a:spcBef>
              <a:spcAft>
                <a:spcPts val="0"/>
              </a:spcAft>
              <a:buFont typeface="Wingdings" panose="05000000000000000000" charset="0"/>
              <a:buNone/>
            </a:pPr>
            <a:r>
              <a:rPr lang="zh-CN" altLang="en-US" sz="2000"/>
              <a:t>被所有学习器拒绝的样本进入缓冲池，通过聚类算法赋予细粒度的未知类别标签。</a:t>
            </a:r>
            <a:endParaRPr lang="zh-CN" altLang="en-US" sz="2000"/>
          </a:p>
        </p:txBody>
      </p:sp>
    </p:spTree>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1090358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rPr>
              <a:t>三、</a:t>
            </a:r>
            <a:r>
              <a:rPr lang="en-US" altLang="zh-CN" sz="2800" b="1" dirty="0">
                <a:solidFill>
                  <a:srgbClr val="005744"/>
                </a:solidFill>
                <a:latin typeface="微软雅黑" panose="020B0503020204020204" charset="-122"/>
                <a:ea typeface="微软雅黑" panose="020B0503020204020204" charset="-122"/>
              </a:rPr>
              <a:t>Trident</a:t>
            </a:r>
            <a:r>
              <a:rPr lang="zh-CN" altLang="en-US" sz="2800" b="1" dirty="0">
                <a:solidFill>
                  <a:srgbClr val="005744"/>
                </a:solidFill>
                <a:latin typeface="微软雅黑" panose="020B0503020204020204" charset="-122"/>
                <a:ea typeface="微软雅黑" panose="020B0503020204020204" charset="-122"/>
              </a:rPr>
              <a:t>框架</a:t>
            </a:r>
            <a:r>
              <a:rPr lang="en-US" altLang="zh-CN" sz="2800" b="1" dirty="0">
                <a:solidFill>
                  <a:srgbClr val="005744"/>
                </a:solidFill>
                <a:latin typeface="微软雅黑" panose="020B0503020204020204" charset="-122"/>
                <a:ea typeface="微软雅黑" panose="020B0503020204020204" charset="-122"/>
              </a:rPr>
              <a:t>-tSieve</a:t>
            </a:r>
            <a:r>
              <a:rPr lang="zh-CN" altLang="en-US" sz="2800" b="1" dirty="0">
                <a:solidFill>
                  <a:srgbClr val="005744"/>
                </a:solidFill>
                <a:latin typeface="微软雅黑" panose="020B0503020204020204" charset="-122"/>
                <a:ea typeface="微软雅黑" panose="020B0503020204020204" charset="-122"/>
              </a:rPr>
              <a:t>（为每种流量类型定制专属的单类学习器）</a:t>
            </a:r>
            <a:endParaRPr lang="zh-CN" altLang="en-US" sz="2800" b="1" dirty="0">
              <a:solidFill>
                <a:srgbClr val="005744"/>
              </a:solidFill>
              <a:latin typeface="微软雅黑" panose="020B0503020204020204" charset="-122"/>
              <a:ea typeface="微软雅黑" panose="020B0503020204020204" charset="-122"/>
            </a:endParaRPr>
          </a:p>
        </p:txBody>
      </p:sp>
      <p:sp>
        <p:nvSpPr>
          <p:cNvPr id="6" name="文本框 5"/>
          <p:cNvSpPr txBox="1"/>
          <p:nvPr/>
        </p:nvSpPr>
        <p:spPr>
          <a:xfrm>
            <a:off x="1144905" y="1001395"/>
            <a:ext cx="8589645" cy="645160"/>
          </a:xfrm>
          <a:prstGeom prst="rect">
            <a:avLst/>
          </a:prstGeom>
          <a:noFill/>
        </p:spPr>
        <p:txBody>
          <a:bodyPr wrap="square" rtlCol="0">
            <a:spAutoFit/>
          </a:bodyPr>
          <a:p>
            <a:pPr indent="457200"/>
            <a:r>
              <a:rPr lang="zh-CN" altLang="en-US"/>
              <a:t>每个学习器只学习一种流量类别的数据。对于同类样本，它能以很小的损失进行重构；对于其他类别的样本，重构损失则会很大。</a:t>
            </a:r>
            <a:endParaRPr lang="zh-CN" altLang="en-US"/>
          </a:p>
        </p:txBody>
      </p:sp>
      <p:pic>
        <p:nvPicPr>
          <p:cNvPr id="12" name="图片 11"/>
          <p:cNvPicPr>
            <a:picLocks noChangeAspect="1"/>
          </p:cNvPicPr>
          <p:nvPr/>
        </p:nvPicPr>
        <p:blipFill>
          <a:blip r:embed="rId1"/>
          <a:stretch>
            <a:fillRect/>
          </a:stretch>
        </p:blipFill>
        <p:spPr>
          <a:xfrm>
            <a:off x="1074420" y="1821815"/>
            <a:ext cx="9871710" cy="4171315"/>
          </a:xfrm>
          <a:prstGeom prst="rect">
            <a:avLst/>
          </a:prstGeom>
        </p:spPr>
      </p:pic>
    </p:spTree>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1090358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rPr>
              <a:t>三、</a:t>
            </a:r>
            <a:r>
              <a:rPr lang="en-US" altLang="zh-CN" sz="2800" b="1" dirty="0">
                <a:solidFill>
                  <a:srgbClr val="005744"/>
                </a:solidFill>
                <a:latin typeface="微软雅黑" panose="020B0503020204020204" charset="-122"/>
                <a:ea typeface="微软雅黑" panose="020B0503020204020204" charset="-122"/>
              </a:rPr>
              <a:t>Trident</a:t>
            </a:r>
            <a:r>
              <a:rPr lang="zh-CN" altLang="en-US" sz="2800" b="1" dirty="0">
                <a:solidFill>
                  <a:srgbClr val="005744"/>
                </a:solidFill>
                <a:latin typeface="微软雅黑" panose="020B0503020204020204" charset="-122"/>
                <a:ea typeface="微软雅黑" panose="020B0503020204020204" charset="-122"/>
              </a:rPr>
              <a:t>框架</a:t>
            </a:r>
            <a:r>
              <a:rPr lang="en-US" altLang="zh-CN" sz="2800" b="1" dirty="0">
                <a:solidFill>
                  <a:srgbClr val="005744"/>
                </a:solidFill>
                <a:latin typeface="微软雅黑" panose="020B0503020204020204" charset="-122"/>
                <a:ea typeface="微软雅黑" panose="020B0503020204020204" charset="-122"/>
              </a:rPr>
              <a:t>-tSieve</a:t>
            </a:r>
            <a:r>
              <a:rPr lang="zh-CN" altLang="en-US" sz="2800" b="1" dirty="0">
                <a:solidFill>
                  <a:srgbClr val="005744"/>
                </a:solidFill>
                <a:latin typeface="微软雅黑" panose="020B0503020204020204" charset="-122"/>
                <a:ea typeface="微软雅黑" panose="020B0503020204020204" charset="-122"/>
              </a:rPr>
              <a:t>（为每种流量类型定制专属的单类学习器）</a:t>
            </a:r>
            <a:endParaRPr lang="zh-CN" altLang="en-US" sz="2800" b="1" dirty="0">
              <a:solidFill>
                <a:srgbClr val="005744"/>
              </a:solidFill>
              <a:latin typeface="微软雅黑" panose="020B0503020204020204" charset="-122"/>
              <a:ea typeface="微软雅黑" panose="020B0503020204020204" charset="-122"/>
            </a:endParaRPr>
          </a:p>
        </p:txBody>
      </p:sp>
      <p:pic>
        <p:nvPicPr>
          <p:cNvPr id="2" name="图片 1"/>
          <p:cNvPicPr>
            <a:picLocks noChangeAspect="1"/>
          </p:cNvPicPr>
          <p:nvPr>
            <p:custDataLst>
              <p:tags r:id="rId1"/>
            </p:custDataLst>
          </p:nvPr>
        </p:nvPicPr>
        <p:blipFill>
          <a:blip r:embed="rId2"/>
          <a:stretch>
            <a:fillRect/>
          </a:stretch>
        </p:blipFill>
        <p:spPr>
          <a:xfrm>
            <a:off x="483870" y="2085975"/>
            <a:ext cx="3563620" cy="2592070"/>
          </a:xfrm>
          <a:prstGeom prst="rect">
            <a:avLst/>
          </a:prstGeom>
        </p:spPr>
      </p:pic>
      <p:pic>
        <p:nvPicPr>
          <p:cNvPr id="3" name="图片 2"/>
          <p:cNvPicPr>
            <a:picLocks noChangeAspect="1"/>
          </p:cNvPicPr>
          <p:nvPr>
            <p:custDataLst>
              <p:tags r:id="rId3"/>
            </p:custDataLst>
          </p:nvPr>
        </p:nvPicPr>
        <p:blipFill>
          <a:blip r:embed="rId4"/>
          <a:srcRect b="4110"/>
          <a:stretch>
            <a:fillRect/>
          </a:stretch>
        </p:blipFill>
        <p:spPr>
          <a:xfrm>
            <a:off x="4272915" y="2085975"/>
            <a:ext cx="3548380" cy="2614930"/>
          </a:xfrm>
          <a:prstGeom prst="rect">
            <a:avLst/>
          </a:prstGeom>
        </p:spPr>
      </p:pic>
      <p:pic>
        <p:nvPicPr>
          <p:cNvPr id="4" name="图片 3"/>
          <p:cNvPicPr>
            <a:picLocks noChangeAspect="1"/>
          </p:cNvPicPr>
          <p:nvPr/>
        </p:nvPicPr>
        <p:blipFill>
          <a:blip r:embed="rId5"/>
          <a:srcRect b="4152"/>
          <a:stretch>
            <a:fillRect/>
          </a:stretch>
        </p:blipFill>
        <p:spPr>
          <a:xfrm>
            <a:off x="8110855" y="2108835"/>
            <a:ext cx="3499485" cy="2592070"/>
          </a:xfrm>
          <a:prstGeom prst="rect">
            <a:avLst/>
          </a:prstGeom>
        </p:spPr>
      </p:pic>
      <p:sp>
        <p:nvSpPr>
          <p:cNvPr id="6" name="文本框 5"/>
          <p:cNvSpPr txBox="1"/>
          <p:nvPr/>
        </p:nvSpPr>
        <p:spPr>
          <a:xfrm>
            <a:off x="1144905" y="1001395"/>
            <a:ext cx="8589645" cy="645160"/>
          </a:xfrm>
          <a:prstGeom prst="rect">
            <a:avLst/>
          </a:prstGeom>
          <a:noFill/>
        </p:spPr>
        <p:txBody>
          <a:bodyPr wrap="square" rtlCol="0">
            <a:spAutoFit/>
          </a:bodyPr>
          <a:p>
            <a:pPr indent="457200"/>
            <a:r>
              <a:rPr lang="zh-CN" altLang="en-US"/>
              <a:t>每个学习器只学习一种流量类别的数据。对于同类样本，它能以很小的损失进行重构；对于其他类别的样本，重构损失则会很大。</a:t>
            </a:r>
            <a:endParaRPr lang="zh-CN" altLang="en-US"/>
          </a:p>
        </p:txBody>
      </p:sp>
      <p:sp>
        <p:nvSpPr>
          <p:cNvPr id="7" name="文本框 6"/>
          <p:cNvSpPr txBox="1"/>
          <p:nvPr>
            <p:custDataLst>
              <p:tags r:id="rId6"/>
            </p:custDataLst>
          </p:nvPr>
        </p:nvSpPr>
        <p:spPr>
          <a:xfrm>
            <a:off x="553720" y="4912995"/>
            <a:ext cx="3220085" cy="1198880"/>
          </a:xfrm>
          <a:prstGeom prst="rect">
            <a:avLst/>
          </a:prstGeom>
          <a:noFill/>
        </p:spPr>
        <p:txBody>
          <a:bodyPr wrap="square" rtlCol="0">
            <a:spAutoFit/>
          </a:bodyPr>
          <a:p>
            <a:r>
              <a:rPr lang="zh-CN" altLang="en-US"/>
              <a:t>基于流量的时序、容量和头部字段分布，采用类</a:t>
            </a:r>
            <a:r>
              <a:rPr lang="en-US" altLang="zh-CN"/>
              <a:t>U-Net</a:t>
            </a:r>
            <a:r>
              <a:rPr lang="zh-CN" altLang="en-US"/>
              <a:t>结构，通过跳跃连接保留更丰富的语义信息。（静态统计特征）</a:t>
            </a:r>
            <a:endParaRPr lang="zh-CN" altLang="en-US"/>
          </a:p>
        </p:txBody>
      </p:sp>
      <p:sp>
        <p:nvSpPr>
          <p:cNvPr id="8" name="文本框 7"/>
          <p:cNvSpPr txBox="1"/>
          <p:nvPr>
            <p:custDataLst>
              <p:tags r:id="rId7"/>
            </p:custDataLst>
          </p:nvPr>
        </p:nvSpPr>
        <p:spPr>
          <a:xfrm>
            <a:off x="4139565" y="4916805"/>
            <a:ext cx="3971290" cy="1198880"/>
          </a:xfrm>
          <a:prstGeom prst="rect">
            <a:avLst/>
          </a:prstGeom>
          <a:noFill/>
        </p:spPr>
        <p:txBody>
          <a:bodyPr wrap="square" rtlCol="0">
            <a:spAutoFit/>
          </a:bodyPr>
          <a:p>
            <a:r>
              <a:rPr lang="zh-CN" altLang="en-US"/>
              <a:t>将每个数据包的字段（长度、方向、</a:t>
            </a:r>
            <a:r>
              <a:rPr lang="en-US" altLang="zh-CN"/>
              <a:t>TTL</a:t>
            </a:r>
            <a:r>
              <a:rPr lang="zh-CN" altLang="en-US"/>
              <a:t>、</a:t>
            </a:r>
            <a:r>
              <a:rPr lang="en-US" altLang="zh-CN"/>
              <a:t>TCP</a:t>
            </a:r>
            <a:r>
              <a:rPr lang="zh-CN" altLang="en-US"/>
              <a:t>标志等）作为时间序列进行处理。采用</a:t>
            </a:r>
            <a:r>
              <a:rPr lang="en-US" altLang="zh-CN"/>
              <a:t>Seq2Seq</a:t>
            </a:r>
            <a:r>
              <a:rPr lang="zh-CN" altLang="en-US"/>
              <a:t>模型进行序列重构。（时序序列特征）</a:t>
            </a:r>
            <a:endParaRPr lang="zh-CN" altLang="en-US"/>
          </a:p>
        </p:txBody>
      </p:sp>
      <p:sp>
        <p:nvSpPr>
          <p:cNvPr id="11" name="文本框 10"/>
          <p:cNvSpPr txBox="1"/>
          <p:nvPr/>
        </p:nvSpPr>
        <p:spPr>
          <a:xfrm>
            <a:off x="8110855" y="4826635"/>
            <a:ext cx="3415030" cy="1476375"/>
          </a:xfrm>
          <a:prstGeom prst="rect">
            <a:avLst/>
          </a:prstGeom>
          <a:noFill/>
        </p:spPr>
        <p:txBody>
          <a:bodyPr wrap="square" rtlCol="0">
            <a:spAutoFit/>
          </a:bodyPr>
          <a:p>
            <a:r>
              <a:rPr lang="zh-CN" altLang="en-US"/>
              <a:t>将客户端和服务器之间的双向交互构建为二部图，合并相邻数据包。采用类</a:t>
            </a:r>
            <a:r>
              <a:rPr lang="en-US" altLang="zh-CN"/>
              <a:t>U-Net</a:t>
            </a:r>
            <a:r>
              <a:rPr lang="zh-CN" altLang="en-US"/>
              <a:t>的</a:t>
            </a:r>
            <a:r>
              <a:rPr lang="en-US" altLang="zh-CN"/>
              <a:t>GNN</a:t>
            </a:r>
            <a:r>
              <a:rPr lang="zh-CN" altLang="en-US"/>
              <a:t>架构进行图重构，对</a:t>
            </a:r>
            <a:r>
              <a:rPr lang="en-US" altLang="zh-CN"/>
              <a:t>CDN</a:t>
            </a:r>
            <a:r>
              <a:rPr lang="zh-CN" altLang="en-US"/>
              <a:t>和</a:t>
            </a:r>
            <a:r>
              <a:rPr lang="en-US" altLang="zh-CN"/>
              <a:t>MTU</a:t>
            </a:r>
            <a:r>
              <a:rPr lang="zh-CN" altLang="en-US"/>
              <a:t>变化具有鲁棒性。（交互关系图特征）</a:t>
            </a:r>
            <a:endParaRPr lang="zh-CN" altLang="en-US"/>
          </a:p>
        </p:txBody>
      </p:sp>
    </p:spTree>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6786880"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rPr>
              <a:t>三、</a:t>
            </a:r>
            <a:r>
              <a:rPr lang="en-US" altLang="zh-CN" sz="2800" b="1" dirty="0">
                <a:solidFill>
                  <a:srgbClr val="005744"/>
                </a:solidFill>
                <a:latin typeface="微软雅黑" panose="020B0503020204020204" charset="-122"/>
                <a:ea typeface="微软雅黑" panose="020B0503020204020204" charset="-122"/>
              </a:rPr>
              <a:t>Trident</a:t>
            </a:r>
            <a:r>
              <a:rPr lang="zh-CN" altLang="en-US" sz="2800" b="1" dirty="0">
                <a:solidFill>
                  <a:srgbClr val="005744"/>
                </a:solidFill>
                <a:latin typeface="微软雅黑" panose="020B0503020204020204" charset="-122"/>
                <a:ea typeface="微软雅黑" panose="020B0503020204020204" charset="-122"/>
              </a:rPr>
              <a:t>框架</a:t>
            </a:r>
            <a:r>
              <a:rPr lang="en-US" altLang="zh-CN" sz="2800" b="1" dirty="0">
                <a:solidFill>
                  <a:srgbClr val="005744"/>
                </a:solidFill>
                <a:latin typeface="微软雅黑" panose="020B0503020204020204" charset="-122"/>
                <a:ea typeface="微软雅黑" panose="020B0503020204020204" charset="-122"/>
              </a:rPr>
              <a:t>-tScissors</a:t>
            </a:r>
            <a:endParaRPr lang="zh-CN" altLang="en-US" sz="2800" b="1" dirty="0">
              <a:solidFill>
                <a:srgbClr val="005744"/>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rcRect l="4364" t="7775" r="5969"/>
          <a:stretch>
            <a:fillRect/>
          </a:stretch>
        </p:blipFill>
        <p:spPr>
          <a:xfrm>
            <a:off x="7220585" y="780415"/>
            <a:ext cx="4931410" cy="2289810"/>
          </a:xfrm>
          <a:prstGeom prst="rect">
            <a:avLst/>
          </a:prstGeom>
        </p:spPr>
      </p:pic>
      <p:sp>
        <p:nvSpPr>
          <p:cNvPr id="9" name="文本框 8"/>
          <p:cNvSpPr txBox="1"/>
          <p:nvPr/>
        </p:nvSpPr>
        <p:spPr>
          <a:xfrm>
            <a:off x="321310" y="780415"/>
            <a:ext cx="6899275" cy="2584450"/>
          </a:xfrm>
          <a:prstGeom prst="rect">
            <a:avLst/>
          </a:prstGeom>
          <a:noFill/>
        </p:spPr>
        <p:txBody>
          <a:bodyPr wrap="square" rtlCol="0">
            <a:spAutoFit/>
          </a:bodyPr>
          <a:p>
            <a:pPr>
              <a:lnSpc>
                <a:spcPct val="150000"/>
              </a:lnSpc>
            </a:pPr>
            <a:r>
              <a:rPr lang="en-US" altLang="zh-CN"/>
              <a:t>tScissors</a:t>
            </a:r>
            <a:r>
              <a:rPr lang="zh-CN" altLang="en-US"/>
              <a:t>：异常阈值识别（</a:t>
            </a:r>
            <a:r>
              <a:rPr lang="en-US" altLang="zh-CN"/>
              <a:t>Outlier Identification</a:t>
            </a:r>
            <a:r>
              <a:rPr lang="zh-CN" altLang="en-US"/>
              <a:t>）</a:t>
            </a:r>
            <a:endParaRPr lang="zh-CN" altLang="en-US"/>
          </a:p>
          <a:p>
            <a:pPr marL="285750" indent="-285750">
              <a:lnSpc>
                <a:spcPct val="150000"/>
              </a:lnSpc>
              <a:buFont typeface="Wingdings" panose="05000000000000000000" charset="0"/>
              <a:buChar char="ü"/>
            </a:pPr>
            <a:r>
              <a:rPr lang="zh-CN" altLang="en-US"/>
              <a:t>功能：为</a:t>
            </a:r>
            <a:r>
              <a:rPr lang="en-US" altLang="zh-CN"/>
              <a:t> tSieve </a:t>
            </a:r>
            <a:r>
              <a:rPr lang="zh-CN" altLang="en-US"/>
              <a:t>中的每个单类学习器独立确定一个阈值，用于决定接受或拒绝样本。</a:t>
            </a:r>
            <a:endParaRPr lang="zh-CN" altLang="en-US"/>
          </a:p>
          <a:p>
            <a:pPr marL="285750" indent="-285750">
              <a:lnSpc>
                <a:spcPct val="150000"/>
              </a:lnSpc>
              <a:buFont typeface="Wingdings" panose="05000000000000000000" charset="0"/>
              <a:buChar char="ü"/>
            </a:pPr>
            <a:r>
              <a:rPr lang="zh-CN" altLang="en-US"/>
              <a:t>预设方法：基于专家经验预设一个异常比例。</a:t>
            </a:r>
            <a:endParaRPr lang="zh-CN" altLang="en-US"/>
          </a:p>
          <a:p>
            <a:pPr marL="285750" indent="-285750">
              <a:lnSpc>
                <a:spcPct val="150000"/>
              </a:lnSpc>
              <a:buFont typeface="Wingdings" panose="05000000000000000000" charset="0"/>
              <a:buChar char="ü"/>
            </a:pPr>
            <a:r>
              <a:rPr lang="zh-CN" altLang="en-US"/>
              <a:t>极值理论（</a:t>
            </a:r>
            <a:r>
              <a:rPr lang="en-US" altLang="zh-CN"/>
              <a:t>EVT</a:t>
            </a:r>
            <a:r>
              <a:rPr lang="zh-CN" altLang="en-US"/>
              <a:t>）：利用统计学中的极值理论自动估算异常边界，更加灵活和自适应。</a:t>
            </a:r>
            <a:endParaRPr lang="zh-CN" altLang="en-US"/>
          </a:p>
        </p:txBody>
      </p:sp>
      <p:pic>
        <p:nvPicPr>
          <p:cNvPr id="12" name="图片 11"/>
          <p:cNvPicPr>
            <a:picLocks noChangeAspect="1"/>
          </p:cNvPicPr>
          <p:nvPr/>
        </p:nvPicPr>
        <p:blipFill>
          <a:blip r:embed="rId2"/>
          <a:stretch>
            <a:fillRect/>
          </a:stretch>
        </p:blipFill>
        <p:spPr>
          <a:xfrm>
            <a:off x="41910" y="3364865"/>
            <a:ext cx="12108180" cy="3124200"/>
          </a:xfrm>
          <a:prstGeom prst="rect">
            <a:avLst/>
          </a:prstGeom>
        </p:spPr>
      </p:pic>
    </p:spTree>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1090358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rPr>
              <a:t>三、</a:t>
            </a:r>
            <a:r>
              <a:rPr lang="en-US" altLang="zh-CN" sz="2800" b="1" dirty="0">
                <a:solidFill>
                  <a:srgbClr val="005744"/>
                </a:solidFill>
                <a:latin typeface="微软雅黑" panose="020B0503020204020204" charset="-122"/>
                <a:ea typeface="微软雅黑" panose="020B0503020204020204" charset="-122"/>
              </a:rPr>
              <a:t>Trident</a:t>
            </a:r>
            <a:r>
              <a:rPr lang="zh-CN" altLang="en-US" sz="2800" b="1" dirty="0">
                <a:solidFill>
                  <a:srgbClr val="005744"/>
                </a:solidFill>
                <a:latin typeface="微软雅黑" panose="020B0503020204020204" charset="-122"/>
                <a:ea typeface="微软雅黑" panose="020B0503020204020204" charset="-122"/>
              </a:rPr>
              <a:t>框架</a:t>
            </a:r>
            <a:r>
              <a:rPr lang="en-US" altLang="zh-CN" sz="2800" b="1" dirty="0">
                <a:solidFill>
                  <a:srgbClr val="005744"/>
                </a:solidFill>
                <a:latin typeface="微软雅黑" panose="020B0503020204020204" charset="-122"/>
                <a:ea typeface="微软雅黑" panose="020B0503020204020204" charset="-122"/>
              </a:rPr>
              <a:t>-tMagnifier</a:t>
            </a:r>
            <a:endParaRPr lang="zh-CN" altLang="en-US" sz="2800" b="1" dirty="0">
              <a:solidFill>
                <a:srgbClr val="005744"/>
              </a:solidFill>
              <a:latin typeface="微软雅黑" panose="020B0503020204020204" charset="-122"/>
              <a:ea typeface="微软雅黑" panose="020B0503020204020204" charset="-122"/>
            </a:endParaRPr>
          </a:p>
        </p:txBody>
      </p:sp>
      <p:pic>
        <p:nvPicPr>
          <p:cNvPr id="5" name="图片 4"/>
          <p:cNvPicPr>
            <a:picLocks noChangeAspect="1"/>
          </p:cNvPicPr>
          <p:nvPr/>
        </p:nvPicPr>
        <p:blipFill>
          <a:blip r:embed="rId1"/>
          <a:stretch>
            <a:fillRect/>
          </a:stretch>
        </p:blipFill>
        <p:spPr>
          <a:xfrm>
            <a:off x="205105" y="944880"/>
            <a:ext cx="5661025" cy="2413635"/>
          </a:xfrm>
          <a:prstGeom prst="rect">
            <a:avLst/>
          </a:prstGeom>
        </p:spPr>
      </p:pic>
      <p:sp>
        <p:nvSpPr>
          <p:cNvPr id="10" name="文本框 9"/>
          <p:cNvSpPr txBox="1"/>
          <p:nvPr/>
        </p:nvSpPr>
        <p:spPr>
          <a:xfrm>
            <a:off x="5965190" y="650875"/>
            <a:ext cx="6309360" cy="2584450"/>
          </a:xfrm>
          <a:prstGeom prst="rect">
            <a:avLst/>
          </a:prstGeom>
          <a:noFill/>
        </p:spPr>
        <p:txBody>
          <a:bodyPr wrap="square" rtlCol="0">
            <a:spAutoFit/>
          </a:bodyPr>
          <a:p>
            <a:pPr>
              <a:lnSpc>
                <a:spcPct val="150000"/>
              </a:lnSpc>
            </a:pPr>
            <a:r>
              <a:rPr lang="en-US" altLang="zh-CN"/>
              <a:t>tMagnifier</a:t>
            </a:r>
            <a:r>
              <a:rPr lang="zh-CN" altLang="en-US"/>
              <a:t>：细粒度标签分配（</a:t>
            </a:r>
            <a:r>
              <a:rPr lang="en-US" altLang="zh-CN"/>
              <a:t>Label Assignment</a:t>
            </a:r>
            <a:r>
              <a:rPr lang="zh-CN" altLang="en-US"/>
              <a:t>）</a:t>
            </a:r>
            <a:endParaRPr lang="zh-CN" altLang="en-US"/>
          </a:p>
          <a:p>
            <a:pPr>
              <a:lnSpc>
                <a:spcPct val="150000"/>
              </a:lnSpc>
            </a:pPr>
            <a:r>
              <a:rPr lang="zh-CN" altLang="en-US"/>
              <a:t>功能：对被</a:t>
            </a:r>
            <a:r>
              <a:rPr lang="en-US" altLang="zh-CN"/>
              <a:t> tSieve </a:t>
            </a:r>
            <a:r>
              <a:rPr lang="zh-CN" altLang="en-US"/>
              <a:t>拒绝的、归入缓冲池的未知类别样本进行聚类，分配具体的类别标签（如</a:t>
            </a:r>
            <a:r>
              <a:rPr lang="en-US" altLang="zh-CN"/>
              <a:t>“</a:t>
            </a:r>
            <a:r>
              <a:rPr lang="zh-CN" altLang="en-US"/>
              <a:t>未知攻击</a:t>
            </a:r>
            <a:r>
              <a:rPr lang="en-US" altLang="zh-CN"/>
              <a:t> 1”“</a:t>
            </a:r>
            <a:r>
              <a:rPr lang="zh-CN" altLang="en-US"/>
              <a:t>未知攻击</a:t>
            </a:r>
            <a:r>
              <a:rPr lang="en-US" altLang="zh-CN"/>
              <a:t> 2”</a:t>
            </a:r>
            <a:r>
              <a:rPr lang="zh-CN" altLang="en-US"/>
              <a:t>）。</a:t>
            </a:r>
            <a:endParaRPr lang="zh-CN" altLang="en-US"/>
          </a:p>
          <a:p>
            <a:pPr>
              <a:lnSpc>
                <a:spcPct val="150000"/>
              </a:lnSpc>
            </a:pPr>
            <a:r>
              <a:rPr lang="zh-CN" altLang="en-US"/>
              <a:t>方法：采用集成聚类策略。运行多个不同参数的聚类算法，整合结果以获得更稳定的分类。通过计算轮廓系数确定最佳切割点，以区分不同的未知簇。</a:t>
            </a:r>
            <a:endParaRPr lang="zh-CN" altLang="en-US"/>
          </a:p>
        </p:txBody>
      </p:sp>
      <p:pic>
        <p:nvPicPr>
          <p:cNvPr id="13" name="图片 12"/>
          <p:cNvPicPr>
            <a:picLocks noChangeAspect="1"/>
          </p:cNvPicPr>
          <p:nvPr/>
        </p:nvPicPr>
        <p:blipFill>
          <a:blip r:embed="rId2"/>
          <a:stretch>
            <a:fillRect/>
          </a:stretch>
        </p:blipFill>
        <p:spPr>
          <a:xfrm>
            <a:off x="0" y="3572510"/>
            <a:ext cx="12192000" cy="3079750"/>
          </a:xfrm>
          <a:prstGeom prst="rect">
            <a:avLst/>
          </a:prstGeom>
        </p:spPr>
      </p:pic>
    </p:spTree>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1497965" y="2243455"/>
            <a:ext cx="10248900" cy="1429385"/>
            <a:chOff x="7006" y="1928"/>
            <a:chExt cx="16140" cy="2251"/>
          </a:xfrm>
        </p:grpSpPr>
        <p:sp>
          <p:nvSpPr>
            <p:cNvPr id="24" name="矩形: 圆角 23"/>
            <p:cNvSpPr/>
            <p:nvPr>
              <p:custDataLst>
                <p:tags r:id="rId2"/>
              </p:custDataLst>
            </p:nvPr>
          </p:nvSpPr>
          <p:spPr>
            <a:xfrm>
              <a:off x="7006" y="1928"/>
              <a:ext cx="3164" cy="2251"/>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04</a:t>
              </a:r>
              <a:endParaRPr kumimoji="0" lang="zh-CN" altLang="en-US"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 name="文本占位符 3"/>
            <p:cNvSpPr>
              <a:spLocks noGrp="1"/>
            </p:cNvSpPr>
            <p:nvPr>
              <p:custDataLst>
                <p:tags r:id="rId3"/>
              </p:custDataLst>
            </p:nvPr>
          </p:nvSpPr>
          <p:spPr>
            <a:xfrm>
              <a:off x="11004" y="2276"/>
              <a:ext cx="12142" cy="116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7200">
                  <a:solidFill>
                    <a:schemeClr val="bg1"/>
                  </a:solidFill>
                </a:rPr>
                <a:t>数据集与实验</a:t>
              </a:r>
              <a:r>
                <a:rPr lang="zh-CN" altLang="en-US" sz="7200">
                  <a:solidFill>
                    <a:schemeClr val="bg1"/>
                  </a:solidFill>
                </a:rPr>
                <a:t>设置</a:t>
              </a:r>
              <a:endParaRPr lang="zh-CN" altLang="en-US" sz="7200">
                <a:solidFill>
                  <a:schemeClr val="bg1"/>
                </a:solidFill>
              </a:endParaRPr>
            </a:p>
          </p:txBody>
        </p:sp>
      </p:grpSp>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四</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数据集与</a:t>
            </a:r>
            <a:r>
              <a:rPr lang="zh-CN" altLang="en-US" sz="2800" b="1" dirty="0">
                <a:solidFill>
                  <a:srgbClr val="005744"/>
                </a:solidFill>
                <a:latin typeface="微软雅黑" panose="020B0503020204020204" charset="-122"/>
                <a:ea typeface="微软雅黑" panose="020B0503020204020204" charset="-122"/>
                <a:sym typeface="+mn-ea"/>
              </a:rPr>
              <a:t>实验设置</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graphicFrame>
        <p:nvGraphicFramePr>
          <p:cNvPr id="4" name="表格 3"/>
          <p:cNvGraphicFramePr/>
          <p:nvPr/>
        </p:nvGraphicFramePr>
        <p:xfrm>
          <a:off x="709930" y="1125855"/>
          <a:ext cx="10772965" cy="5085080"/>
        </p:xfrm>
        <a:graphic>
          <a:graphicData uri="http://schemas.openxmlformats.org/drawingml/2006/table">
            <a:tbl>
              <a:tblPr firstRow="1" bandRow="1">
                <a:tableStyleId>{5C22544A-7EE6-4342-B048-85BDC9FD1C3A}</a:tableStyleId>
              </a:tblPr>
              <a:tblGrid>
                <a:gridCol w="2132965"/>
                <a:gridCol w="4320000"/>
                <a:gridCol w="4320000"/>
              </a:tblGrid>
              <a:tr h="540000">
                <a:tc>
                  <a:txBody>
                    <a:bodyPr/>
                    <a:p>
                      <a:pPr algn="ctr">
                        <a:buNone/>
                      </a:pPr>
                      <a:r>
                        <a:rPr lang="zh-CN" altLang="en-US"/>
                        <a:t>数据集</a:t>
                      </a:r>
                      <a:endParaRPr lang="zh-CN" altLang="en-US"/>
                    </a:p>
                  </a:txBody>
                  <a:tcPr anchor="ctr" anchorCtr="0"/>
                </a:tc>
                <a:tc>
                  <a:txBody>
                    <a:bodyPr/>
                    <a:p>
                      <a:pPr algn="ctr">
                        <a:buNone/>
                      </a:pPr>
                      <a:r>
                        <a:rPr lang="zh-CN" altLang="en-US"/>
                        <a:t>构成</a:t>
                      </a:r>
                      <a:endParaRPr lang="zh-CN" altLang="en-US"/>
                    </a:p>
                  </a:txBody>
                  <a:tcPr anchor="ctr" anchorCtr="0"/>
                </a:tc>
                <a:tc>
                  <a:txBody>
                    <a:bodyPr/>
                    <a:p>
                      <a:pPr algn="ctr">
                        <a:buNone/>
                      </a:pPr>
                      <a:r>
                        <a:rPr lang="zh-CN" altLang="en-US"/>
                        <a:t>用途</a:t>
                      </a:r>
                      <a:endParaRPr lang="zh-CN" altLang="en-US"/>
                    </a:p>
                  </a:txBody>
                  <a:tcPr anchor="ctr" anchorCtr="0"/>
                </a:tc>
              </a:tr>
              <a:tr h="900000">
                <a:tc rowSpan="2">
                  <a:txBody>
                    <a:bodyPr/>
                    <a:p>
                      <a:pPr algn="ctr">
                        <a:buNone/>
                      </a:pPr>
                      <a:r>
                        <a:rPr lang="en-US" altLang="zh-CN" b="1"/>
                        <a:t>USTC-TFC2016</a:t>
                      </a:r>
                      <a:endParaRPr lang="en-US" altLang="zh-CN" b="1"/>
                    </a:p>
                  </a:txBody>
                  <a:tcPr anchor="ctr" anchorCtr="0"/>
                </a:tc>
                <a:tc>
                  <a:txBody>
                    <a:bodyPr/>
                    <a:p>
                      <a:pPr algn="ctr">
                        <a:buNone/>
                      </a:pPr>
                      <a:r>
                        <a:rPr lang="zh-CN" altLang="en-US" sz="1400" b="1"/>
                        <a:t>正常流量数据</a:t>
                      </a:r>
                      <a:r>
                        <a:rPr lang="zh-CN" altLang="en-US" sz="1400"/>
                        <a:t>：</a:t>
                      </a:r>
                      <a:r>
                        <a:rPr lang="en-US" altLang="zh-CN" sz="1400"/>
                        <a:t>BitTorrent</a:t>
                      </a:r>
                      <a:r>
                        <a:rPr lang="zh-CN" altLang="en-US" sz="1400"/>
                        <a:t>、</a:t>
                      </a:r>
                      <a:r>
                        <a:rPr lang="en-US" altLang="zh-CN" sz="1400"/>
                        <a:t>Facetime</a:t>
                      </a:r>
                      <a:r>
                        <a:rPr lang="zh-CN" altLang="en-US" sz="1400"/>
                        <a:t>、</a:t>
                      </a:r>
                      <a:r>
                        <a:rPr lang="en-US" altLang="zh-CN" sz="1400"/>
                        <a:t>FTP</a:t>
                      </a:r>
                      <a:r>
                        <a:rPr lang="zh-CN" altLang="en-US" sz="1400"/>
                        <a:t>等</a:t>
                      </a:r>
                      <a:endParaRPr lang="zh-CN" altLang="en-US" sz="1400"/>
                    </a:p>
                  </a:txBody>
                  <a:tcPr anchor="ctr" anchorCtr="0"/>
                </a:tc>
                <a:tc rowSpan="2">
                  <a:txBody>
                    <a:bodyPr/>
                    <a:p>
                      <a:pPr indent="0" algn="ctr" fontAlgn="auto">
                        <a:buNone/>
                      </a:pPr>
                      <a:r>
                        <a:rPr lang="zh-CN" altLang="en-US" sz="1400"/>
                        <a:t>测试</a:t>
                      </a:r>
                      <a:r>
                        <a:rPr lang="en-US" altLang="zh-CN" sz="1400"/>
                        <a:t> Trident </a:t>
                      </a:r>
                      <a:r>
                        <a:rPr lang="zh-CN" altLang="en-US" sz="1400" b="1"/>
                        <a:t>在混合流量环境中区分正常应用与特定恶意软件的能力</a:t>
                      </a:r>
                      <a:r>
                        <a:rPr lang="zh-CN" altLang="en-US" sz="1400"/>
                        <a:t>。</a:t>
                      </a:r>
                      <a:endParaRPr lang="zh-CN" altLang="en-US" sz="1400"/>
                    </a:p>
                  </a:txBody>
                  <a:tcPr anchor="ctr" anchorCtr="0"/>
                </a:tc>
              </a:tr>
              <a:tr h="900000">
                <a:tc vMerge="1">
                  <a:tcPr anchor="ctr" anchorCtr="0"/>
                </a:tc>
                <a:tc>
                  <a:txBody>
                    <a:bodyPr/>
                    <a:p>
                      <a:pPr algn="ctr">
                        <a:buNone/>
                      </a:pPr>
                      <a:r>
                        <a:rPr lang="zh-CN" altLang="en-US" sz="1400" b="1"/>
                        <a:t>恶意流量数据</a:t>
                      </a:r>
                      <a:r>
                        <a:rPr lang="zh-CN" altLang="en-US" sz="1400"/>
                        <a:t>：</a:t>
                      </a:r>
                      <a:r>
                        <a:rPr lang="en-US" altLang="zh-CN" sz="1400"/>
                        <a:t>Cridex</a:t>
                      </a:r>
                      <a:r>
                        <a:rPr lang="zh-CN" altLang="en-US" sz="1400"/>
                        <a:t>、</a:t>
                      </a:r>
                      <a:r>
                        <a:rPr lang="en-US" altLang="zh-CN" sz="1400"/>
                        <a:t>Geodo</a:t>
                      </a:r>
                      <a:r>
                        <a:rPr lang="zh-CN" altLang="en-US" sz="1400"/>
                        <a:t>、</a:t>
                      </a:r>
                      <a:r>
                        <a:rPr lang="en-US" altLang="zh-CN" sz="1400"/>
                        <a:t>Hitbot</a:t>
                      </a:r>
                      <a:r>
                        <a:rPr lang="zh-CN" altLang="en-US" sz="1400"/>
                        <a:t>等</a:t>
                      </a:r>
                      <a:endParaRPr lang="zh-CN" altLang="en-US" sz="1400"/>
                    </a:p>
                  </a:txBody>
                  <a:tcPr anchor="ctr" anchorCtr="0"/>
                </a:tc>
                <a:tc vMerge="1">
                  <a:tcPr anchor="ctr" anchorCtr="0"/>
                </a:tc>
              </a:tr>
              <a:tr h="900000">
                <a:tc>
                  <a:txBody>
                    <a:bodyPr/>
                    <a:p>
                      <a:pPr algn="ctr">
                        <a:buNone/>
                      </a:pPr>
                      <a:r>
                        <a:rPr lang="en-US" altLang="zh-CN" b="1"/>
                        <a:t>ISCXTor2016</a:t>
                      </a:r>
                      <a:endParaRPr lang="en-US" altLang="zh-CN" b="1"/>
                    </a:p>
                  </a:txBody>
                  <a:tcPr anchor="ctr" anchorCtr="0"/>
                </a:tc>
                <a:tc>
                  <a:txBody>
                    <a:bodyPr/>
                    <a:p>
                      <a:pPr algn="ctr">
                        <a:buNone/>
                      </a:pPr>
                      <a:r>
                        <a:rPr lang="zh-CN" altLang="en-US" sz="1400"/>
                        <a:t>使用超过</a:t>
                      </a:r>
                      <a:r>
                        <a:rPr lang="en-US" altLang="zh-CN" sz="1400"/>
                        <a:t>18</a:t>
                      </a:r>
                      <a:r>
                        <a:rPr lang="zh-CN" altLang="en-US" sz="1400"/>
                        <a:t>种代表性应用，收集</a:t>
                      </a:r>
                      <a:r>
                        <a:rPr lang="en-US" altLang="zh-CN" sz="1400"/>
                        <a:t>8</a:t>
                      </a:r>
                      <a:r>
                        <a:rPr lang="zh-CN" altLang="en-US" sz="1400"/>
                        <a:t>类典型应用流量（如</a:t>
                      </a:r>
                      <a:r>
                        <a:rPr lang="en-US" altLang="zh-CN" sz="1400"/>
                        <a:t>Browsing</a:t>
                      </a:r>
                      <a:r>
                        <a:rPr lang="zh-CN" altLang="en-US" sz="1400"/>
                        <a:t>、</a:t>
                      </a:r>
                      <a:r>
                        <a:rPr lang="en-US" altLang="zh-CN" sz="1400"/>
                        <a:t>Chat</a:t>
                      </a:r>
                      <a:r>
                        <a:rPr lang="zh-CN" altLang="en-US" sz="1400"/>
                        <a:t>等），</a:t>
                      </a:r>
                      <a:r>
                        <a:rPr lang="zh-CN" altLang="en-US" sz="1400" b="1"/>
                        <a:t>流量采集通过工作站虚拟机</a:t>
                      </a:r>
                      <a:r>
                        <a:rPr lang="en-US" altLang="zh-CN" sz="1400" b="1"/>
                        <a:t> </a:t>
                      </a:r>
                      <a:r>
                        <a:rPr lang="en-US" altLang="en-US" sz="1400" b="1"/>
                        <a:t>→</a:t>
                      </a:r>
                      <a:r>
                        <a:rPr lang="en-US" altLang="zh-CN" sz="1400" b="1"/>
                        <a:t> </a:t>
                      </a:r>
                      <a:r>
                        <a:rPr lang="zh-CN" altLang="en-US" sz="1400" b="1"/>
                        <a:t>网关虚拟机</a:t>
                      </a:r>
                      <a:r>
                        <a:rPr lang="en-US" altLang="zh-CN" sz="1400" b="1"/>
                        <a:t> </a:t>
                      </a:r>
                      <a:r>
                        <a:rPr lang="en-US" altLang="en-US" sz="1400" b="1"/>
                        <a:t>→</a:t>
                      </a:r>
                      <a:r>
                        <a:rPr lang="en-US" altLang="zh-CN" sz="1400" b="1"/>
                        <a:t> Tor</a:t>
                      </a:r>
                      <a:r>
                        <a:rPr lang="zh-CN" altLang="en-US" sz="1400" b="1"/>
                        <a:t>网络的方式进行</a:t>
                      </a:r>
                      <a:r>
                        <a:rPr lang="zh-CN" altLang="en-US" sz="1400"/>
                        <a:t>，确保所有流量经过</a:t>
                      </a:r>
                      <a:r>
                        <a:rPr lang="en-US" altLang="zh-CN" sz="1400"/>
                        <a:t>Tor</a:t>
                      </a:r>
                      <a:r>
                        <a:rPr lang="zh-CN" altLang="en-US" sz="1400"/>
                        <a:t>路由</a:t>
                      </a:r>
                      <a:endParaRPr lang="zh-CN" altLang="en-US" sz="1400"/>
                    </a:p>
                  </a:txBody>
                  <a:tcPr anchor="ctr" anchorCtr="0"/>
                </a:tc>
                <a:tc>
                  <a:txBody>
                    <a:bodyPr/>
                    <a:p>
                      <a:pPr algn="ctr">
                        <a:buNone/>
                      </a:pPr>
                      <a:r>
                        <a:rPr lang="zh-CN" altLang="en-US" sz="1400"/>
                        <a:t>用于</a:t>
                      </a:r>
                      <a:r>
                        <a:rPr lang="zh-CN" altLang="en-US" sz="1400" b="1"/>
                        <a:t>区分</a:t>
                      </a:r>
                      <a:r>
                        <a:rPr lang="en-US" altLang="zh-CN" sz="1400" b="1"/>
                        <a:t>Tor</a:t>
                      </a:r>
                      <a:r>
                        <a:rPr lang="zh-CN" altLang="en-US" sz="1400" b="1"/>
                        <a:t>加密流量与非</a:t>
                      </a:r>
                      <a:r>
                        <a:rPr lang="en-US" altLang="zh-CN" sz="1400" b="1"/>
                        <a:t>Tor</a:t>
                      </a:r>
                      <a:r>
                        <a:rPr lang="zh-CN" altLang="en-US" sz="1400" b="1"/>
                        <a:t>流量</a:t>
                      </a:r>
                      <a:r>
                        <a:rPr lang="zh-CN" altLang="en-US" sz="1400"/>
                        <a:t>，广泛应用于加密流量分类、应用类型识别、机器学习特征提取等场景。</a:t>
                      </a:r>
                      <a:endParaRPr lang="zh-CN" altLang="en-US" sz="1400"/>
                    </a:p>
                  </a:txBody>
                  <a:tcPr anchor="ctr" anchorCtr="0"/>
                </a:tc>
              </a:tr>
              <a:tr h="900000">
                <a:tc>
                  <a:txBody>
                    <a:bodyPr/>
                    <a:p>
                      <a:pPr algn="ctr">
                        <a:buNone/>
                      </a:pPr>
                      <a:r>
                        <a:rPr lang="en-US" altLang="zh-CN" b="1"/>
                        <a:t>IDS2017&amp;2018</a:t>
                      </a:r>
                      <a:endParaRPr lang="en-US" altLang="zh-CN" b="1"/>
                    </a:p>
                  </a:txBody>
                  <a:tcPr anchor="ctr" anchorCtr="0"/>
                </a:tc>
                <a:tc>
                  <a:txBody>
                    <a:bodyPr/>
                    <a:p>
                      <a:pPr algn="ctr">
                        <a:buNone/>
                      </a:pPr>
                      <a:r>
                        <a:rPr lang="zh-CN" altLang="en-US" sz="1400"/>
                        <a:t>基于</a:t>
                      </a:r>
                      <a:r>
                        <a:rPr lang="en-US" altLang="zh-CN" sz="1400"/>
                        <a:t> B-Profile </a:t>
                      </a:r>
                      <a:r>
                        <a:rPr lang="zh-CN" altLang="en-US" sz="1400"/>
                        <a:t>系统模拟了数千万条流量记录，涵盖了</a:t>
                      </a:r>
                      <a:r>
                        <a:rPr lang="en-US" altLang="zh-CN" sz="1400"/>
                        <a:t> DoS/DDoS, Brute Force, Infiltration </a:t>
                      </a:r>
                      <a:r>
                        <a:rPr lang="zh-CN" altLang="en-US" sz="1400"/>
                        <a:t>等多种真实的入侵行为</a:t>
                      </a:r>
                      <a:endParaRPr lang="zh-CN" altLang="en-US" sz="1400"/>
                    </a:p>
                  </a:txBody>
                  <a:tcPr anchor="ctr" anchorCtr="0"/>
                </a:tc>
                <a:tc>
                  <a:txBody>
                    <a:bodyPr/>
                    <a:p>
                      <a:pPr algn="ctr">
                        <a:buNone/>
                      </a:pPr>
                      <a:r>
                        <a:rPr lang="zh-CN" altLang="en-US" sz="1400"/>
                        <a:t>特意同时选用了</a:t>
                      </a:r>
                      <a:r>
                        <a:rPr lang="en-US" altLang="zh-CN" sz="1400"/>
                        <a:t> 2017 </a:t>
                      </a:r>
                      <a:r>
                        <a:rPr lang="zh-CN" altLang="en-US" sz="1400"/>
                        <a:t>和</a:t>
                      </a:r>
                      <a:r>
                        <a:rPr lang="en-US" altLang="zh-CN" sz="1400"/>
                        <a:t> 2018 </a:t>
                      </a:r>
                      <a:r>
                        <a:rPr lang="zh-CN" altLang="en-US" sz="1400"/>
                        <a:t>两个年份的数据集，旨在通过</a:t>
                      </a:r>
                      <a:r>
                        <a:rPr lang="zh-CN" altLang="en-US" sz="1400" b="1"/>
                        <a:t>跨年份的测试（</a:t>
                      </a:r>
                      <a:r>
                        <a:rPr lang="en-US" altLang="zh-CN" sz="1400" b="1"/>
                        <a:t>Time Bias</a:t>
                      </a:r>
                      <a:r>
                        <a:rPr lang="zh-CN" altLang="en-US" sz="1400" b="1"/>
                        <a:t>）</a:t>
                      </a:r>
                      <a:r>
                        <a:rPr lang="zh-CN" altLang="en-US" sz="1400"/>
                        <a:t>，评估</a:t>
                      </a:r>
                      <a:r>
                        <a:rPr lang="en-US" altLang="zh-CN" sz="1400"/>
                        <a:t> Trident </a:t>
                      </a:r>
                      <a:r>
                        <a:rPr lang="zh-CN" altLang="en-US" sz="1400"/>
                        <a:t>应对时间维度上概念漂移的能力。</a:t>
                      </a:r>
                      <a:endParaRPr lang="zh-CN" altLang="en-US" sz="1400"/>
                    </a:p>
                  </a:txBody>
                  <a:tcPr anchor="ctr" anchorCtr="0"/>
                </a:tc>
              </a:tr>
              <a:tr h="900000">
                <a:tc>
                  <a:txBody>
                    <a:bodyPr/>
                    <a:p>
                      <a:pPr algn="ctr">
                        <a:buNone/>
                      </a:pPr>
                      <a:r>
                        <a:rPr lang="en-US" altLang="zh-CN" b="1"/>
                        <a:t>CrossNet2021</a:t>
                      </a:r>
                      <a:endParaRPr lang="en-US" altLang="zh-CN" b="1"/>
                    </a:p>
                  </a:txBody>
                  <a:tcPr anchor="ctr" anchorCtr="0"/>
                </a:tc>
                <a:tc>
                  <a:txBody>
                    <a:bodyPr/>
                    <a:p>
                      <a:pPr algn="ctr">
                        <a:buNone/>
                      </a:pPr>
                      <a:r>
                        <a:rPr lang="zh-CN" altLang="en-US" sz="1400"/>
                        <a:t>包含</a:t>
                      </a:r>
                      <a:r>
                        <a:rPr lang="en-US" altLang="zh-CN" sz="1400"/>
                        <a:t> 20 </a:t>
                      </a:r>
                      <a:r>
                        <a:rPr lang="zh-CN" altLang="en-US" sz="1400"/>
                        <a:t>类应用（如</a:t>
                      </a:r>
                      <a:r>
                        <a:rPr lang="en-US" altLang="zh-CN" sz="1400"/>
                        <a:t> 360, Sougou, CSDN </a:t>
                      </a:r>
                      <a:r>
                        <a:rPr lang="zh-CN" altLang="en-US" sz="1400"/>
                        <a:t>等）的流量。</a:t>
                      </a:r>
                      <a:endParaRPr lang="zh-CN" altLang="en-US" sz="1400"/>
                    </a:p>
                  </a:txBody>
                  <a:tcPr anchor="ctr" anchorCtr="0"/>
                </a:tc>
                <a:tc>
                  <a:txBody>
                    <a:bodyPr/>
                    <a:p>
                      <a:pPr algn="ctr">
                        <a:buNone/>
                      </a:pPr>
                      <a:r>
                        <a:rPr lang="zh-CN" altLang="en-US" sz="1400"/>
                        <a:t>数据采集自</a:t>
                      </a:r>
                      <a:r>
                        <a:rPr lang="en-US" altLang="zh-CN" sz="1400"/>
                        <a:t>“</a:t>
                      </a:r>
                      <a:r>
                        <a:rPr lang="zh-CN" altLang="en-US" sz="1400"/>
                        <a:t>稳定网络</a:t>
                      </a:r>
                      <a:r>
                        <a:rPr lang="en-US" altLang="zh-CN" sz="1400"/>
                        <a:t>”</a:t>
                      </a:r>
                      <a:r>
                        <a:rPr lang="zh-CN" altLang="en-US" sz="1400"/>
                        <a:t>和</a:t>
                      </a:r>
                      <a:r>
                        <a:rPr lang="en-US" altLang="zh-CN" sz="1400"/>
                        <a:t>“</a:t>
                      </a:r>
                      <a:r>
                        <a:rPr lang="zh-CN" altLang="en-US" sz="1400"/>
                        <a:t>生产网络</a:t>
                      </a:r>
                      <a:r>
                        <a:rPr lang="en-US" altLang="zh-CN" sz="1400"/>
                        <a:t>”</a:t>
                      </a:r>
                      <a:r>
                        <a:rPr lang="zh-CN" altLang="en-US" sz="1400"/>
                        <a:t>两种截然不同的环境。为我们评估</a:t>
                      </a:r>
                      <a:r>
                        <a:rPr lang="en-US" altLang="zh-CN" sz="1400"/>
                        <a:t> Trident </a:t>
                      </a:r>
                      <a:r>
                        <a:rPr lang="zh-CN" altLang="en-US" sz="1400"/>
                        <a:t>的</a:t>
                      </a:r>
                      <a:r>
                        <a:rPr lang="zh-CN" altLang="en-US" sz="1400" b="1"/>
                        <a:t>抗场景偏差（</a:t>
                      </a:r>
                      <a:r>
                        <a:rPr lang="en-US" altLang="zh-CN" sz="1400" b="1"/>
                        <a:t>Scenario Bias</a:t>
                      </a:r>
                      <a:r>
                        <a:rPr lang="zh-CN" altLang="en-US" sz="1400" b="1"/>
                        <a:t>）</a:t>
                      </a:r>
                      <a:r>
                        <a:rPr lang="en-US" altLang="zh-CN" sz="1400"/>
                        <a:t> </a:t>
                      </a:r>
                      <a:r>
                        <a:rPr lang="zh-CN" altLang="en-US" sz="1400"/>
                        <a:t>能力提供了完美的数据支持。</a:t>
                      </a:r>
                      <a:endParaRPr lang="zh-CN" altLang="en-US" sz="1400"/>
                    </a:p>
                  </a:txBody>
                  <a:tcPr anchor="ctr" anchorCtr="0"/>
                </a:tc>
              </a:tr>
            </a:tbl>
          </a:graphicData>
        </a:graphic>
      </p:graphicFrame>
    </p:spTree>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四</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数据集与实验设置</a:t>
            </a:r>
            <a:endParaRPr lang="en-US" altLang="zh-CN" sz="2800" b="1" dirty="0">
              <a:solidFill>
                <a:srgbClr val="005744"/>
              </a:solidFill>
              <a:latin typeface="微软雅黑" panose="020B0503020204020204" charset="-122"/>
              <a:ea typeface="微软雅黑" panose="020B0503020204020204" charset="-122"/>
            </a:endParaRPr>
          </a:p>
        </p:txBody>
      </p:sp>
      <p:sp>
        <p:nvSpPr>
          <p:cNvPr id="30" name="文本框 29"/>
          <p:cNvSpPr txBox="1"/>
          <p:nvPr/>
        </p:nvSpPr>
        <p:spPr>
          <a:xfrm>
            <a:off x="450215" y="1043305"/>
            <a:ext cx="4381500" cy="570865"/>
          </a:xfrm>
          <a:prstGeom prst="rect">
            <a:avLst/>
          </a:prstGeom>
          <a:noFill/>
        </p:spPr>
        <p:txBody>
          <a:bodyPr wrap="square" rtlCol="0" anchor="t">
            <a:noAutofit/>
          </a:bodyPr>
          <a:p>
            <a:r>
              <a:rPr lang="en-US" altLang="zh-CN" sz="2400" b="1" dirty="0">
                <a:latin typeface="微软雅黑" panose="020B0503020204020204" charset="-122"/>
                <a:ea typeface="微软雅黑" panose="020B0503020204020204" charset="-122"/>
                <a:cs typeface="微软雅黑" panose="020B0503020204020204" charset="-122"/>
              </a:rPr>
              <a:t>1</a:t>
            </a:r>
            <a:r>
              <a:rPr lang="zh-CN" altLang="en-US" sz="2400" b="1" dirty="0">
                <a:latin typeface="微软雅黑" panose="020B0503020204020204" charset="-122"/>
                <a:ea typeface="微软雅黑" panose="020B0503020204020204" charset="-122"/>
                <a:cs typeface="微软雅黑" panose="020B0503020204020204" charset="-122"/>
              </a:rPr>
              <a:t>、监督</a:t>
            </a:r>
            <a:r>
              <a:rPr lang="zh-CN" altLang="en-US" sz="2400" b="1" dirty="0">
                <a:latin typeface="微软雅黑" panose="020B0503020204020204" charset="-122"/>
                <a:ea typeface="微软雅黑" panose="020B0503020204020204" charset="-122"/>
                <a:cs typeface="微软雅黑" panose="020B0503020204020204" charset="-122"/>
              </a:rPr>
              <a:t>学习方法及评估指标</a:t>
            </a:r>
            <a:endParaRPr lang="zh-CN" altLang="en-US" sz="2400" b="1" dirty="0">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p:nvPr/>
        </p:nvGraphicFramePr>
        <p:xfrm>
          <a:off x="393065" y="2138680"/>
          <a:ext cx="8533765" cy="2286000"/>
        </p:xfrm>
        <a:graphic>
          <a:graphicData uri="http://schemas.openxmlformats.org/drawingml/2006/table">
            <a:tbl>
              <a:tblPr firstRow="1" bandRow="1">
                <a:tableStyleId>{5C22544A-7EE6-4342-B048-85BDC9FD1C3A}</a:tableStyleId>
              </a:tblPr>
              <a:tblGrid>
                <a:gridCol w="1800000"/>
                <a:gridCol w="4266565"/>
              </a:tblGrid>
              <a:tr h="381000">
                <a:tc>
                  <a:txBody>
                    <a:bodyPr/>
                    <a:p>
                      <a:pPr algn="ctr">
                        <a:buNone/>
                      </a:pPr>
                      <a:r>
                        <a:rPr lang="zh-CN" altLang="en-US"/>
                        <a:t>监督方法</a:t>
                      </a:r>
                      <a:endParaRPr lang="zh-CN" altLang="en-US"/>
                    </a:p>
                  </a:txBody>
                  <a:tcPr anchor="ctr" anchorCtr="0"/>
                </a:tc>
                <a:tc>
                  <a:txBody>
                    <a:bodyPr/>
                    <a:p>
                      <a:pPr algn="ctr">
                        <a:buNone/>
                      </a:pPr>
                      <a:r>
                        <a:rPr lang="zh-CN" altLang="en-US"/>
                        <a:t>简介</a:t>
                      </a:r>
                      <a:endParaRPr lang="zh-CN" altLang="en-US"/>
                    </a:p>
                  </a:txBody>
                  <a:tcPr anchor="ctr" anchorCtr="0"/>
                </a:tc>
              </a:tr>
              <a:tr h="381000">
                <a:tc>
                  <a:txBody>
                    <a:bodyPr/>
                    <a:p>
                      <a:pPr algn="ctr">
                        <a:buNone/>
                      </a:pPr>
                      <a:r>
                        <a:rPr lang="en-US" altLang="zh-CN" b="1"/>
                        <a:t>nPrint</a:t>
                      </a:r>
                      <a:endParaRPr lang="en-US" altLang="zh-CN" b="1"/>
                    </a:p>
                  </a:txBody>
                  <a:tcPr anchor="ctr" anchorCtr="0"/>
                </a:tc>
                <a:tc>
                  <a:txBody>
                    <a:bodyPr/>
                    <a:p>
                      <a:pPr algn="ctr">
                        <a:buNone/>
                      </a:pPr>
                      <a:r>
                        <a:rPr lang="zh-CN" altLang="en-US" sz="1400" b="1"/>
                        <a:t>自动化流量分析工具</a:t>
                      </a:r>
                      <a:r>
                        <a:rPr lang="zh-CN" altLang="en-US" sz="1400"/>
                        <a:t>，生成统一的数据包表示并利用</a:t>
                      </a:r>
                      <a:r>
                        <a:rPr lang="en-US" altLang="zh-CN" sz="1400"/>
                        <a:t> AutoML </a:t>
                      </a:r>
                      <a:r>
                        <a:rPr lang="zh-CN" altLang="en-US" sz="1400"/>
                        <a:t>进行分类。</a:t>
                      </a:r>
                      <a:endParaRPr lang="zh-CN" altLang="en-US" sz="1400"/>
                    </a:p>
                  </a:txBody>
                  <a:tcPr anchor="ctr" anchorCtr="0"/>
                </a:tc>
              </a:tr>
              <a:tr h="381000">
                <a:tc>
                  <a:txBody>
                    <a:bodyPr/>
                    <a:p>
                      <a:pPr algn="ctr">
                        <a:buNone/>
                      </a:pPr>
                      <a:r>
                        <a:rPr lang="en-US" altLang="zh-CN" b="1"/>
                        <a:t>F</a:t>
                      </a:r>
                      <a:r>
                        <a:rPr lang="en-US" altLang="zh-CN" b="1"/>
                        <a:t>lowPic</a:t>
                      </a:r>
                      <a:endParaRPr lang="en-US" altLang="zh-CN" b="1"/>
                    </a:p>
                  </a:txBody>
                  <a:tcPr anchor="ctr" anchorCtr="0"/>
                </a:tc>
                <a:tc>
                  <a:txBody>
                    <a:bodyPr/>
                    <a:p>
                      <a:pPr algn="ctr">
                        <a:buNone/>
                      </a:pPr>
                      <a:r>
                        <a:rPr lang="zh-CN" altLang="en-US" sz="1400" b="1"/>
                        <a:t>将网络流量分析问题转化为计算机视觉问题</a:t>
                      </a:r>
                      <a:r>
                        <a:rPr lang="zh-CN" altLang="en-US" sz="1400"/>
                        <a:t>。将一个完整网络流的统计特征映射成一张二维灰度图像，并利用</a:t>
                      </a:r>
                      <a:r>
                        <a:rPr lang="en-US" altLang="zh-CN" sz="1400"/>
                        <a:t>CNN</a:t>
                      </a:r>
                      <a:r>
                        <a:rPr lang="zh-CN" altLang="en-US" sz="1400"/>
                        <a:t>进行图像分类。</a:t>
                      </a:r>
                      <a:endParaRPr lang="zh-CN" altLang="en-US" sz="1400"/>
                    </a:p>
                  </a:txBody>
                  <a:tcPr anchor="ctr" anchorCtr="0"/>
                </a:tc>
              </a:tr>
              <a:tr h="381000">
                <a:tc>
                  <a:txBody>
                    <a:bodyPr/>
                    <a:p>
                      <a:pPr algn="ctr">
                        <a:buNone/>
                      </a:pPr>
                      <a:r>
                        <a:rPr lang="en-US" altLang="zh-CN" b="1"/>
                        <a:t>Flowlens</a:t>
                      </a:r>
                      <a:endParaRPr lang="en-US" altLang="zh-CN" b="1"/>
                    </a:p>
                  </a:txBody>
                  <a:tcPr anchor="ctr" anchorCtr="0"/>
                </a:tc>
                <a:tc>
                  <a:txBody>
                    <a:bodyPr/>
                    <a:p>
                      <a:pPr algn="ctr">
                        <a:buNone/>
                      </a:pPr>
                      <a:r>
                        <a:rPr lang="zh-CN" altLang="en-US" sz="1400"/>
                        <a:t>基于</a:t>
                      </a:r>
                      <a:r>
                        <a:rPr lang="zh-CN" altLang="en-US" sz="1400" b="1"/>
                        <a:t>数据包大小分布直方图的轻量级分类器</a:t>
                      </a:r>
                      <a:r>
                        <a:rPr lang="zh-CN" altLang="en-US" sz="1400"/>
                        <a:t>，适合资源受限或需要实时处理的环境</a:t>
                      </a:r>
                      <a:endParaRPr lang="zh-CN" altLang="en-US" sz="1400"/>
                    </a:p>
                  </a:txBody>
                  <a:tcPr anchor="ctr" anchorCtr="0"/>
                </a:tc>
              </a:tr>
              <a:tr h="381000">
                <a:tc>
                  <a:txBody>
                    <a:bodyPr/>
                    <a:p>
                      <a:pPr algn="ctr">
                        <a:buNone/>
                      </a:pPr>
                      <a:r>
                        <a:rPr lang="en-US" altLang="zh-CN" b="1"/>
                        <a:t>ERNN</a:t>
                      </a:r>
                      <a:endParaRPr lang="en-US" altLang="zh-CN" b="1"/>
                    </a:p>
                  </a:txBody>
                  <a:tcPr anchor="ctr" anchorCtr="0"/>
                </a:tc>
                <a:tc>
                  <a:txBody>
                    <a:bodyPr/>
                    <a:p>
                      <a:pPr algn="ctr">
                        <a:buNone/>
                      </a:pPr>
                      <a:r>
                        <a:rPr lang="zh-CN" altLang="en-US" sz="1400"/>
                        <a:t>能够有效处理</a:t>
                      </a:r>
                      <a:r>
                        <a:rPr lang="zh-CN" altLang="en-US" sz="1400" b="1"/>
                        <a:t>真实网络环境中固有的、会破坏流量序列完整性的现象</a:t>
                      </a:r>
                      <a:r>
                        <a:rPr lang="zh-CN" altLang="en-US" sz="1400"/>
                        <a:t>，</a:t>
                      </a:r>
                      <a:r>
                        <a:rPr lang="zh-CN" altLang="en-US" sz="1400"/>
                        <a:t>如数据包丢失、重传和乱序</a:t>
                      </a:r>
                      <a:endParaRPr lang="zh-CN" altLang="en-US" sz="1400"/>
                    </a:p>
                  </a:txBody>
                  <a:tcPr anchor="ctr" anchorCtr="0"/>
                </a:tc>
              </a:tr>
              <a:tr h="381000">
                <a:tc>
                  <a:txBody>
                    <a:bodyPr/>
                    <a:p>
                      <a:pPr algn="ctr">
                        <a:buNone/>
                      </a:pPr>
                      <a:r>
                        <a:rPr lang="en-US" altLang="zh-CN" b="1"/>
                        <a:t>ET-BERT</a:t>
                      </a:r>
                      <a:endParaRPr lang="en-US" altLang="zh-CN" b="1"/>
                    </a:p>
                  </a:txBody>
                  <a:tcPr anchor="ctr" anchorCtr="0"/>
                </a:tc>
                <a:tc>
                  <a:txBody>
                    <a:bodyPr/>
                    <a:p>
                      <a:pPr algn="ctr">
                        <a:buNone/>
                      </a:pPr>
                      <a:r>
                        <a:rPr lang="zh-CN" altLang="en-US" sz="1400" b="1"/>
                        <a:t>将流量视为一种</a:t>
                      </a:r>
                      <a:r>
                        <a:rPr lang="en-US" altLang="zh-CN" sz="1400" b="1"/>
                        <a:t>“</a:t>
                      </a:r>
                      <a:r>
                        <a:rPr lang="zh-CN" altLang="en-US" sz="1400" b="1"/>
                        <a:t>语言</a:t>
                      </a:r>
                      <a:r>
                        <a:rPr lang="en-US" altLang="zh-CN" sz="1400" b="1"/>
                        <a:t>”</a:t>
                      </a:r>
                      <a:r>
                        <a:rPr lang="zh-CN" altLang="en-US" sz="1400"/>
                        <a:t>，利用</a:t>
                      </a:r>
                      <a:r>
                        <a:rPr lang="en-US" altLang="zh-CN" sz="1400" b="1"/>
                        <a:t>Transformer</a:t>
                      </a:r>
                      <a:r>
                        <a:rPr lang="zh-CN" altLang="en-US" sz="1400" b="1"/>
                        <a:t>架构</a:t>
                      </a:r>
                      <a:r>
                        <a:rPr lang="zh-CN" altLang="en-US" sz="1400"/>
                        <a:t>和预训练</a:t>
                      </a:r>
                      <a:r>
                        <a:rPr lang="en-US" altLang="zh-CN" sz="1400"/>
                        <a:t>-</a:t>
                      </a:r>
                      <a:r>
                        <a:rPr lang="zh-CN" altLang="en-US" sz="1400"/>
                        <a:t>微调范式，从海量无标注流量中学习通用的、深层的上下文表示</a:t>
                      </a:r>
                      <a:endParaRPr lang="zh-CN" altLang="en-US" sz="1400"/>
                    </a:p>
                  </a:txBody>
                  <a:tcPr anchor="ctr" anchorCtr="0"/>
                </a:tc>
              </a:tr>
            </a:tbl>
          </a:graphicData>
        </a:graphic>
      </p:graphicFrame>
      <p:sp>
        <p:nvSpPr>
          <p:cNvPr id="10" name="文本框 9"/>
          <p:cNvSpPr txBox="1"/>
          <p:nvPr/>
        </p:nvSpPr>
        <p:spPr>
          <a:xfrm>
            <a:off x="7081520" y="1216660"/>
            <a:ext cx="4575175" cy="2014855"/>
          </a:xfrm>
          <a:prstGeom prst="rect">
            <a:avLst/>
          </a:prstGeom>
        </p:spPr>
        <p:txBody>
          <a:bodyPr wrap="square">
            <a:spAutoFit/>
          </a:bodyPr>
          <a:p>
            <a:pPr indent="508000" algn="l" fontAlgn="auto">
              <a:lnSpc>
                <a:spcPct val="125000"/>
              </a:lnSpc>
              <a:extLst>
                <a:ext uri="{35155182-B16C-46BC-9424-99874614C6A1}">
                  <wpsdc:indentchars xmlns:wpsdc="http://www.wps.cn/officeDocument/2017/drawingmlCustomData" val="200" checksum="282533468"/>
                </a:ext>
              </a:extLst>
            </a:pPr>
            <a:r>
              <a:rPr lang="zh-CN" altLang="en-US" sz="2000">
                <a:latin typeface="微软雅黑" panose="020B0503020204020204" charset="-122"/>
                <a:ea typeface="微软雅黑" panose="020B0503020204020204" charset="-122"/>
              </a:rPr>
              <a:t>在训练阶段，拥有</a:t>
            </a:r>
            <a:r>
              <a:rPr lang="zh-CN" altLang="en-US" sz="2000" b="1">
                <a:solidFill>
                  <a:srgbClr val="FF0000"/>
                </a:solidFill>
                <a:latin typeface="微软雅黑" panose="020B0503020204020204" charset="-122"/>
                <a:ea typeface="微软雅黑" panose="020B0503020204020204" charset="-122"/>
              </a:rPr>
              <a:t>完全已知且精确标记的流量数据</a:t>
            </a:r>
            <a:r>
              <a:rPr lang="zh-CN" altLang="en-US" sz="2000">
                <a:latin typeface="微软雅黑" panose="020B0503020204020204" charset="-122"/>
                <a:ea typeface="微软雅黑" panose="020B0503020204020204" charset="-122"/>
              </a:rPr>
              <a:t>。因此，这些方法所达到的</a:t>
            </a:r>
            <a:r>
              <a:rPr lang="zh-CN" altLang="en-US" sz="2000" b="1">
                <a:latin typeface="微软雅黑" panose="020B0503020204020204" charset="-122"/>
                <a:ea typeface="微软雅黑" panose="020B0503020204020204" charset="-122"/>
              </a:rPr>
              <a:t>性能通常被视为理论或实验上的</a:t>
            </a:r>
            <a:r>
              <a:rPr lang="zh-CN" altLang="en-US" sz="2000" b="1">
                <a:solidFill>
                  <a:srgbClr val="FF0000"/>
                </a:solidFill>
                <a:latin typeface="微软雅黑" panose="020B0503020204020204" charset="-122"/>
                <a:ea typeface="微软雅黑" panose="020B0503020204020204" charset="-122"/>
              </a:rPr>
              <a:t>性能上限</a:t>
            </a:r>
            <a:r>
              <a:rPr lang="zh-CN" altLang="en-US" sz="2000">
                <a:latin typeface="微软雅黑" panose="020B0503020204020204" charset="-122"/>
                <a:ea typeface="微软雅黑" panose="020B0503020204020204" charset="-122"/>
              </a:rPr>
              <a:t>，用于衡量其他在更现实、标注不完全的环境下运行的方法的性能。</a:t>
            </a:r>
            <a:endParaRPr lang="zh-CN" altLang="en-US" sz="2000">
              <a:latin typeface="微软雅黑" panose="020B0503020204020204" charset="-122"/>
              <a:ea typeface="微软雅黑" panose="020B0503020204020204" charset="-122"/>
            </a:endParaRPr>
          </a:p>
        </p:txBody>
      </p:sp>
      <p:sp>
        <p:nvSpPr>
          <p:cNvPr id="11" name="文本框 10"/>
          <p:cNvSpPr txBox="1"/>
          <p:nvPr/>
        </p:nvSpPr>
        <p:spPr>
          <a:xfrm>
            <a:off x="7022465" y="3429000"/>
            <a:ext cx="4397375" cy="2807970"/>
          </a:xfrm>
          <a:prstGeom prst="rect">
            <a:avLst/>
          </a:prstGeom>
          <a:noFill/>
        </p:spPr>
        <p:txBody>
          <a:bodyPr wrap="square" rtlCol="0" anchor="t">
            <a:noAutofit/>
          </a:bodyPr>
          <a:p>
            <a:pPr indent="0" fontAlgn="auto">
              <a:spcAft>
                <a:spcPts val="1200"/>
              </a:spcAft>
            </a:pPr>
            <a:r>
              <a:rPr lang="zh-CN" altLang="en-US" sz="2800" b="1" dirty="0">
                <a:latin typeface="微软雅黑" panose="020B0503020204020204" charset="-122"/>
                <a:ea typeface="微软雅黑" panose="020B0503020204020204" charset="-122"/>
                <a:cs typeface="微软雅黑" panose="020B0503020204020204" charset="-122"/>
              </a:rPr>
              <a:t>评估指标</a:t>
            </a:r>
            <a:endParaRPr lang="zh-CN" altLang="en-US" sz="2800" b="1" dirty="0">
              <a:latin typeface="微软雅黑" panose="020B0503020204020204" charset="-122"/>
              <a:ea typeface="微软雅黑" panose="020B0503020204020204" charset="-122"/>
              <a:cs typeface="微软雅黑" panose="020B0503020204020204" charset="-122"/>
            </a:endParaRPr>
          </a:p>
          <a:p>
            <a:pPr indent="0" fontAlgn="auto">
              <a:spcAft>
                <a:spcPts val="600"/>
              </a:spcAft>
            </a:pPr>
            <a:r>
              <a:rPr lang="zh-CN" altLang="en-US" sz="2000" b="1" dirty="0">
                <a:latin typeface="微软雅黑" panose="020B0503020204020204" charset="-122"/>
                <a:ea typeface="微软雅黑" panose="020B0503020204020204" charset="-122"/>
                <a:cs typeface="微软雅黑" panose="020B0503020204020204" charset="-122"/>
              </a:rPr>
              <a:t>（</a:t>
            </a:r>
            <a:r>
              <a:rPr lang="en-US" altLang="zh-CN" sz="2000" b="1" dirty="0">
                <a:latin typeface="微软雅黑" panose="020B0503020204020204" charset="-122"/>
                <a:ea typeface="微软雅黑" panose="020B0503020204020204" charset="-122"/>
                <a:cs typeface="微软雅黑" panose="020B0503020204020204" charset="-122"/>
              </a:rPr>
              <a:t>1</a:t>
            </a:r>
            <a:r>
              <a:rPr lang="zh-CN" altLang="en-US" sz="2000" b="1" dirty="0">
                <a:latin typeface="微软雅黑" panose="020B0503020204020204" charset="-122"/>
                <a:ea typeface="微软雅黑" panose="020B0503020204020204" charset="-122"/>
                <a:cs typeface="微软雅黑" panose="020B0503020204020204" charset="-122"/>
              </a:rPr>
              <a:t>）准确率（</a:t>
            </a:r>
            <a:r>
              <a:rPr lang="en-US" altLang="zh-CN" sz="2000" b="1" dirty="0">
                <a:latin typeface="微软雅黑" panose="020B0503020204020204" charset="-122"/>
                <a:ea typeface="微软雅黑" panose="020B0503020204020204" charset="-122"/>
                <a:cs typeface="微软雅黑" panose="020B0503020204020204" charset="-122"/>
              </a:rPr>
              <a:t>accuracy</a:t>
            </a:r>
            <a:r>
              <a:rPr lang="zh-CN" altLang="en-US" sz="2000" b="1"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衡量模型整体分类的正确率</a:t>
            </a:r>
            <a:endParaRPr lang="zh-CN" altLang="en-US" sz="2000" dirty="0">
              <a:latin typeface="微软雅黑" panose="020B0503020204020204" charset="-122"/>
              <a:ea typeface="微软雅黑" panose="020B0503020204020204" charset="-122"/>
              <a:cs typeface="微软雅黑" panose="020B0503020204020204" charset="-122"/>
            </a:endParaRPr>
          </a:p>
          <a:p>
            <a:pPr indent="0" fontAlgn="auto">
              <a:spcAft>
                <a:spcPts val="600"/>
              </a:spcAft>
            </a:pPr>
            <a:r>
              <a:rPr lang="zh-CN" altLang="en-US" sz="2000" b="1" dirty="0">
                <a:latin typeface="微软雅黑" panose="020B0503020204020204" charset="-122"/>
                <a:ea typeface="微软雅黑" panose="020B0503020204020204" charset="-122"/>
                <a:cs typeface="微软雅黑" panose="020B0503020204020204" charset="-122"/>
              </a:rPr>
              <a:t>（</a:t>
            </a:r>
            <a:r>
              <a:rPr lang="en-US" altLang="zh-CN" sz="2000" b="1" dirty="0">
                <a:latin typeface="微软雅黑" panose="020B0503020204020204" charset="-122"/>
                <a:ea typeface="微软雅黑" panose="020B0503020204020204" charset="-122"/>
                <a:cs typeface="微软雅黑" panose="020B0503020204020204" charset="-122"/>
              </a:rPr>
              <a:t>2</a:t>
            </a:r>
            <a:r>
              <a:rPr lang="zh-CN" altLang="en-US" sz="2000" b="1" dirty="0">
                <a:latin typeface="微软雅黑" panose="020B0503020204020204" charset="-122"/>
                <a:ea typeface="微软雅黑" panose="020B0503020204020204" charset="-122"/>
                <a:cs typeface="微软雅黑" panose="020B0503020204020204" charset="-122"/>
              </a:rPr>
              <a:t>）</a:t>
            </a:r>
            <a:r>
              <a:rPr lang="en-US" altLang="zh-CN" sz="2000" b="1" dirty="0">
                <a:latin typeface="微软雅黑" panose="020B0503020204020204" charset="-122"/>
                <a:ea typeface="微软雅黑" panose="020B0503020204020204" charset="-122"/>
                <a:cs typeface="微软雅黑" panose="020B0503020204020204" charset="-122"/>
              </a:rPr>
              <a:t>F1-score</a:t>
            </a:r>
            <a:r>
              <a:rPr lang="zh-CN" altLang="en-US" sz="2000" b="1" dirty="0">
                <a:latin typeface="微软雅黑" panose="020B0503020204020204" charset="-122"/>
                <a:ea typeface="微软雅黑" panose="020B0503020204020204" charset="-122"/>
                <a:cs typeface="微软雅黑" panose="020B0503020204020204" charset="-122"/>
              </a:rPr>
              <a:t>：</a:t>
            </a:r>
            <a:r>
              <a:rPr lang="zh-CN" altLang="en-US" sz="2000" dirty="0">
                <a:latin typeface="微软雅黑" panose="020B0503020204020204" charset="-122"/>
                <a:ea typeface="微软雅黑" panose="020B0503020204020204" charset="-122"/>
                <a:cs typeface="微软雅黑" panose="020B0503020204020204" charset="-122"/>
              </a:rPr>
              <a:t>综合考虑精确率和召回率的调和平均数，尤其适用于数据可能存在类别不平衡的场景</a:t>
            </a:r>
            <a:endParaRPr lang="zh-CN" altLang="en-US" sz="20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四</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数据集与实验设置</a:t>
            </a:r>
            <a:endParaRPr lang="en-US" altLang="zh-CN" sz="2800" b="1" dirty="0">
              <a:solidFill>
                <a:srgbClr val="005744"/>
              </a:solidFill>
              <a:latin typeface="微软雅黑" panose="020B0503020204020204" charset="-122"/>
              <a:ea typeface="微软雅黑" panose="020B0503020204020204" charset="-122"/>
            </a:endParaRPr>
          </a:p>
        </p:txBody>
      </p:sp>
      <p:sp>
        <p:nvSpPr>
          <p:cNvPr id="30" name="文本框 29"/>
          <p:cNvSpPr txBox="1"/>
          <p:nvPr/>
        </p:nvSpPr>
        <p:spPr>
          <a:xfrm>
            <a:off x="450215" y="1043305"/>
            <a:ext cx="5320665" cy="570865"/>
          </a:xfrm>
          <a:prstGeom prst="rect">
            <a:avLst/>
          </a:prstGeom>
          <a:noFill/>
        </p:spPr>
        <p:txBody>
          <a:bodyPr wrap="square" rtlCol="0" anchor="t">
            <a:noAutofit/>
          </a:bodyPr>
          <a:p>
            <a:r>
              <a:rPr lang="en-US" altLang="zh-CN" sz="2400" b="1" dirty="0">
                <a:latin typeface="微软雅黑" panose="020B0503020204020204" charset="-122"/>
                <a:ea typeface="微软雅黑" panose="020B0503020204020204" charset="-122"/>
                <a:cs typeface="微软雅黑" panose="020B0503020204020204" charset="-122"/>
              </a:rPr>
              <a:t>2</a:t>
            </a:r>
            <a:r>
              <a:rPr lang="zh-CN" altLang="en-US" sz="2400" b="1" dirty="0">
                <a:latin typeface="微软雅黑" panose="020B0503020204020204" charset="-122"/>
                <a:ea typeface="微软雅黑" panose="020B0503020204020204" charset="-122"/>
                <a:cs typeface="微软雅黑" panose="020B0503020204020204" charset="-122"/>
              </a:rPr>
              <a:t>、二分类</a:t>
            </a:r>
            <a:r>
              <a:rPr lang="zh-CN" altLang="en-US" sz="2400" b="1" dirty="0">
                <a:latin typeface="微软雅黑" panose="020B0503020204020204" charset="-122"/>
                <a:ea typeface="微软雅黑" panose="020B0503020204020204" charset="-122"/>
                <a:cs typeface="微软雅黑" panose="020B0503020204020204" charset="-122"/>
              </a:rPr>
              <a:t>异常检测及评估指标</a:t>
            </a:r>
            <a:endParaRPr lang="zh-CN" altLang="en-US" sz="2400" b="1" dirty="0">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p:nvPr/>
        </p:nvGraphicFramePr>
        <p:xfrm>
          <a:off x="393065" y="2138680"/>
          <a:ext cx="8533765" cy="2286000"/>
        </p:xfrm>
        <a:graphic>
          <a:graphicData uri="http://schemas.openxmlformats.org/drawingml/2006/table">
            <a:tbl>
              <a:tblPr firstRow="1" bandRow="1">
                <a:tableStyleId>{5C22544A-7EE6-4342-B048-85BDC9FD1C3A}</a:tableStyleId>
              </a:tblPr>
              <a:tblGrid>
                <a:gridCol w="1800000"/>
                <a:gridCol w="4266565"/>
              </a:tblGrid>
              <a:tr h="381000">
                <a:tc>
                  <a:txBody>
                    <a:bodyPr/>
                    <a:p>
                      <a:pPr algn="ctr">
                        <a:buNone/>
                      </a:pPr>
                      <a:r>
                        <a:rPr lang="zh-CN" altLang="en-US"/>
                        <a:t>检测方法</a:t>
                      </a:r>
                      <a:endParaRPr lang="zh-CN" altLang="en-US"/>
                    </a:p>
                  </a:txBody>
                  <a:tcPr anchor="ctr" anchorCtr="0"/>
                </a:tc>
                <a:tc>
                  <a:txBody>
                    <a:bodyPr/>
                    <a:p>
                      <a:pPr algn="ctr">
                        <a:buNone/>
                      </a:pPr>
                      <a:r>
                        <a:rPr lang="zh-CN" altLang="en-US"/>
                        <a:t>简介</a:t>
                      </a:r>
                      <a:endParaRPr lang="zh-CN" altLang="en-US"/>
                    </a:p>
                  </a:txBody>
                  <a:tcPr anchor="ctr" anchorCtr="0"/>
                </a:tc>
              </a:tr>
              <a:tr h="381000">
                <a:tc>
                  <a:txBody>
                    <a:bodyPr/>
                    <a:p>
                      <a:pPr algn="ctr">
                        <a:buNone/>
                      </a:pPr>
                      <a:r>
                        <a:rPr lang="en-US" altLang="zh-CN" b="1"/>
                        <a:t>Kitsune</a:t>
                      </a:r>
                      <a:endParaRPr lang="en-US" altLang="zh-CN" b="1"/>
                    </a:p>
                  </a:txBody>
                  <a:tcPr anchor="ctr" anchorCtr="0"/>
                </a:tc>
                <a:tc>
                  <a:txBody>
                    <a:bodyPr/>
                    <a:p>
                      <a:pPr algn="ctr">
                        <a:buNone/>
                      </a:pPr>
                      <a:r>
                        <a:rPr lang="zh-CN" altLang="en-US" sz="1400" b="1"/>
                        <a:t>使用集成自编码器在线检测异常</a:t>
                      </a:r>
                      <a:r>
                        <a:rPr lang="zh-CN" altLang="en-US" sz="1400"/>
                        <a:t>，能够在资源受限的环境中快速、在线地检测出网络中的异常</a:t>
                      </a:r>
                      <a:endParaRPr lang="zh-CN" altLang="en-US" sz="1400"/>
                    </a:p>
                  </a:txBody>
                  <a:tcPr anchor="ctr" anchorCtr="0"/>
                </a:tc>
              </a:tr>
              <a:tr h="381000">
                <a:tc>
                  <a:txBody>
                    <a:bodyPr/>
                    <a:p>
                      <a:pPr algn="ctr">
                        <a:buNone/>
                      </a:pPr>
                      <a:r>
                        <a:rPr lang="en-US" altLang="zh-CN" b="1"/>
                        <a:t>Whisper</a:t>
                      </a:r>
                      <a:endParaRPr lang="en-US" altLang="zh-CN" b="1"/>
                    </a:p>
                  </a:txBody>
                  <a:tcPr anchor="ctr" anchorCtr="0"/>
                </a:tc>
                <a:tc>
                  <a:txBody>
                    <a:bodyPr/>
                    <a:p>
                      <a:pPr algn="ctr">
                        <a:buNone/>
                      </a:pPr>
                      <a:r>
                        <a:rPr lang="zh-CN" altLang="en-US" sz="1400" b="1"/>
                        <a:t>基于频域分析的实时恶意流量检测</a:t>
                      </a:r>
                      <a:r>
                        <a:rPr lang="zh-CN" altLang="en-US" sz="1400"/>
                        <a:t>，将网络流量视为一种随时间变化的信号，利用信号处理技术识别其隐藏的周期性或结构性异常。</a:t>
                      </a:r>
                      <a:endParaRPr lang="zh-CN" altLang="en-US" sz="1400"/>
                    </a:p>
                  </a:txBody>
                  <a:tcPr anchor="ctr" anchorCtr="0"/>
                </a:tc>
              </a:tr>
              <a:tr h="381000">
                <a:tc>
                  <a:txBody>
                    <a:bodyPr/>
                    <a:p>
                      <a:pPr algn="ctr">
                        <a:buNone/>
                      </a:pPr>
                      <a:r>
                        <a:rPr lang="en-US" altLang="zh-CN" b="1"/>
                        <a:t>DeepLog</a:t>
                      </a:r>
                      <a:endParaRPr lang="en-US" altLang="zh-CN" b="1"/>
                    </a:p>
                  </a:txBody>
                  <a:tcPr anchor="ctr" anchorCtr="0"/>
                </a:tc>
                <a:tc>
                  <a:txBody>
                    <a:bodyPr/>
                    <a:p>
                      <a:pPr algn="ctr">
                        <a:buNone/>
                      </a:pPr>
                      <a:r>
                        <a:rPr lang="zh-CN" altLang="en-US" sz="1400" b="1"/>
                        <a:t>利用</a:t>
                      </a:r>
                      <a:r>
                        <a:rPr lang="en-US" altLang="zh-CN" sz="1400" b="1"/>
                        <a:t> LSTM </a:t>
                      </a:r>
                      <a:r>
                        <a:rPr lang="zh-CN" altLang="en-US" sz="1400" b="1"/>
                        <a:t>处理序列日志</a:t>
                      </a:r>
                      <a:r>
                        <a:rPr lang="en-US" altLang="zh-CN" sz="1400" b="1"/>
                        <a:t>/</a:t>
                      </a:r>
                      <a:r>
                        <a:rPr lang="zh-CN" altLang="en-US" sz="1400" b="1"/>
                        <a:t>流量的异常检测</a:t>
                      </a:r>
                      <a:endParaRPr lang="zh-CN" altLang="en-US" sz="1400" b="1"/>
                    </a:p>
                  </a:txBody>
                  <a:tcPr anchor="ctr" anchorCtr="0"/>
                </a:tc>
              </a:tr>
              <a:tr h="381000">
                <a:tc>
                  <a:txBody>
                    <a:bodyPr/>
                    <a:p>
                      <a:pPr algn="ctr">
                        <a:buNone/>
                      </a:pPr>
                      <a:r>
                        <a:rPr lang="en-US" altLang="zh-CN" b="1"/>
                        <a:t>HyperVision</a:t>
                      </a:r>
                      <a:endParaRPr lang="en-US" altLang="zh-CN" b="1"/>
                    </a:p>
                  </a:txBody>
                  <a:tcPr anchor="ctr" anchorCtr="0"/>
                </a:tc>
                <a:tc>
                  <a:txBody>
                    <a:bodyPr/>
                    <a:p>
                      <a:pPr algn="ctr">
                        <a:buNone/>
                      </a:pPr>
                      <a:r>
                        <a:rPr lang="zh-CN" altLang="en-US" sz="1400"/>
                        <a:t>一种</a:t>
                      </a:r>
                      <a:r>
                        <a:rPr lang="zh-CN" altLang="en-US" sz="1400" b="1"/>
                        <a:t>基于图结构的无监督恶意流量实时检测系统</a:t>
                      </a:r>
                      <a:r>
                        <a:rPr lang="zh-CN" altLang="en-US" sz="1400"/>
                        <a:t>。其通过分析主机之间流量交互形成的动态图的结构特征来发现异常。</a:t>
                      </a:r>
                      <a:endParaRPr lang="zh-CN" altLang="en-US" sz="1400"/>
                    </a:p>
                  </a:txBody>
                  <a:tcPr anchor="ctr" anchorCtr="0"/>
                </a:tc>
              </a:tr>
              <a:tr h="381000">
                <a:tc>
                  <a:txBody>
                    <a:bodyPr/>
                    <a:p>
                      <a:pPr algn="ctr">
                        <a:buNone/>
                      </a:pPr>
                      <a:r>
                        <a:rPr lang="en-US" altLang="zh-CN" b="1"/>
                        <a:t>Diff-RF</a:t>
                      </a:r>
                      <a:endParaRPr lang="en-US" altLang="zh-CN" b="1"/>
                    </a:p>
                  </a:txBody>
                  <a:tcPr anchor="ctr" anchorCtr="0"/>
                </a:tc>
                <a:tc>
                  <a:txBody>
                    <a:bodyPr/>
                    <a:p>
                      <a:pPr algn="ctr">
                        <a:buNone/>
                      </a:pPr>
                      <a:r>
                        <a:rPr lang="zh-CN" altLang="en-US" sz="1400" b="1"/>
                        <a:t>将非线性流形学习与集成分类相结合的检测框架</a:t>
                      </a:r>
                      <a:r>
                        <a:rPr lang="zh-CN" altLang="en-US" sz="1400"/>
                        <a:t>。通过扩散映射对高维、非线性的网络流量特征进行</a:t>
                      </a:r>
                      <a:r>
                        <a:rPr lang="en-US" altLang="zh-CN" sz="1400"/>
                        <a:t>“</a:t>
                      </a:r>
                      <a:r>
                        <a:rPr lang="zh-CN" altLang="en-US" sz="1400"/>
                        <a:t>平滑</a:t>
                      </a:r>
                      <a:r>
                        <a:rPr lang="en-US" altLang="zh-CN" sz="1400"/>
                        <a:t>”</a:t>
                      </a:r>
                      <a:r>
                        <a:rPr lang="zh-CN" altLang="en-US" sz="1400"/>
                        <a:t>与增强，使正常与异常点在新的特征空间中更易分离，然后再用高效的随机森林进行分类。</a:t>
                      </a:r>
                      <a:endParaRPr lang="zh-CN" altLang="en-US" sz="1400"/>
                    </a:p>
                  </a:txBody>
                  <a:tcPr anchor="ctr" anchorCtr="0"/>
                </a:tc>
              </a:tr>
            </a:tbl>
          </a:graphicData>
        </a:graphic>
      </p:graphicFrame>
      <p:sp>
        <p:nvSpPr>
          <p:cNvPr id="10" name="文本框 9"/>
          <p:cNvSpPr txBox="1"/>
          <p:nvPr/>
        </p:nvSpPr>
        <p:spPr>
          <a:xfrm>
            <a:off x="7105015" y="1177925"/>
            <a:ext cx="4575175" cy="2122805"/>
          </a:xfrm>
          <a:prstGeom prst="rect">
            <a:avLst/>
          </a:prstGeom>
        </p:spPr>
        <p:txBody>
          <a:bodyPr wrap="square">
            <a:spAutoFit/>
          </a:bodyPr>
          <a:p>
            <a:pPr indent="508000" algn="l" fontAlgn="auto">
              <a:lnSpc>
                <a:spcPct val="110000"/>
              </a:lnSpc>
              <a:extLst>
                <a:ext uri="{35155182-B16C-46BC-9424-99874614C6A1}">
                  <wpsdc:indentchars xmlns:wpsdc="http://www.wps.cn/officeDocument/2017/drawingmlCustomData" val="200" checksum="282533468"/>
                </a:ext>
              </a:extLst>
            </a:pPr>
            <a:r>
              <a:rPr lang="zh-CN" altLang="en-US" sz="2000">
                <a:latin typeface="微软雅黑" panose="020B0503020204020204" charset="-122"/>
                <a:ea typeface="微软雅黑" panose="020B0503020204020204" charset="-122"/>
              </a:rPr>
              <a:t>这类方法的核心目标是判断一个网络实体（主机、流、数据包）的行为是否偏离了预定义的</a:t>
            </a:r>
            <a:r>
              <a:rPr lang="en-US" altLang="zh-CN" sz="2000">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rPr>
              <a:t>正常</a:t>
            </a:r>
            <a:r>
              <a:rPr lang="en-US" altLang="zh-CN" sz="2000">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rPr>
              <a:t>模式，并将其</a:t>
            </a:r>
            <a:r>
              <a:rPr lang="zh-CN" altLang="en-US" sz="2000" b="1">
                <a:latin typeface="微软雅黑" panose="020B0503020204020204" charset="-122"/>
                <a:ea typeface="微软雅黑" panose="020B0503020204020204" charset="-122"/>
              </a:rPr>
              <a:t>简单地归类为</a:t>
            </a:r>
            <a:r>
              <a:rPr lang="en-US" altLang="zh-CN" sz="2000" b="1">
                <a:latin typeface="微软雅黑" panose="020B0503020204020204" charset="-122"/>
                <a:ea typeface="微软雅黑" panose="020B0503020204020204" charset="-122"/>
              </a:rPr>
              <a:t>“</a:t>
            </a:r>
            <a:r>
              <a:rPr lang="zh-CN" altLang="en-US" sz="2000" b="1">
                <a:solidFill>
                  <a:srgbClr val="FF0000"/>
                </a:solidFill>
                <a:latin typeface="微软雅黑" panose="020B0503020204020204" charset="-122"/>
                <a:ea typeface="微软雅黑" panose="020B0503020204020204" charset="-122"/>
              </a:rPr>
              <a:t>良性</a:t>
            </a:r>
            <a:r>
              <a:rPr lang="en-US" altLang="zh-CN" sz="2000" b="1">
                <a:latin typeface="微软雅黑" panose="020B0503020204020204" charset="-122"/>
                <a:ea typeface="微软雅黑" panose="020B0503020204020204" charset="-122"/>
              </a:rPr>
              <a:t>”</a:t>
            </a:r>
            <a:r>
              <a:rPr lang="zh-CN" altLang="en-US" sz="2000" b="1">
                <a:latin typeface="微软雅黑" panose="020B0503020204020204" charset="-122"/>
                <a:ea typeface="微软雅黑" panose="020B0503020204020204" charset="-122"/>
              </a:rPr>
              <a:t>或</a:t>
            </a:r>
            <a:r>
              <a:rPr lang="en-US" altLang="zh-CN" sz="2000" b="1">
                <a:latin typeface="微软雅黑" panose="020B0503020204020204" charset="-122"/>
                <a:ea typeface="微软雅黑" panose="020B0503020204020204" charset="-122"/>
              </a:rPr>
              <a:t>“</a:t>
            </a:r>
            <a:r>
              <a:rPr lang="zh-CN" altLang="en-US" sz="2000" b="1">
                <a:solidFill>
                  <a:srgbClr val="FF0000"/>
                </a:solidFill>
                <a:latin typeface="微软雅黑" panose="020B0503020204020204" charset="-122"/>
                <a:ea typeface="微软雅黑" panose="020B0503020204020204" charset="-122"/>
              </a:rPr>
              <a:t>异常</a:t>
            </a:r>
            <a:r>
              <a:rPr lang="en-US" altLang="zh-CN" sz="2000" b="1">
                <a:solidFill>
                  <a:srgbClr val="FF0000"/>
                </a:solidFill>
                <a:latin typeface="微软雅黑" panose="020B0503020204020204" charset="-122"/>
                <a:ea typeface="微软雅黑" panose="020B0503020204020204" charset="-122"/>
              </a:rPr>
              <a:t>/</a:t>
            </a:r>
            <a:r>
              <a:rPr lang="zh-CN" altLang="en-US" sz="2000" b="1">
                <a:solidFill>
                  <a:srgbClr val="FF0000"/>
                </a:solidFill>
                <a:latin typeface="微软雅黑" panose="020B0503020204020204" charset="-122"/>
                <a:ea typeface="微软雅黑" panose="020B0503020204020204" charset="-122"/>
              </a:rPr>
              <a:t>恶意</a:t>
            </a:r>
            <a:r>
              <a:rPr lang="en-US" altLang="zh-CN" sz="2000" b="1">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rPr>
              <a:t>。它们不关心异常的具体类型，旨在提供一种</a:t>
            </a:r>
            <a:r>
              <a:rPr lang="zh-CN" altLang="en-US" sz="2000" b="1">
                <a:latin typeface="微软雅黑" panose="020B0503020204020204" charset="-122"/>
                <a:ea typeface="微软雅黑" panose="020B0503020204020204" charset="-122"/>
              </a:rPr>
              <a:t>全局的、粗粒度的安全警报。</a:t>
            </a:r>
            <a:endParaRPr lang="zh-CN" altLang="en-US" sz="2000" b="1">
              <a:latin typeface="微软雅黑" panose="020B0503020204020204" charset="-122"/>
              <a:ea typeface="微软雅黑" panose="020B0503020204020204" charset="-122"/>
            </a:endParaRPr>
          </a:p>
        </p:txBody>
      </p:sp>
      <p:sp>
        <p:nvSpPr>
          <p:cNvPr id="11" name="文本框 10"/>
          <p:cNvSpPr txBox="1"/>
          <p:nvPr/>
        </p:nvSpPr>
        <p:spPr>
          <a:xfrm>
            <a:off x="7022465" y="3429000"/>
            <a:ext cx="4397375" cy="2807970"/>
          </a:xfrm>
          <a:prstGeom prst="rect">
            <a:avLst/>
          </a:prstGeom>
          <a:noFill/>
        </p:spPr>
        <p:txBody>
          <a:bodyPr wrap="square" rtlCol="0" anchor="t">
            <a:noAutofit/>
          </a:bodyPr>
          <a:p>
            <a:pPr indent="0" fontAlgn="auto">
              <a:spcAft>
                <a:spcPts val="1200"/>
              </a:spcAft>
            </a:pPr>
            <a:r>
              <a:rPr lang="zh-CN" altLang="en-US" sz="2800" b="1" dirty="0">
                <a:latin typeface="微软雅黑" panose="020B0503020204020204" charset="-122"/>
                <a:ea typeface="微软雅黑" panose="020B0503020204020204" charset="-122"/>
                <a:cs typeface="微软雅黑" panose="020B0503020204020204" charset="-122"/>
              </a:rPr>
              <a:t>评估指标</a:t>
            </a:r>
            <a:endParaRPr lang="zh-CN" altLang="en-US" sz="2800" b="1" dirty="0">
              <a:latin typeface="微软雅黑" panose="020B0503020204020204" charset="-122"/>
              <a:ea typeface="微软雅黑" panose="020B0503020204020204" charset="-122"/>
              <a:cs typeface="微软雅黑" panose="020B0503020204020204" charset="-122"/>
            </a:endParaRPr>
          </a:p>
          <a:p>
            <a:pPr indent="0" fontAlgn="auto">
              <a:spcAft>
                <a:spcPts val="600"/>
              </a:spcAft>
            </a:pPr>
            <a:r>
              <a:rPr lang="zh-CN" altLang="en-US" sz="2000" b="1" dirty="0">
                <a:latin typeface="微软雅黑" panose="020B0503020204020204" charset="-122"/>
                <a:ea typeface="微软雅黑" panose="020B0503020204020204" charset="-122"/>
                <a:cs typeface="微软雅黑" panose="020B0503020204020204" charset="-122"/>
              </a:rPr>
              <a:t>（</a:t>
            </a:r>
            <a:r>
              <a:rPr lang="en-US" altLang="zh-CN" sz="2000" b="1" dirty="0">
                <a:latin typeface="微软雅黑" panose="020B0503020204020204" charset="-122"/>
                <a:ea typeface="微软雅黑" panose="020B0503020204020204" charset="-122"/>
                <a:cs typeface="微软雅黑" panose="020B0503020204020204" charset="-122"/>
              </a:rPr>
              <a:t>1</a:t>
            </a:r>
            <a:r>
              <a:rPr lang="zh-CN" altLang="en-US" sz="2000" b="1" dirty="0">
                <a:latin typeface="微软雅黑" panose="020B0503020204020204" charset="-122"/>
                <a:ea typeface="微软雅黑" panose="020B0503020204020204" charset="-122"/>
                <a:cs typeface="微软雅黑" panose="020B0503020204020204" charset="-122"/>
              </a:rPr>
              <a:t>）准确率、精确率、召回率、</a:t>
            </a:r>
            <a:r>
              <a:rPr lang="en-US" altLang="zh-CN" sz="2000" b="1" dirty="0">
                <a:latin typeface="微软雅黑" panose="020B0503020204020204" charset="-122"/>
                <a:ea typeface="微软雅黑" panose="020B0503020204020204" charset="-122"/>
                <a:cs typeface="微软雅黑" panose="020B0503020204020204" charset="-122"/>
              </a:rPr>
              <a:t>F1-score</a:t>
            </a:r>
            <a:r>
              <a:rPr lang="zh-CN" altLang="en-US" sz="2000" b="1" dirty="0">
                <a:latin typeface="微软雅黑" panose="020B0503020204020204" charset="-122"/>
                <a:ea typeface="微软雅黑" panose="020B0503020204020204" charset="-122"/>
                <a:cs typeface="微软雅黑" panose="020B0503020204020204" charset="-122"/>
              </a:rPr>
              <a:t>等基本指标</a:t>
            </a:r>
            <a:endParaRPr lang="zh-CN" altLang="en-US" sz="2000" b="1" dirty="0">
              <a:latin typeface="微软雅黑" panose="020B0503020204020204" charset="-122"/>
              <a:ea typeface="微软雅黑" panose="020B0503020204020204" charset="-122"/>
              <a:cs typeface="微软雅黑" panose="020B0503020204020204" charset="-122"/>
            </a:endParaRPr>
          </a:p>
          <a:p>
            <a:pPr indent="0" fontAlgn="auto">
              <a:spcAft>
                <a:spcPts val="600"/>
              </a:spcAft>
            </a:pPr>
            <a:r>
              <a:rPr lang="zh-CN" altLang="en-US" sz="2000" b="1" dirty="0">
                <a:latin typeface="微软雅黑" panose="020B0503020204020204" charset="-122"/>
                <a:ea typeface="微软雅黑" panose="020B0503020204020204" charset="-122"/>
                <a:cs typeface="微软雅黑" panose="020B0503020204020204" charset="-122"/>
              </a:rPr>
              <a:t>（</a:t>
            </a:r>
            <a:r>
              <a:rPr lang="en-US" altLang="zh-CN" sz="2000" b="1" dirty="0">
                <a:latin typeface="微软雅黑" panose="020B0503020204020204" charset="-122"/>
                <a:ea typeface="微软雅黑" panose="020B0503020204020204" charset="-122"/>
                <a:cs typeface="微软雅黑" panose="020B0503020204020204" charset="-122"/>
              </a:rPr>
              <a:t>2</a:t>
            </a:r>
            <a:r>
              <a:rPr lang="zh-CN" altLang="en-US" sz="2000" b="1" dirty="0">
                <a:latin typeface="微软雅黑" panose="020B0503020204020204" charset="-122"/>
                <a:ea typeface="微软雅黑" panose="020B0503020204020204" charset="-122"/>
                <a:cs typeface="微软雅黑" panose="020B0503020204020204" charset="-122"/>
              </a:rPr>
              <a:t>）</a:t>
            </a:r>
            <a:r>
              <a:rPr lang="en-US" altLang="zh-CN" sz="2000" b="1" dirty="0">
                <a:latin typeface="微软雅黑" panose="020B0503020204020204" charset="-122"/>
                <a:ea typeface="微软雅黑" panose="020B0503020204020204" charset="-122"/>
                <a:cs typeface="微软雅黑" panose="020B0503020204020204" charset="-122"/>
              </a:rPr>
              <a:t>AUC&amp;ROC</a:t>
            </a:r>
            <a:r>
              <a:rPr lang="zh-CN" altLang="en-US" sz="2000" b="1" dirty="0">
                <a:latin typeface="微软雅黑" panose="020B0503020204020204" charset="-122"/>
                <a:ea typeface="微软雅黑" panose="020B0503020204020204" charset="-122"/>
                <a:cs typeface="微软雅黑" panose="020B0503020204020204" charset="-122"/>
              </a:rPr>
              <a:t>曲线：</a:t>
            </a:r>
            <a:r>
              <a:rPr lang="zh-CN" altLang="en-US" sz="2000" dirty="0">
                <a:latin typeface="微软雅黑" panose="020B0503020204020204" charset="-122"/>
                <a:ea typeface="微软雅黑" panose="020B0503020204020204" charset="-122"/>
                <a:cs typeface="微软雅黑" panose="020B0503020204020204" charset="-122"/>
              </a:rPr>
              <a:t>绘制模型在不同判定阈值下整体性能的视图，是评估二分类器区分能力的重要标准</a:t>
            </a:r>
            <a:endParaRPr lang="zh-CN" altLang="en-US" sz="2000"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四</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数据集与实验设置</a:t>
            </a:r>
            <a:endParaRPr lang="en-US" altLang="zh-CN" sz="2800" b="1" dirty="0">
              <a:solidFill>
                <a:srgbClr val="005744"/>
              </a:solidFill>
              <a:latin typeface="微软雅黑" panose="020B0503020204020204" charset="-122"/>
              <a:ea typeface="微软雅黑" panose="020B0503020204020204" charset="-122"/>
            </a:endParaRPr>
          </a:p>
        </p:txBody>
      </p:sp>
      <p:sp>
        <p:nvSpPr>
          <p:cNvPr id="30" name="文本框 29"/>
          <p:cNvSpPr txBox="1"/>
          <p:nvPr/>
        </p:nvSpPr>
        <p:spPr>
          <a:xfrm>
            <a:off x="450215" y="1043305"/>
            <a:ext cx="5320665" cy="570865"/>
          </a:xfrm>
          <a:prstGeom prst="rect">
            <a:avLst/>
          </a:prstGeom>
          <a:noFill/>
        </p:spPr>
        <p:txBody>
          <a:bodyPr wrap="square" rtlCol="0" anchor="t">
            <a:noAutofit/>
          </a:bodyPr>
          <a:p>
            <a:r>
              <a:rPr lang="en-US" altLang="zh-CN" sz="2400" b="1" dirty="0">
                <a:latin typeface="微软雅黑" panose="020B0503020204020204" charset="-122"/>
                <a:ea typeface="微软雅黑" panose="020B0503020204020204" charset="-122"/>
                <a:cs typeface="微软雅黑" panose="020B0503020204020204" charset="-122"/>
              </a:rPr>
              <a:t>3</a:t>
            </a:r>
            <a:r>
              <a:rPr lang="zh-CN" altLang="en-US" sz="2400" b="1" dirty="0">
                <a:latin typeface="微软雅黑" panose="020B0503020204020204" charset="-122"/>
                <a:ea typeface="微软雅黑" panose="020B0503020204020204" charset="-122"/>
                <a:cs typeface="微软雅黑" panose="020B0503020204020204" charset="-122"/>
              </a:rPr>
              <a:t>、</a:t>
            </a:r>
            <a:r>
              <a:rPr lang="zh-CN" altLang="en-US" sz="2400" b="1" dirty="0">
                <a:latin typeface="微软雅黑" panose="020B0503020204020204" charset="-122"/>
                <a:ea typeface="微软雅黑" panose="020B0503020204020204" charset="-122"/>
                <a:cs typeface="微软雅黑" panose="020B0503020204020204" charset="-122"/>
              </a:rPr>
              <a:t>多分类</a:t>
            </a:r>
            <a:r>
              <a:rPr lang="zh-CN" altLang="en-US" sz="2400" b="1" dirty="0">
                <a:latin typeface="微软雅黑" panose="020B0503020204020204" charset="-122"/>
                <a:ea typeface="微软雅黑" panose="020B0503020204020204" charset="-122"/>
                <a:cs typeface="微软雅黑" panose="020B0503020204020204" charset="-122"/>
              </a:rPr>
              <a:t>异常检测及评估指标</a:t>
            </a:r>
            <a:endParaRPr lang="zh-CN" altLang="en-US" sz="2400" b="1" dirty="0">
              <a:latin typeface="微软雅黑" panose="020B0503020204020204" charset="-122"/>
              <a:ea typeface="微软雅黑" panose="020B0503020204020204" charset="-122"/>
              <a:cs typeface="微软雅黑" panose="020B0503020204020204" charset="-122"/>
            </a:endParaRPr>
          </a:p>
        </p:txBody>
      </p:sp>
      <p:graphicFrame>
        <p:nvGraphicFramePr>
          <p:cNvPr id="9" name="表格 8"/>
          <p:cNvGraphicFramePr/>
          <p:nvPr/>
        </p:nvGraphicFramePr>
        <p:xfrm>
          <a:off x="393065" y="1878330"/>
          <a:ext cx="6066790" cy="4069080"/>
        </p:xfrm>
        <a:graphic>
          <a:graphicData uri="http://schemas.openxmlformats.org/drawingml/2006/table">
            <a:tbl>
              <a:tblPr firstRow="1" bandRow="1">
                <a:tableStyleId>{5C22544A-7EE6-4342-B048-85BDC9FD1C3A}</a:tableStyleId>
              </a:tblPr>
              <a:tblGrid>
                <a:gridCol w="1800000"/>
                <a:gridCol w="4266565"/>
              </a:tblGrid>
              <a:tr h="381000">
                <a:tc>
                  <a:txBody>
                    <a:bodyPr/>
                    <a:p>
                      <a:pPr algn="ctr">
                        <a:buNone/>
                      </a:pPr>
                      <a:r>
                        <a:rPr lang="zh-CN" altLang="en-US"/>
                        <a:t>检测方法</a:t>
                      </a:r>
                      <a:endParaRPr lang="zh-CN" altLang="en-US"/>
                    </a:p>
                  </a:txBody>
                  <a:tcPr anchor="ctr" anchorCtr="0"/>
                </a:tc>
                <a:tc>
                  <a:txBody>
                    <a:bodyPr/>
                    <a:p>
                      <a:pPr algn="ctr">
                        <a:buNone/>
                      </a:pPr>
                      <a:r>
                        <a:rPr lang="zh-CN" altLang="en-US"/>
                        <a:t>简介</a:t>
                      </a:r>
                      <a:endParaRPr lang="zh-CN" altLang="en-US"/>
                    </a:p>
                  </a:txBody>
                  <a:tcPr anchor="ctr" anchorCtr="0"/>
                </a:tc>
              </a:tr>
              <a:tr h="381000">
                <a:tc>
                  <a:txBody>
                    <a:bodyPr/>
                    <a:p>
                      <a:pPr algn="ctr">
                        <a:buNone/>
                      </a:pPr>
                      <a:r>
                        <a:rPr lang="en-US" altLang="zh-CN" b="1"/>
                        <a:t>K-means</a:t>
                      </a:r>
                      <a:endParaRPr lang="en-US" altLang="zh-CN" b="1"/>
                    </a:p>
                  </a:txBody>
                  <a:tcPr anchor="ctr" anchorCtr="0"/>
                </a:tc>
                <a:tc>
                  <a:txBody>
                    <a:bodyPr/>
                    <a:p>
                      <a:pPr algn="ctr">
                        <a:buNone/>
                      </a:pPr>
                      <a:r>
                        <a:rPr lang="zh-CN" altLang="en-US" sz="1400" b="0"/>
                        <a:t>典型的基于</a:t>
                      </a:r>
                      <a:r>
                        <a:rPr lang="zh-CN" altLang="en-US" sz="1400" b="1"/>
                        <a:t>密度</a:t>
                      </a:r>
                      <a:r>
                        <a:rPr lang="zh-CN" altLang="en-US" sz="1400" b="0"/>
                        <a:t>的无监督聚类算法</a:t>
                      </a:r>
                      <a:endParaRPr lang="zh-CN" altLang="en-US" sz="1400" b="0"/>
                    </a:p>
                  </a:txBody>
                  <a:tcPr anchor="ctr" anchorCtr="0"/>
                </a:tc>
              </a:tr>
              <a:tr h="381000">
                <a:tc>
                  <a:txBody>
                    <a:bodyPr/>
                    <a:p>
                      <a:pPr algn="ctr">
                        <a:buNone/>
                      </a:pPr>
                      <a:r>
                        <a:rPr lang="en-US" altLang="zh-CN" b="1"/>
                        <a:t>DBSCAN</a:t>
                      </a:r>
                      <a:endParaRPr lang="en-US" altLang="zh-CN" b="1"/>
                    </a:p>
                  </a:txBody>
                  <a:tcPr anchor="ctr" anchorCtr="0"/>
                </a:tc>
                <a:tc>
                  <a:txBody>
                    <a:bodyPr/>
                    <a:p>
                      <a:pPr algn="ctr">
                        <a:buNone/>
                      </a:pPr>
                      <a:r>
                        <a:rPr lang="zh-CN" altLang="en-US" sz="1400" b="0"/>
                        <a:t>典型的基于</a:t>
                      </a:r>
                      <a:r>
                        <a:rPr lang="zh-CN" altLang="en-US" sz="1400" b="1"/>
                        <a:t>距离</a:t>
                      </a:r>
                      <a:r>
                        <a:rPr lang="zh-CN" altLang="en-US" sz="1400" b="0"/>
                        <a:t>的无监督聚类算法</a:t>
                      </a:r>
                      <a:endParaRPr lang="zh-CN" altLang="en-US" sz="1400" b="0"/>
                    </a:p>
                  </a:txBody>
                  <a:tcPr anchor="ctr" anchorCtr="0"/>
                </a:tc>
              </a:tr>
              <a:tr h="381000">
                <a:tc>
                  <a:txBody>
                    <a:bodyPr/>
                    <a:p>
                      <a:pPr algn="ctr">
                        <a:buNone/>
                      </a:pPr>
                      <a:r>
                        <a:rPr lang="en-US" altLang="zh-CN" b="1"/>
                        <a:t>FlowPrint</a:t>
                      </a:r>
                      <a:endParaRPr lang="en-US" altLang="zh-CN" b="1"/>
                    </a:p>
                  </a:txBody>
                  <a:tcPr anchor="ctr" anchorCtr="0"/>
                </a:tc>
                <a:tc>
                  <a:txBody>
                    <a:bodyPr/>
                    <a:p>
                      <a:pPr algn="ctr">
                        <a:buNone/>
                      </a:pPr>
                      <a:r>
                        <a:rPr lang="zh-CN" altLang="en-US" sz="1400" b="0"/>
                        <a:t>用于</a:t>
                      </a:r>
                      <a:r>
                        <a:rPr lang="zh-CN" altLang="en-US" sz="1400" b="1"/>
                        <a:t>移动应用指纹识别</a:t>
                      </a:r>
                      <a:r>
                        <a:rPr lang="zh-CN" altLang="en-US" sz="1400" b="0"/>
                        <a:t>的半监督方法。利用时间共现（同一时段内产生的流可能属于同一应用）这一弱监督信号来辅助聚类。</a:t>
                      </a:r>
                      <a:endParaRPr lang="zh-CN" altLang="en-US" sz="1400" b="0"/>
                    </a:p>
                  </a:txBody>
                  <a:tcPr anchor="ctr" anchorCtr="0"/>
                </a:tc>
              </a:tr>
              <a:tr h="381000">
                <a:tc>
                  <a:txBody>
                    <a:bodyPr/>
                    <a:p>
                      <a:pPr algn="ctr">
                        <a:buNone/>
                      </a:pPr>
                      <a:r>
                        <a:rPr lang="en-US" altLang="zh-CN" b="1"/>
                        <a:t>Cls-Anomaly</a:t>
                      </a:r>
                      <a:endParaRPr lang="en-US" altLang="zh-CN" b="1"/>
                    </a:p>
                  </a:txBody>
                  <a:tcPr anchor="ctr" anchorCtr="0"/>
                </a:tc>
                <a:tc>
                  <a:txBody>
                    <a:bodyPr/>
                    <a:p>
                      <a:pPr algn="ctr">
                        <a:buNone/>
                      </a:pPr>
                      <a:r>
                        <a:rPr lang="zh-CN" altLang="en-US" sz="1400" b="0"/>
                        <a:t>使用</a:t>
                      </a:r>
                      <a:r>
                        <a:rPr lang="zh-CN" altLang="en-US" sz="1400" b="1"/>
                        <a:t>条件变分自动编码器和极值理论</a:t>
                      </a:r>
                      <a:r>
                        <a:rPr lang="zh-CN" altLang="en-US" sz="1400" b="0"/>
                        <a:t>对已知攻击进行多分类。</a:t>
                      </a:r>
                      <a:endParaRPr lang="zh-CN" altLang="en-US" sz="1400" b="0"/>
                    </a:p>
                  </a:txBody>
                  <a:tcPr anchor="ctr" anchorCtr="0"/>
                </a:tc>
              </a:tr>
              <a:tr h="381000">
                <a:tc>
                  <a:txBody>
                    <a:bodyPr/>
                    <a:p>
                      <a:pPr algn="ctr">
                        <a:buNone/>
                      </a:pPr>
                      <a:r>
                        <a:rPr lang="en-US" altLang="zh-CN" b="1"/>
                        <a:t>FARE</a:t>
                      </a:r>
                      <a:endParaRPr lang="en-US" altLang="zh-CN" b="1"/>
                    </a:p>
                  </a:txBody>
                  <a:tcPr anchor="ctr" anchorCtr="0"/>
                </a:tc>
                <a:tc>
                  <a:txBody>
                    <a:bodyPr/>
                    <a:p>
                      <a:pPr algn="ctr">
                        <a:buNone/>
                      </a:pPr>
                      <a:r>
                        <a:rPr lang="zh-CN" altLang="en-US" sz="1400" b="0"/>
                        <a:t>一种</a:t>
                      </a:r>
                      <a:r>
                        <a:rPr lang="zh-CN" altLang="en-US" sz="1400" b="1"/>
                        <a:t>用于低质量标签下分类的半监督聚类方法</a:t>
                      </a:r>
                      <a:endParaRPr lang="zh-CN" altLang="en-US" sz="1400" b="1"/>
                    </a:p>
                  </a:txBody>
                  <a:tcPr anchor="ctr" anchorCtr="0"/>
                </a:tc>
              </a:tr>
              <a:tr h="381000">
                <a:tc>
                  <a:txBody>
                    <a:bodyPr/>
                    <a:p>
                      <a:pPr algn="ctr">
                        <a:buNone/>
                      </a:pPr>
                      <a:r>
                        <a:rPr lang="en-US" altLang="zh-CN" b="1"/>
                        <a:t>SENC</a:t>
                      </a:r>
                      <a:endParaRPr lang="en-US" altLang="zh-CN" b="1"/>
                    </a:p>
                  </a:txBody>
                  <a:tcPr anchor="ctr" anchorCtr="0"/>
                </a:tc>
                <a:tc>
                  <a:txBody>
                    <a:bodyPr/>
                    <a:p>
                      <a:pPr algn="ctr">
                        <a:buNone/>
                      </a:pPr>
                      <a:r>
                        <a:rPr lang="zh-CN" altLang="en-US" sz="1400" b="0"/>
                        <a:t>一种</a:t>
                      </a:r>
                      <a:r>
                        <a:rPr lang="zh-CN" altLang="en-US" sz="1400" b="1"/>
                        <a:t>基于隔离森林处理流式新类的方法</a:t>
                      </a:r>
                      <a:r>
                        <a:rPr lang="zh-CN" altLang="en-US" sz="1400" b="0"/>
                        <a:t>。</a:t>
                      </a:r>
                      <a:r>
                        <a:rPr lang="en-US" altLang="en-US" sz="1400" b="0"/>
                        <a:t> </a:t>
                      </a:r>
                      <a:r>
                        <a:rPr lang="zh-CN" altLang="en-US" sz="1400" b="0"/>
                        <a:t>解决了概念漂移和增量学习问题，能够适应网络流量中攻击模式的动态变化。</a:t>
                      </a:r>
                      <a:endParaRPr lang="zh-CN" altLang="en-US" sz="1400" b="0"/>
                    </a:p>
                  </a:txBody>
                  <a:tcPr anchor="ctr" anchorCtr="0"/>
                </a:tc>
              </a:tr>
            </a:tbl>
          </a:graphicData>
        </a:graphic>
      </p:graphicFrame>
      <p:sp>
        <p:nvSpPr>
          <p:cNvPr id="10" name="文本框 9"/>
          <p:cNvSpPr txBox="1"/>
          <p:nvPr/>
        </p:nvSpPr>
        <p:spPr>
          <a:xfrm>
            <a:off x="7105015" y="1043305"/>
            <a:ext cx="4575175" cy="2122805"/>
          </a:xfrm>
          <a:prstGeom prst="rect">
            <a:avLst/>
          </a:prstGeom>
        </p:spPr>
        <p:txBody>
          <a:bodyPr wrap="square">
            <a:spAutoFit/>
          </a:bodyPr>
          <a:p>
            <a:pPr indent="508000" algn="l" fontAlgn="auto">
              <a:lnSpc>
                <a:spcPct val="110000"/>
              </a:lnSpc>
              <a:extLst>
                <a:ext uri="{35155182-B16C-46BC-9424-99874614C6A1}">
                  <wpsdc:indentchars xmlns:wpsdc="http://www.wps.cn/officeDocument/2017/drawingmlCustomData" val="200" checksum="282533468"/>
                </a:ext>
              </a:extLst>
            </a:pPr>
            <a:r>
              <a:rPr lang="zh-CN" altLang="en-US" sz="2000">
                <a:latin typeface="微软雅黑" panose="020B0503020204020204" charset="-122"/>
                <a:ea typeface="微软雅黑" panose="020B0503020204020204" charset="-122"/>
              </a:rPr>
              <a:t>在开放网络环境中不仅发现异常，更能对其细粒度归因，区分出不同的未知威胁类型（如</a:t>
            </a:r>
            <a:r>
              <a:rPr lang="en-US" altLang="zh-CN" sz="2000">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rPr>
              <a:t>未知攻击</a:t>
            </a:r>
            <a:r>
              <a:rPr lang="en-US" altLang="zh-CN" sz="2000">
                <a:latin typeface="微软雅黑" panose="020B0503020204020204" charset="-122"/>
                <a:ea typeface="微软雅黑" panose="020B0503020204020204" charset="-122"/>
              </a:rPr>
              <a:t>A”</a:t>
            </a:r>
            <a:r>
              <a:rPr lang="zh-CN" altLang="en-US" sz="2000">
                <a:latin typeface="微软雅黑" panose="020B0503020204020204" charset="-122"/>
                <a:ea typeface="微软雅黑" panose="020B0503020204020204" charset="-122"/>
              </a:rPr>
              <a:t>或</a:t>
            </a:r>
            <a:r>
              <a:rPr lang="en-US" altLang="zh-CN" sz="2000">
                <a:latin typeface="微软雅黑" panose="020B0503020204020204" charset="-122"/>
                <a:ea typeface="微软雅黑" panose="020B0503020204020204" charset="-122"/>
              </a:rPr>
              <a:t>“</a:t>
            </a:r>
            <a:r>
              <a:rPr lang="zh-CN" altLang="en-US" sz="2000">
                <a:latin typeface="微软雅黑" panose="020B0503020204020204" charset="-122"/>
                <a:ea typeface="微软雅黑" panose="020B0503020204020204" charset="-122"/>
              </a:rPr>
              <a:t>未知攻击</a:t>
            </a:r>
            <a:r>
              <a:rPr lang="en-US" altLang="zh-CN" sz="2000">
                <a:latin typeface="微软雅黑" panose="020B0503020204020204" charset="-122"/>
                <a:ea typeface="微软雅黑" panose="020B0503020204020204" charset="-122"/>
              </a:rPr>
              <a:t>B”</a:t>
            </a:r>
            <a:r>
              <a:rPr lang="zh-CN" altLang="en-US" sz="2000">
                <a:latin typeface="微软雅黑" panose="020B0503020204020204" charset="-122"/>
                <a:ea typeface="微软雅黑" panose="020B0503020204020204" charset="-122"/>
              </a:rPr>
              <a:t>）。这组是</a:t>
            </a:r>
            <a:r>
              <a:rPr lang="en-US" altLang="zh-CN" sz="2000">
                <a:latin typeface="微软雅黑" panose="020B0503020204020204" charset="-122"/>
                <a:ea typeface="微软雅黑" panose="020B0503020204020204" charset="-122"/>
              </a:rPr>
              <a:t> Trident </a:t>
            </a:r>
            <a:r>
              <a:rPr lang="zh-CN" altLang="en-US" sz="2000">
                <a:latin typeface="微软雅黑" panose="020B0503020204020204" charset="-122"/>
                <a:ea typeface="微软雅黑" panose="020B0503020204020204" charset="-122"/>
              </a:rPr>
              <a:t>最直接的对比方案，旨在</a:t>
            </a:r>
            <a:r>
              <a:rPr lang="zh-CN" altLang="en-US" sz="2000" b="1">
                <a:solidFill>
                  <a:srgbClr val="FF0000"/>
                </a:solidFill>
                <a:latin typeface="微软雅黑" panose="020B0503020204020204" charset="-122"/>
                <a:ea typeface="微软雅黑" panose="020B0503020204020204" charset="-122"/>
              </a:rPr>
              <a:t>评估细粒度未知类发现能力</a:t>
            </a:r>
            <a:r>
              <a:rPr lang="zh-CN" altLang="en-US" sz="2000">
                <a:latin typeface="微软雅黑" panose="020B0503020204020204" charset="-122"/>
                <a:ea typeface="微软雅黑" panose="020B0503020204020204" charset="-122"/>
              </a:rPr>
              <a:t>。</a:t>
            </a:r>
            <a:endParaRPr lang="zh-CN" altLang="en-US" sz="2000">
              <a:latin typeface="微软雅黑" panose="020B0503020204020204" charset="-122"/>
              <a:ea typeface="微软雅黑" panose="020B0503020204020204" charset="-122"/>
            </a:endParaRPr>
          </a:p>
        </p:txBody>
      </p:sp>
      <p:sp>
        <p:nvSpPr>
          <p:cNvPr id="11" name="文本框 10"/>
          <p:cNvSpPr txBox="1"/>
          <p:nvPr/>
        </p:nvSpPr>
        <p:spPr>
          <a:xfrm>
            <a:off x="7105015" y="3166110"/>
            <a:ext cx="4397375" cy="2807970"/>
          </a:xfrm>
          <a:prstGeom prst="rect">
            <a:avLst/>
          </a:prstGeom>
          <a:noFill/>
        </p:spPr>
        <p:txBody>
          <a:bodyPr wrap="square" rtlCol="0" anchor="t">
            <a:noAutofit/>
          </a:bodyPr>
          <a:p>
            <a:pPr indent="0" fontAlgn="auto">
              <a:spcAft>
                <a:spcPts val="1200"/>
              </a:spcAft>
            </a:pPr>
            <a:r>
              <a:rPr lang="zh-CN" altLang="en-US" sz="2400" b="1" dirty="0">
                <a:latin typeface="微软雅黑" panose="020B0503020204020204" charset="-122"/>
                <a:ea typeface="微软雅黑" panose="020B0503020204020204" charset="-122"/>
                <a:cs typeface="微软雅黑" panose="020B0503020204020204" charset="-122"/>
              </a:rPr>
              <a:t>评估指标</a:t>
            </a:r>
            <a:endParaRPr lang="zh-CN" altLang="en-US" sz="2400" b="1" dirty="0">
              <a:latin typeface="微软雅黑" panose="020B0503020204020204" charset="-122"/>
              <a:ea typeface="微软雅黑" panose="020B0503020204020204" charset="-122"/>
              <a:cs typeface="微软雅黑" panose="020B0503020204020204" charset="-122"/>
            </a:endParaRPr>
          </a:p>
          <a:p>
            <a:pPr indent="0" fontAlgn="auto">
              <a:spcAft>
                <a:spcPts val="600"/>
              </a:spcAft>
            </a:pPr>
            <a:r>
              <a:rPr lang="zh-CN" altLang="en-US" b="1" dirty="0">
                <a:latin typeface="微软雅黑" panose="020B0503020204020204" charset="-122"/>
                <a:ea typeface="微软雅黑" panose="020B0503020204020204" charset="-122"/>
                <a:cs typeface="微软雅黑" panose="020B0503020204020204" charset="-122"/>
              </a:rPr>
              <a:t>（</a:t>
            </a:r>
            <a:r>
              <a:rPr lang="en-US" altLang="zh-CN" b="1" dirty="0">
                <a:latin typeface="微软雅黑" panose="020B0503020204020204" charset="-122"/>
                <a:ea typeface="微软雅黑" panose="020B0503020204020204" charset="-122"/>
                <a:cs typeface="微软雅黑" panose="020B0503020204020204" charset="-122"/>
              </a:rPr>
              <a:t>1</a:t>
            </a:r>
            <a:r>
              <a:rPr lang="zh-CN" altLang="en-US" b="1" dirty="0">
                <a:latin typeface="微软雅黑" panose="020B0503020204020204" charset="-122"/>
                <a:ea typeface="微软雅黑" panose="020B0503020204020204" charset="-122"/>
                <a:cs typeface="微软雅黑" panose="020B0503020204020204" charset="-122"/>
              </a:rPr>
              <a:t>）</a:t>
            </a:r>
            <a:r>
              <a:rPr lang="en-US" b="1" dirty="0">
                <a:latin typeface="微软雅黑" panose="020B0503020204020204" charset="-122"/>
                <a:ea typeface="微软雅黑" panose="020B0503020204020204" charset="-122"/>
                <a:cs typeface="微软雅黑" panose="020B0503020204020204" charset="-122"/>
              </a:rPr>
              <a:t>ACC</a:t>
            </a:r>
            <a:r>
              <a:rPr lang="zh-CN" altLang="en-US" b="1"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准确率，用于评估已知类的分类效果，即预测正确的样本占总样本的比例，越接近</a:t>
            </a:r>
            <a:r>
              <a:rPr lang="en-US" altLang="zh-CN" dirty="0">
                <a:latin typeface="微软雅黑" panose="020B0503020204020204" charset="-122"/>
                <a:ea typeface="微软雅黑" panose="020B0503020204020204" charset="-122"/>
                <a:cs typeface="微软雅黑" panose="020B0503020204020204" charset="-122"/>
              </a:rPr>
              <a:t>1</a:t>
            </a:r>
            <a:r>
              <a:rPr lang="zh-CN" altLang="en-US" dirty="0">
                <a:latin typeface="微软雅黑" panose="020B0503020204020204" charset="-122"/>
                <a:ea typeface="微软雅黑" panose="020B0503020204020204" charset="-122"/>
                <a:cs typeface="微软雅黑" panose="020B0503020204020204" charset="-122"/>
              </a:rPr>
              <a:t>越好</a:t>
            </a:r>
            <a:endParaRPr lang="zh-CN" altLang="en-US" dirty="0">
              <a:latin typeface="微软雅黑" panose="020B0503020204020204" charset="-122"/>
              <a:ea typeface="微软雅黑" panose="020B0503020204020204" charset="-122"/>
              <a:cs typeface="微软雅黑" panose="020B0503020204020204" charset="-122"/>
            </a:endParaRPr>
          </a:p>
          <a:p>
            <a:pPr indent="0" fontAlgn="auto">
              <a:spcAft>
                <a:spcPts val="600"/>
              </a:spcAft>
            </a:pPr>
            <a:r>
              <a:rPr lang="zh-CN" altLang="en-US" b="1" dirty="0">
                <a:latin typeface="微软雅黑" panose="020B0503020204020204" charset="-122"/>
                <a:ea typeface="微软雅黑" panose="020B0503020204020204" charset="-122"/>
                <a:cs typeface="微软雅黑" panose="020B0503020204020204" charset="-122"/>
              </a:rPr>
              <a:t>（</a:t>
            </a:r>
            <a:r>
              <a:rPr lang="en-US" altLang="zh-CN" b="1" dirty="0">
                <a:latin typeface="微软雅黑" panose="020B0503020204020204" charset="-122"/>
                <a:ea typeface="微软雅黑" panose="020B0503020204020204" charset="-122"/>
                <a:cs typeface="微软雅黑" panose="020B0503020204020204" charset="-122"/>
              </a:rPr>
              <a:t>2</a:t>
            </a:r>
            <a:r>
              <a:rPr lang="zh-CN" altLang="en-US" b="1" dirty="0">
                <a:latin typeface="微软雅黑" panose="020B0503020204020204" charset="-122"/>
                <a:ea typeface="微软雅黑" panose="020B0503020204020204" charset="-122"/>
                <a:cs typeface="微软雅黑" panose="020B0503020204020204" charset="-122"/>
              </a:rPr>
              <a:t>）</a:t>
            </a:r>
            <a:r>
              <a:rPr lang="en-US" b="1" dirty="0">
                <a:latin typeface="微软雅黑" panose="020B0503020204020204" charset="-122"/>
                <a:ea typeface="微软雅黑" panose="020B0503020204020204" charset="-122"/>
                <a:cs typeface="微软雅黑" panose="020B0503020204020204" charset="-122"/>
              </a:rPr>
              <a:t>AMI</a:t>
            </a:r>
            <a:r>
              <a:rPr lang="zh-CN" altLang="en-US" b="1"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调整互信息，用于</a:t>
            </a:r>
            <a:r>
              <a:rPr lang="zh-CN" altLang="en-US" b="1" dirty="0">
                <a:latin typeface="微软雅黑" panose="020B0503020204020204" charset="-122"/>
                <a:ea typeface="微软雅黑" panose="020B0503020204020204" charset="-122"/>
                <a:cs typeface="微软雅黑" panose="020B0503020204020204" charset="-122"/>
              </a:rPr>
              <a:t>评估未知类聚类结果的质量</a:t>
            </a:r>
            <a:r>
              <a:rPr lang="zh-CN" altLang="en-US" dirty="0">
                <a:latin typeface="微软雅黑" panose="020B0503020204020204" charset="-122"/>
                <a:ea typeface="微软雅黑" panose="020B0503020204020204" charset="-122"/>
                <a:cs typeface="微软雅黑" panose="020B0503020204020204" charset="-122"/>
              </a:rPr>
              <a:t>。它衡量聚类结果与真实类别之间的相似性，并修正了随机性，越接近</a:t>
            </a:r>
            <a:r>
              <a:rPr lang="en-US" altLang="zh-CN" dirty="0">
                <a:latin typeface="微软雅黑" panose="020B0503020204020204" charset="-122"/>
                <a:ea typeface="微软雅黑" panose="020B0503020204020204" charset="-122"/>
                <a:cs typeface="微软雅黑" panose="020B0503020204020204" charset="-122"/>
              </a:rPr>
              <a:t>1</a:t>
            </a:r>
            <a:r>
              <a:rPr lang="zh-CN" altLang="en-US" dirty="0">
                <a:latin typeface="微软雅黑" panose="020B0503020204020204" charset="-122"/>
                <a:ea typeface="微软雅黑" panose="020B0503020204020204" charset="-122"/>
                <a:cs typeface="微软雅黑" panose="020B0503020204020204" charset="-122"/>
              </a:rPr>
              <a:t>说明聚类与真实类别越匹配</a:t>
            </a:r>
            <a:endParaRPr lang="zh-CN" altLang="en-US"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四</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数据集与实验设置</a:t>
            </a:r>
            <a:endParaRPr lang="en-US" altLang="zh-CN" sz="2800" b="1" dirty="0">
              <a:solidFill>
                <a:srgbClr val="005744"/>
              </a:solidFill>
              <a:latin typeface="微软雅黑" panose="020B0503020204020204" charset="-122"/>
              <a:ea typeface="微软雅黑" panose="020B0503020204020204" charset="-122"/>
            </a:endParaRPr>
          </a:p>
        </p:txBody>
      </p:sp>
      <p:sp>
        <p:nvSpPr>
          <p:cNvPr id="30" name="文本框 29"/>
          <p:cNvSpPr txBox="1"/>
          <p:nvPr/>
        </p:nvSpPr>
        <p:spPr>
          <a:xfrm>
            <a:off x="450215" y="1043305"/>
            <a:ext cx="8582025" cy="570865"/>
          </a:xfrm>
          <a:prstGeom prst="rect">
            <a:avLst/>
          </a:prstGeom>
          <a:noFill/>
        </p:spPr>
        <p:txBody>
          <a:bodyPr wrap="square" rtlCol="0" anchor="t">
            <a:noAutofit/>
          </a:bodyPr>
          <a:p>
            <a:r>
              <a:rPr lang="en-US" altLang="zh-CN" sz="2400" b="1" dirty="0">
                <a:latin typeface="微软雅黑" panose="020B0503020204020204" charset="-122"/>
                <a:ea typeface="微软雅黑" panose="020B0503020204020204" charset="-122"/>
                <a:cs typeface="微软雅黑" panose="020B0503020204020204" charset="-122"/>
              </a:rPr>
              <a:t>4</a:t>
            </a:r>
            <a:r>
              <a:rPr lang="zh-CN" altLang="en-US" sz="2400" b="1" dirty="0">
                <a:latin typeface="微软雅黑" panose="020B0503020204020204" charset="-122"/>
                <a:ea typeface="微软雅黑" panose="020B0503020204020204" charset="-122"/>
                <a:cs typeface="微软雅黑" panose="020B0503020204020204" charset="-122"/>
              </a:rPr>
              <a:t>、漂移概念评估</a:t>
            </a:r>
            <a:endParaRPr lang="zh-CN" altLang="en-US" sz="2400" b="1" dirty="0">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974725" y="4629785"/>
            <a:ext cx="4397375" cy="2807970"/>
          </a:xfrm>
          <a:prstGeom prst="rect">
            <a:avLst/>
          </a:prstGeom>
          <a:noFill/>
        </p:spPr>
        <p:txBody>
          <a:bodyPr wrap="square" rtlCol="0" anchor="t">
            <a:noAutofit/>
          </a:bodyPr>
          <a:p>
            <a:pPr indent="0" fontAlgn="auto">
              <a:spcAft>
                <a:spcPts val="1200"/>
              </a:spcAft>
            </a:pPr>
            <a:r>
              <a:rPr lang="zh-CN" altLang="en-US" b="1" dirty="0">
                <a:latin typeface="微软雅黑" panose="020B0503020204020204" charset="-122"/>
                <a:ea typeface="微软雅黑" panose="020B0503020204020204" charset="-122"/>
                <a:cs typeface="微软雅黑" panose="020B0503020204020204" charset="-122"/>
              </a:rPr>
              <a:t>时间偏差：</a:t>
            </a:r>
            <a:r>
              <a:rPr lang="zh-CN" altLang="en-US" dirty="0">
                <a:latin typeface="微软雅黑" panose="020B0503020204020204" charset="-122"/>
                <a:ea typeface="微软雅黑" panose="020B0503020204020204" charset="-122"/>
                <a:cs typeface="微软雅黑" panose="020B0503020204020204" charset="-122"/>
              </a:rPr>
              <a:t>设置</a:t>
            </a:r>
            <a:r>
              <a:rPr lang="en-US" altLang="zh-CN" dirty="0">
                <a:latin typeface="微软雅黑" panose="020B0503020204020204" charset="-122"/>
                <a:ea typeface="微软雅黑" panose="020B0503020204020204" charset="-122"/>
                <a:cs typeface="微软雅黑" panose="020B0503020204020204" charset="-122"/>
              </a:rPr>
              <a:t>IDS2017</a:t>
            </a:r>
            <a:r>
              <a:rPr lang="zh-CN" altLang="en-US" dirty="0">
                <a:latin typeface="微软雅黑" panose="020B0503020204020204" charset="-122"/>
                <a:ea typeface="微软雅黑" panose="020B0503020204020204" charset="-122"/>
                <a:cs typeface="微软雅黑" panose="020B0503020204020204" charset="-122"/>
              </a:rPr>
              <a:t>进行训练，使用</a:t>
            </a:r>
            <a:r>
              <a:rPr lang="en-US" altLang="zh-CN" dirty="0">
                <a:latin typeface="微软雅黑" panose="020B0503020204020204" charset="-122"/>
                <a:ea typeface="微软雅黑" panose="020B0503020204020204" charset="-122"/>
                <a:cs typeface="微软雅黑" panose="020B0503020204020204" charset="-122"/>
              </a:rPr>
              <a:t>IDS2018</a:t>
            </a:r>
            <a:r>
              <a:rPr lang="zh-CN" altLang="en-US" dirty="0">
                <a:latin typeface="微软雅黑" panose="020B0503020204020204" charset="-122"/>
                <a:ea typeface="微软雅黑" panose="020B0503020204020204" charset="-122"/>
                <a:cs typeface="微软雅黑" panose="020B0503020204020204" charset="-122"/>
              </a:rPr>
              <a:t>进行测试，进行时间偏差实验，从而探索流量随时间漂移是否会导致模型检测失败。</a:t>
            </a:r>
            <a:endParaRPr lang="zh-CN" altLang="en-US" dirty="0">
              <a:latin typeface="微软雅黑" panose="020B0503020204020204" charset="-122"/>
              <a:ea typeface="微软雅黑" panose="020B0503020204020204" charset="-122"/>
              <a:cs typeface="微软雅黑" panose="020B0503020204020204" charset="-122"/>
            </a:endParaRPr>
          </a:p>
        </p:txBody>
      </p:sp>
      <p:pic>
        <p:nvPicPr>
          <p:cNvPr id="2" name="图片 1"/>
          <p:cNvPicPr>
            <a:picLocks noChangeAspect="1"/>
          </p:cNvPicPr>
          <p:nvPr/>
        </p:nvPicPr>
        <p:blipFill>
          <a:blip r:embed="rId1"/>
          <a:srcRect r="41348"/>
          <a:stretch>
            <a:fillRect/>
          </a:stretch>
        </p:blipFill>
        <p:spPr>
          <a:xfrm>
            <a:off x="321310" y="1666240"/>
            <a:ext cx="5703570" cy="2787650"/>
          </a:xfrm>
          <a:prstGeom prst="rect">
            <a:avLst/>
          </a:prstGeom>
        </p:spPr>
      </p:pic>
      <p:pic>
        <p:nvPicPr>
          <p:cNvPr id="4" name="图片 3"/>
          <p:cNvPicPr>
            <a:picLocks noChangeAspect="1"/>
          </p:cNvPicPr>
          <p:nvPr/>
        </p:nvPicPr>
        <p:blipFill>
          <a:blip r:embed="rId2"/>
          <a:stretch>
            <a:fillRect/>
          </a:stretch>
        </p:blipFill>
        <p:spPr>
          <a:xfrm>
            <a:off x="6306820" y="1614170"/>
            <a:ext cx="5200650" cy="2952750"/>
          </a:xfrm>
          <a:prstGeom prst="rect">
            <a:avLst/>
          </a:prstGeom>
        </p:spPr>
      </p:pic>
      <p:sp>
        <p:nvSpPr>
          <p:cNvPr id="5" name="文本框 4"/>
          <p:cNvSpPr txBox="1"/>
          <p:nvPr/>
        </p:nvSpPr>
        <p:spPr>
          <a:xfrm>
            <a:off x="6413500" y="4629785"/>
            <a:ext cx="4397375" cy="2807970"/>
          </a:xfrm>
          <a:prstGeom prst="rect">
            <a:avLst/>
          </a:prstGeom>
          <a:noFill/>
        </p:spPr>
        <p:txBody>
          <a:bodyPr wrap="square" rtlCol="0" anchor="t">
            <a:noAutofit/>
          </a:bodyPr>
          <a:p>
            <a:pPr indent="0" fontAlgn="auto">
              <a:spcAft>
                <a:spcPts val="1200"/>
              </a:spcAft>
            </a:pPr>
            <a:r>
              <a:rPr lang="zh-CN" altLang="en-US" b="1" dirty="0">
                <a:latin typeface="微软雅黑" panose="020B0503020204020204" charset="-122"/>
                <a:ea typeface="微软雅黑" panose="020B0503020204020204" charset="-122"/>
                <a:cs typeface="微软雅黑" panose="020B0503020204020204" charset="-122"/>
              </a:rPr>
              <a:t>场景偏差：</a:t>
            </a:r>
            <a:r>
              <a:rPr lang="zh-CN" altLang="en-US" dirty="0">
                <a:latin typeface="微软雅黑" panose="020B0503020204020204" charset="-122"/>
                <a:ea typeface="微软雅黑" panose="020B0503020204020204" charset="-122"/>
                <a:cs typeface="微软雅黑" panose="020B0503020204020204" charset="-122"/>
              </a:rPr>
              <a:t>为了开发场景偏差评估，场景</a:t>
            </a:r>
            <a:r>
              <a:rPr lang="en-US" altLang="zh-CN" dirty="0">
                <a:latin typeface="微软雅黑" panose="020B0503020204020204" charset="-122"/>
                <a:ea typeface="微软雅黑" panose="020B0503020204020204" charset="-122"/>
                <a:cs typeface="微软雅黑" panose="020B0503020204020204" charset="-122"/>
              </a:rPr>
              <a:t>A</a:t>
            </a:r>
            <a:r>
              <a:rPr lang="zh-CN" altLang="en-US" dirty="0">
                <a:latin typeface="微软雅黑" panose="020B0503020204020204" charset="-122"/>
                <a:ea typeface="微软雅黑" panose="020B0503020204020204" charset="-122"/>
                <a:cs typeface="微软雅黑" panose="020B0503020204020204" charset="-122"/>
              </a:rPr>
              <a:t>流量用于训练，并从</a:t>
            </a:r>
            <a:r>
              <a:rPr lang="en-US" altLang="zh-CN" dirty="0">
                <a:latin typeface="微软雅黑" panose="020B0503020204020204" charset="-122"/>
                <a:ea typeface="微软雅黑" panose="020B0503020204020204" charset="-122"/>
                <a:cs typeface="微软雅黑" panose="020B0503020204020204" charset="-122"/>
              </a:rPr>
              <a:t>CrossNet</a:t>
            </a:r>
            <a:r>
              <a:rPr lang="zh-CN" altLang="en-US" dirty="0">
                <a:latin typeface="微软雅黑" panose="020B0503020204020204" charset="-122"/>
                <a:ea typeface="微软雅黑" panose="020B0503020204020204" charset="-122"/>
                <a:cs typeface="微软雅黑" panose="020B0503020204020204" charset="-122"/>
              </a:rPr>
              <a:t>数据集中检测场景</a:t>
            </a:r>
            <a:r>
              <a:rPr lang="en-US" altLang="zh-CN" dirty="0">
                <a:latin typeface="微软雅黑" panose="020B0503020204020204" charset="-122"/>
                <a:ea typeface="微软雅黑" panose="020B0503020204020204" charset="-122"/>
                <a:cs typeface="微软雅黑" panose="020B0503020204020204" charset="-122"/>
              </a:rPr>
              <a:t>B</a:t>
            </a:r>
            <a:r>
              <a:rPr lang="zh-CN" altLang="en-US" dirty="0">
                <a:latin typeface="微软雅黑" panose="020B0503020204020204" charset="-122"/>
                <a:ea typeface="微软雅黑" panose="020B0503020204020204" charset="-122"/>
                <a:cs typeface="微软雅黑" panose="020B0503020204020204" charset="-122"/>
              </a:rPr>
              <a:t>流量。</a:t>
            </a:r>
            <a:endParaRPr lang="zh-CN" altLang="en-US"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1497965" y="2243455"/>
            <a:ext cx="10248900" cy="1429385"/>
            <a:chOff x="7006" y="1928"/>
            <a:chExt cx="16140" cy="2251"/>
          </a:xfrm>
        </p:grpSpPr>
        <p:sp>
          <p:nvSpPr>
            <p:cNvPr id="24" name="矩形: 圆角 23"/>
            <p:cNvSpPr/>
            <p:nvPr>
              <p:custDataLst>
                <p:tags r:id="rId2"/>
              </p:custDataLst>
            </p:nvPr>
          </p:nvSpPr>
          <p:spPr>
            <a:xfrm>
              <a:off x="7006" y="1928"/>
              <a:ext cx="3164" cy="2251"/>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05</a:t>
              </a:r>
              <a:endParaRPr kumimoji="0" lang="zh-CN" altLang="en-US"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 name="文本占位符 3"/>
            <p:cNvSpPr>
              <a:spLocks noGrp="1"/>
            </p:cNvSpPr>
            <p:nvPr>
              <p:custDataLst>
                <p:tags r:id="rId3"/>
              </p:custDataLst>
            </p:nvPr>
          </p:nvSpPr>
          <p:spPr>
            <a:xfrm>
              <a:off x="11004" y="2276"/>
              <a:ext cx="12142" cy="116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7200">
                  <a:solidFill>
                    <a:schemeClr val="bg1"/>
                  </a:solidFill>
                </a:rPr>
                <a:t>实验结果分析</a:t>
              </a:r>
              <a:endParaRPr lang="zh-CN" altLang="en-US" sz="7200">
                <a:solidFill>
                  <a:schemeClr val="bg1"/>
                </a:solidFill>
              </a:endParaRPr>
            </a:p>
          </p:txBody>
        </p:sp>
      </p:gr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58800"/>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五</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实验结果分析</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sp>
        <p:nvSpPr>
          <p:cNvPr id="8" name="文本框 7"/>
          <p:cNvSpPr txBox="1"/>
          <p:nvPr/>
        </p:nvSpPr>
        <p:spPr>
          <a:xfrm>
            <a:off x="862330" y="1126490"/>
            <a:ext cx="8567420" cy="460375"/>
          </a:xfrm>
          <a:prstGeom prst="rect">
            <a:avLst/>
          </a:prstGeom>
          <a:noFill/>
        </p:spPr>
        <p:txBody>
          <a:bodyPr wrap="square" rtlCol="0">
            <a:spAutoFit/>
          </a:bodyPr>
          <a:p>
            <a:r>
              <a:rPr lang="zh-CN" altLang="en-US" sz="2400" b="1"/>
              <a:t>全量更新</a:t>
            </a:r>
            <a:r>
              <a:rPr lang="en-US" altLang="zh-CN" sz="2400" b="1"/>
              <a:t> vs. </a:t>
            </a:r>
            <a:r>
              <a:rPr lang="zh-CN" altLang="en-US" sz="2400" b="1"/>
              <a:t>轻量化采样（</a:t>
            </a:r>
            <a:r>
              <a:rPr lang="en-US" altLang="zh-CN" sz="2400" b="1"/>
              <a:t>60%</a:t>
            </a:r>
            <a:r>
              <a:rPr lang="zh-CN" altLang="en-US" sz="2400" b="1"/>
              <a:t>）的性能对比与机理探究</a:t>
            </a:r>
            <a:endParaRPr lang="zh-CN" altLang="en-US" sz="2400" b="1"/>
          </a:p>
        </p:txBody>
      </p:sp>
      <p:sp>
        <p:nvSpPr>
          <p:cNvPr id="2" name="文本框 1"/>
          <p:cNvSpPr txBox="1"/>
          <p:nvPr/>
        </p:nvSpPr>
        <p:spPr>
          <a:xfrm>
            <a:off x="1074420" y="1722755"/>
            <a:ext cx="9515475" cy="2245360"/>
          </a:xfrm>
          <a:prstGeom prst="rect">
            <a:avLst/>
          </a:prstGeom>
        </p:spPr>
        <p:txBody>
          <a:bodyPr wrap="square">
            <a:spAutoFit/>
          </a:bodyPr>
          <a:p>
            <a:r>
              <a:rPr lang="en-US" altLang="zh-CN" sz="2000" b="1"/>
              <a:t>1. </a:t>
            </a:r>
            <a:r>
              <a:rPr lang="zh-CN" altLang="en-US" sz="2000" b="1"/>
              <a:t>仿真环境构建</a:t>
            </a:r>
            <a:endParaRPr lang="en-US" altLang="zh-CN" sz="2000" b="1"/>
          </a:p>
          <a:p>
            <a:pPr marL="285750" indent="-285750">
              <a:buFont typeface="Arial" panose="020B0604020202020204" pitchFamily="34" charset="0"/>
              <a:buChar char="•"/>
            </a:pPr>
            <a:r>
              <a:rPr lang="zh-CN" altLang="en-US" sz="2000" b="1"/>
              <a:t>连续任务流 </a:t>
            </a:r>
            <a:r>
              <a:rPr lang="en-US" altLang="zh-CN" sz="2000" b="1"/>
              <a:t>:</a:t>
            </a:r>
            <a:r>
              <a:rPr lang="en-US" altLang="zh-CN" sz="2000"/>
              <a:t> </a:t>
            </a:r>
            <a:r>
              <a:rPr lang="zh-CN" altLang="en-US" sz="2000"/>
              <a:t>构建包含 </a:t>
            </a:r>
            <a:r>
              <a:rPr lang="en-US" altLang="zh-CN" sz="2000" b="1"/>
              <a:t>Task 1 </a:t>
            </a:r>
            <a:r>
              <a:rPr lang="zh-CN" altLang="en-US" sz="2000" b="1"/>
              <a:t>至 </a:t>
            </a:r>
            <a:r>
              <a:rPr lang="en-US" altLang="zh-CN" sz="2000" b="1"/>
              <a:t>Task 4</a:t>
            </a:r>
            <a:r>
              <a:rPr lang="en-US" altLang="zh-CN" sz="2000"/>
              <a:t> </a:t>
            </a:r>
            <a:r>
              <a:rPr lang="zh-CN" altLang="en-US" sz="2000"/>
              <a:t>的连续攻击场景，模拟 </a:t>
            </a:r>
            <a:r>
              <a:rPr lang="en-US" altLang="zh-CN" sz="2000"/>
              <a:t>NIDS </a:t>
            </a:r>
            <a:r>
              <a:rPr lang="zh-CN" altLang="en-US" sz="2000"/>
              <a:t>在真实运行中不断遭遇新流量（类增量）与环境变化（概念漂移）的过程。</a:t>
            </a:r>
            <a:endParaRPr lang="zh-CN" altLang="en-US" sz="2000"/>
          </a:p>
          <a:p>
            <a:pPr marL="285750" indent="-285750">
              <a:buFont typeface="Arial" panose="020B0604020202020204" pitchFamily="34" charset="0"/>
              <a:buChar char="•"/>
            </a:pPr>
            <a:r>
              <a:rPr lang="zh-CN" altLang="en-US" sz="2000" b="1"/>
              <a:t>动态更新机制</a:t>
            </a:r>
            <a:r>
              <a:rPr lang="en-US" altLang="zh-CN" sz="2000" b="1"/>
              <a:t>:</a:t>
            </a:r>
            <a:r>
              <a:rPr lang="en-US" altLang="zh-CN" sz="2000"/>
              <a:t> </a:t>
            </a:r>
            <a:r>
              <a:rPr lang="zh-CN" altLang="en-US" sz="2000"/>
              <a:t>在每个 </a:t>
            </a:r>
            <a:r>
              <a:rPr lang="en-US" altLang="zh-CN" sz="2000"/>
              <a:t>Task </a:t>
            </a:r>
            <a:r>
              <a:rPr lang="zh-CN" altLang="en-US" sz="2000"/>
              <a:t>结束节点，系统触发模型更新，评估模型对新知识的习得能力及对旧知识的记忆保持能力。</a:t>
            </a:r>
            <a:endParaRPr lang="zh-CN" altLang="en-US" sz="2000"/>
          </a:p>
          <a:p>
            <a:pPr indent="0">
              <a:buFont typeface="Arial" panose="020B0604020202020204"/>
              <a:buNone/>
            </a:pPr>
            <a:endParaRPr lang="zh-CN" altLang="en-US" sz="2000"/>
          </a:p>
          <a:p>
            <a:r>
              <a:rPr lang="en-US" altLang="zh-CN" sz="2000" b="1"/>
              <a:t>2. </a:t>
            </a:r>
            <a:r>
              <a:rPr lang="zh-CN" altLang="en-US" sz="2000" b="1"/>
              <a:t>对比</a:t>
            </a:r>
            <a:r>
              <a:rPr lang="zh-CN" sz="2000" b="1"/>
              <a:t>实验</a:t>
            </a:r>
            <a:endParaRPr lang="zh-CN" altLang="en-US" sz="2000" b="1"/>
          </a:p>
        </p:txBody>
      </p:sp>
      <p:sp>
        <p:nvSpPr>
          <p:cNvPr id="5" name="文本框 4"/>
          <p:cNvSpPr txBox="1"/>
          <p:nvPr/>
        </p:nvSpPr>
        <p:spPr>
          <a:xfrm>
            <a:off x="1369695" y="3968115"/>
            <a:ext cx="5953760" cy="1322070"/>
          </a:xfrm>
          <a:prstGeom prst="rect">
            <a:avLst/>
          </a:prstGeom>
          <a:noFill/>
        </p:spPr>
        <p:txBody>
          <a:bodyPr wrap="square" rtlCol="0">
            <a:spAutoFit/>
          </a:bodyPr>
          <a:p>
            <a:r>
              <a:rPr lang="zh-CN" altLang="en-US" sz="2000"/>
              <a:t>基准组</a:t>
            </a:r>
            <a:r>
              <a:rPr lang="en-US" altLang="zh-CN" sz="2000"/>
              <a:t>:</a:t>
            </a:r>
            <a:endParaRPr lang="en-US" altLang="zh-CN" sz="2000"/>
          </a:p>
          <a:p>
            <a:pPr marL="285750" indent="-285750">
              <a:buFont typeface="Arial" panose="020B0604020202020204" pitchFamily="34" charset="0"/>
              <a:buChar char="•"/>
            </a:pPr>
            <a:r>
              <a:rPr lang="zh-CN" altLang="en-US" sz="2000"/>
              <a:t>策略：</a:t>
            </a:r>
            <a:r>
              <a:rPr lang="en-US" altLang="zh-CN" sz="2000"/>
              <a:t> </a:t>
            </a:r>
            <a:r>
              <a:rPr lang="zh-CN" altLang="en-US" sz="2000"/>
              <a:t>全量重演</a:t>
            </a:r>
            <a:endParaRPr lang="zh-CN" altLang="en-US" sz="2000"/>
          </a:p>
          <a:p>
            <a:pPr marL="285750" indent="-285750">
              <a:buFont typeface="Arial" panose="020B0604020202020204" pitchFamily="34" charset="0"/>
              <a:buChar char="•"/>
            </a:pPr>
            <a:r>
              <a:rPr lang="zh-CN" altLang="en-US" sz="2000"/>
              <a:t>数据量：</a:t>
            </a:r>
            <a:r>
              <a:rPr lang="en-US" altLang="zh-CN" sz="2000" b="1"/>
              <a:t>100% (</a:t>
            </a:r>
            <a:r>
              <a:rPr lang="zh-CN" altLang="en-US" sz="2000" b="1"/>
              <a:t>历史数据</a:t>
            </a:r>
            <a:r>
              <a:rPr lang="en-US" altLang="zh-CN" sz="2000" b="1"/>
              <a:t> + </a:t>
            </a:r>
            <a:r>
              <a:rPr lang="zh-CN" altLang="en-US" sz="2000" b="1"/>
              <a:t>新数据</a:t>
            </a:r>
            <a:r>
              <a:rPr lang="en-US" altLang="zh-CN" sz="2000" b="1"/>
              <a:t>)</a:t>
            </a:r>
            <a:endParaRPr lang="zh-CN" altLang="en-US" sz="2000" b="1"/>
          </a:p>
          <a:p>
            <a:pPr marL="285750" indent="-285750">
              <a:buFont typeface="Arial" panose="020B0604020202020204" pitchFamily="34" charset="0"/>
              <a:buChar char="•"/>
            </a:pPr>
            <a:r>
              <a:rPr lang="zh-CN" altLang="en-US" sz="2000"/>
              <a:t>目的：</a:t>
            </a:r>
            <a:r>
              <a:rPr lang="en-US" altLang="zh-CN" sz="2000"/>
              <a:t> </a:t>
            </a:r>
            <a:r>
              <a:rPr lang="zh-CN" altLang="en-US" sz="2000"/>
              <a:t>确立在理想资源条件下的性能上限</a:t>
            </a:r>
            <a:endParaRPr lang="zh-CN" altLang="en-US" sz="2000"/>
          </a:p>
        </p:txBody>
      </p:sp>
      <p:sp>
        <p:nvSpPr>
          <p:cNvPr id="6" name="文本框 5"/>
          <p:cNvSpPr txBox="1"/>
          <p:nvPr/>
        </p:nvSpPr>
        <p:spPr>
          <a:xfrm>
            <a:off x="6669405" y="3886835"/>
            <a:ext cx="4908550" cy="1938020"/>
          </a:xfrm>
          <a:prstGeom prst="rect">
            <a:avLst/>
          </a:prstGeom>
          <a:noFill/>
        </p:spPr>
        <p:txBody>
          <a:bodyPr wrap="square" rtlCol="0">
            <a:spAutoFit/>
          </a:bodyPr>
          <a:p>
            <a:r>
              <a:rPr lang="zh-CN" altLang="en-US" sz="2000"/>
              <a:t>改进组</a:t>
            </a:r>
            <a:r>
              <a:rPr lang="en-US" altLang="zh-CN" sz="2000"/>
              <a:t> :</a:t>
            </a:r>
            <a:endParaRPr lang="en-US" altLang="zh-CN" sz="2000"/>
          </a:p>
          <a:p>
            <a:pPr marL="285750" indent="-285750">
              <a:buFont typeface="Arial" panose="020B0604020202020204" pitchFamily="34" charset="0"/>
              <a:buChar char="•"/>
            </a:pPr>
            <a:r>
              <a:rPr lang="zh-CN" altLang="en-US" sz="2000"/>
              <a:t>策略：</a:t>
            </a:r>
            <a:r>
              <a:rPr lang="en-US" altLang="zh-CN" sz="2000"/>
              <a:t> </a:t>
            </a:r>
            <a:r>
              <a:rPr lang="zh-CN" altLang="en-US" sz="2000"/>
              <a:t>轻量化采样</a:t>
            </a:r>
            <a:endParaRPr lang="en-US" altLang="zh-CN" sz="2000"/>
          </a:p>
          <a:p>
            <a:pPr marL="285750" indent="-285750">
              <a:buFont typeface="Arial" panose="020B0604020202020204" pitchFamily="34" charset="0"/>
              <a:buChar char="•"/>
            </a:pPr>
            <a:r>
              <a:rPr lang="zh-CN" altLang="en-US" sz="2000"/>
              <a:t>数据量：</a:t>
            </a:r>
            <a:r>
              <a:rPr lang="en-US" altLang="zh-CN" sz="2000" b="1"/>
              <a:t>60% (</a:t>
            </a:r>
            <a:r>
              <a:rPr lang="zh-CN" altLang="en-US" sz="2000" b="1"/>
              <a:t>基于随机</a:t>
            </a:r>
            <a:r>
              <a:rPr lang="en-US" altLang="zh-CN" sz="2000" b="1"/>
              <a:t>/</a:t>
            </a:r>
            <a:r>
              <a:rPr lang="zh-CN" altLang="en-US" sz="2000" b="1"/>
              <a:t>分层采样剔除冗余</a:t>
            </a:r>
            <a:r>
              <a:rPr lang="en-US" altLang="zh-CN" sz="2000" b="1"/>
              <a:t>)</a:t>
            </a:r>
            <a:endParaRPr lang="zh-CN" altLang="en-US" sz="2000" b="1"/>
          </a:p>
          <a:p>
            <a:pPr marL="285750" indent="-285750">
              <a:buFont typeface="Arial" panose="020B0604020202020204" pitchFamily="34" charset="0"/>
              <a:buChar char="•"/>
            </a:pPr>
            <a:r>
              <a:rPr lang="zh-CN" altLang="en-US" sz="2000"/>
              <a:t>目的：</a:t>
            </a:r>
            <a:r>
              <a:rPr lang="en-US" altLang="zh-CN" sz="2000"/>
              <a:t> </a:t>
            </a:r>
            <a:r>
              <a:rPr lang="zh-CN" altLang="en-US" sz="2000"/>
              <a:t>验证在资源受限环境下的性能表现</a:t>
            </a:r>
            <a:endParaRPr lang="zh-CN" altLang="en-US" sz="2000"/>
          </a:p>
        </p:txBody>
      </p:sp>
      <p:sp>
        <p:nvSpPr>
          <p:cNvPr id="9" name="文本框 8"/>
          <p:cNvSpPr txBox="1"/>
          <p:nvPr/>
        </p:nvSpPr>
        <p:spPr>
          <a:xfrm>
            <a:off x="1074420" y="5723255"/>
            <a:ext cx="7023100" cy="398780"/>
          </a:xfrm>
          <a:prstGeom prst="rect">
            <a:avLst/>
          </a:prstGeom>
          <a:noFill/>
        </p:spPr>
        <p:txBody>
          <a:bodyPr wrap="square" rtlCol="0">
            <a:spAutoFit/>
          </a:bodyPr>
          <a:p>
            <a:r>
              <a:rPr lang="en-US" altLang="zh-CN" sz="2000">
                <a:sym typeface="+mn-ea"/>
              </a:rPr>
              <a:t>3.</a:t>
            </a:r>
            <a:r>
              <a:rPr lang="zh-CN" altLang="en-US" sz="2000" b="1">
                <a:sym typeface="+mn-ea"/>
              </a:rPr>
              <a:t>实验控制</a:t>
            </a:r>
            <a:r>
              <a:rPr lang="zh-CN" altLang="en-US" sz="2000">
                <a:sym typeface="+mn-ea"/>
              </a:rPr>
              <a:t>：初始模型架构、学习率、优化器参数严格一致。</a:t>
            </a:r>
            <a:endParaRPr lang="zh-CN" altLang="en-US" sz="2000">
              <a:sym typeface="+mn-ea"/>
            </a:endParaRPr>
          </a:p>
        </p:txBody>
      </p:sp>
    </p:spTree>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58800"/>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五</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实验结果分析</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pic>
        <p:nvPicPr>
          <p:cNvPr id="5" name="图片 4" descr="图1 比例60"/>
          <p:cNvPicPr>
            <a:picLocks noChangeAspect="1"/>
          </p:cNvPicPr>
          <p:nvPr/>
        </p:nvPicPr>
        <p:blipFill>
          <a:blip r:embed="rId1"/>
          <a:stretch>
            <a:fillRect/>
          </a:stretch>
        </p:blipFill>
        <p:spPr>
          <a:xfrm>
            <a:off x="432435" y="1096645"/>
            <a:ext cx="5595620" cy="3357880"/>
          </a:xfrm>
          <a:prstGeom prst="rect">
            <a:avLst/>
          </a:prstGeom>
        </p:spPr>
      </p:pic>
      <p:pic>
        <p:nvPicPr>
          <p:cNvPr id="7" name="图片 6" descr="图2 比例100"/>
          <p:cNvPicPr>
            <a:picLocks noChangeAspect="1"/>
          </p:cNvPicPr>
          <p:nvPr/>
        </p:nvPicPr>
        <p:blipFill>
          <a:blip r:embed="rId2"/>
          <a:stretch>
            <a:fillRect/>
          </a:stretch>
        </p:blipFill>
        <p:spPr>
          <a:xfrm>
            <a:off x="6028055" y="1116330"/>
            <a:ext cx="5563235" cy="3338195"/>
          </a:xfrm>
          <a:prstGeom prst="rect">
            <a:avLst/>
          </a:prstGeom>
        </p:spPr>
      </p:pic>
      <p:sp>
        <p:nvSpPr>
          <p:cNvPr id="3" name="圆角矩形 2"/>
          <p:cNvSpPr/>
          <p:nvPr/>
        </p:nvSpPr>
        <p:spPr>
          <a:xfrm>
            <a:off x="3030220" y="4200525"/>
            <a:ext cx="762000" cy="254000"/>
          </a:xfrm>
          <a:prstGeom prst="round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圆角矩形 3"/>
          <p:cNvSpPr/>
          <p:nvPr/>
        </p:nvSpPr>
        <p:spPr>
          <a:xfrm>
            <a:off x="8589010" y="4200525"/>
            <a:ext cx="762000" cy="254000"/>
          </a:xfrm>
          <a:prstGeom prst="round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735330" y="4716145"/>
            <a:ext cx="10238740" cy="1918335"/>
          </a:xfrm>
          <a:prstGeom prst="rect">
            <a:avLst/>
          </a:prstGeom>
          <a:noFill/>
        </p:spPr>
        <p:txBody>
          <a:bodyPr wrap="square" rtlCol="0">
            <a:spAutoFit/>
          </a:bodyPr>
          <a:p>
            <a:pPr marL="285750" indent="-285750" fontAlgn="auto">
              <a:lnSpc>
                <a:spcPct val="110000"/>
              </a:lnSpc>
              <a:buFont typeface="Arial" panose="020B0604020202020204" pitchFamily="34" charset="0"/>
              <a:buChar char="•"/>
            </a:pPr>
            <a:r>
              <a:rPr lang="zh-CN" altLang="en-US" b="1">
                <a:sym typeface="+mn-ea"/>
              </a:rPr>
              <a:t>初始构建 </a:t>
            </a:r>
            <a:r>
              <a:rPr lang="en-US" altLang="zh-CN" b="1">
                <a:sym typeface="+mn-ea"/>
              </a:rPr>
              <a:t>(Task 1):</a:t>
            </a:r>
            <a:r>
              <a:rPr lang="en-US" altLang="zh-CN">
                <a:sym typeface="+mn-ea"/>
              </a:rPr>
              <a:t> </a:t>
            </a:r>
            <a:r>
              <a:rPr lang="zh-CN" altLang="en-US">
                <a:sym typeface="+mn-ea"/>
              </a:rPr>
              <a:t>双方准确率均达到 </a:t>
            </a:r>
            <a:r>
              <a:rPr lang="en-US" altLang="zh-CN" b="1">
                <a:sym typeface="+mn-ea"/>
              </a:rPr>
              <a:t>0.98</a:t>
            </a:r>
            <a:r>
              <a:rPr lang="zh-CN" altLang="en-US">
                <a:sym typeface="+mn-ea"/>
              </a:rPr>
              <a:t>，表明在初始特征空间构建上，采样数据已包含足够的核心信息。</a:t>
            </a:r>
            <a:endParaRPr lang="zh-CN" altLang="en-US"/>
          </a:p>
          <a:p>
            <a:pPr marL="285750" indent="-285750" fontAlgn="auto">
              <a:lnSpc>
                <a:spcPct val="110000"/>
              </a:lnSpc>
              <a:buFont typeface="Arial" panose="020B0604020202020204" pitchFamily="34" charset="0"/>
              <a:buChar char="•"/>
            </a:pPr>
            <a:r>
              <a:rPr lang="zh-CN" altLang="en-US" b="1">
                <a:sym typeface="+mn-ea"/>
              </a:rPr>
              <a:t>首次增量 </a:t>
            </a:r>
            <a:r>
              <a:rPr lang="en-US" altLang="zh-CN" b="1">
                <a:sym typeface="+mn-ea"/>
              </a:rPr>
              <a:t>(Task 2):</a:t>
            </a:r>
            <a:r>
              <a:rPr lang="en-US" altLang="zh-CN">
                <a:sym typeface="+mn-ea"/>
              </a:rPr>
              <a:t> </a:t>
            </a:r>
            <a:r>
              <a:rPr lang="zh-CN" altLang="en-US">
                <a:sym typeface="+mn-ea"/>
              </a:rPr>
              <a:t>随着新任务引入，准确率同步攀升至 </a:t>
            </a:r>
            <a:r>
              <a:rPr lang="en-US" altLang="zh-CN" b="1">
                <a:sym typeface="+mn-ea"/>
              </a:rPr>
              <a:t>0.99</a:t>
            </a:r>
            <a:r>
              <a:rPr lang="zh-CN" altLang="en-US">
                <a:sym typeface="+mn-ea"/>
              </a:rPr>
              <a:t>，显示出极强的新知识适应性。</a:t>
            </a:r>
            <a:endParaRPr lang="zh-CN" altLang="en-US"/>
          </a:p>
          <a:p>
            <a:pPr marL="285750" indent="-285750" fontAlgn="auto">
              <a:lnSpc>
                <a:spcPct val="110000"/>
              </a:lnSpc>
              <a:buFont typeface="Arial" panose="020B0604020202020204" pitchFamily="34" charset="0"/>
              <a:buChar char="•"/>
            </a:pPr>
            <a:r>
              <a:rPr lang="zh-CN" altLang="en-US" b="1">
                <a:sym typeface="+mn-ea"/>
              </a:rPr>
              <a:t>持续演进 </a:t>
            </a:r>
            <a:r>
              <a:rPr lang="en-US" altLang="zh-CN" b="1">
                <a:sym typeface="+mn-ea"/>
              </a:rPr>
              <a:t>(Task 3-4):</a:t>
            </a:r>
            <a:r>
              <a:rPr lang="en-US" altLang="zh-CN">
                <a:sym typeface="+mn-ea"/>
              </a:rPr>
              <a:t> </a:t>
            </a:r>
            <a:r>
              <a:rPr lang="zh-CN" altLang="en-US">
                <a:sym typeface="+mn-ea"/>
              </a:rPr>
              <a:t>在后续连续任务中，即使改进组丢弃了 </a:t>
            </a:r>
            <a:r>
              <a:rPr lang="en-US" altLang="zh-CN">
                <a:sym typeface="+mn-ea"/>
              </a:rPr>
              <a:t>40% </a:t>
            </a:r>
            <a:r>
              <a:rPr lang="zh-CN" altLang="en-US">
                <a:sym typeface="+mn-ea"/>
              </a:rPr>
              <a:t>的数据，准确率依然稳定锁定在 </a:t>
            </a:r>
            <a:r>
              <a:rPr lang="en-US" altLang="zh-CN" b="1">
                <a:sym typeface="+mn-ea"/>
              </a:rPr>
              <a:t>0.99</a:t>
            </a:r>
            <a:r>
              <a:rPr lang="zh-CN" altLang="en-US">
                <a:sym typeface="+mn-ea"/>
              </a:rPr>
              <a:t>，未出现任何波动。</a:t>
            </a:r>
            <a:endParaRPr lang="zh-CN" altLang="en-US"/>
          </a:p>
          <a:p>
            <a:pPr fontAlgn="auto">
              <a:lnSpc>
                <a:spcPct val="110000"/>
              </a:lnSpc>
            </a:pPr>
            <a:endParaRPr lang="zh-CN" altLang="en-US"/>
          </a:p>
        </p:txBody>
      </p:sp>
    </p:spTree>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58800"/>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五</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实验结果分析</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pic>
        <p:nvPicPr>
          <p:cNvPr id="5" name="图片 4" descr="图1 比例60"/>
          <p:cNvPicPr>
            <a:picLocks noChangeAspect="1"/>
          </p:cNvPicPr>
          <p:nvPr/>
        </p:nvPicPr>
        <p:blipFill>
          <a:blip r:embed="rId1"/>
          <a:stretch>
            <a:fillRect/>
          </a:stretch>
        </p:blipFill>
        <p:spPr>
          <a:xfrm>
            <a:off x="432435" y="1096645"/>
            <a:ext cx="5595620" cy="3357880"/>
          </a:xfrm>
          <a:prstGeom prst="rect">
            <a:avLst/>
          </a:prstGeom>
        </p:spPr>
      </p:pic>
      <p:pic>
        <p:nvPicPr>
          <p:cNvPr id="7" name="图片 6" descr="图2 比例100"/>
          <p:cNvPicPr>
            <a:picLocks noChangeAspect="1"/>
          </p:cNvPicPr>
          <p:nvPr/>
        </p:nvPicPr>
        <p:blipFill>
          <a:blip r:embed="rId2"/>
          <a:stretch>
            <a:fillRect/>
          </a:stretch>
        </p:blipFill>
        <p:spPr>
          <a:xfrm>
            <a:off x="6028055" y="1116330"/>
            <a:ext cx="5563235" cy="3338195"/>
          </a:xfrm>
          <a:prstGeom prst="rect">
            <a:avLst/>
          </a:prstGeom>
        </p:spPr>
      </p:pic>
      <p:sp>
        <p:nvSpPr>
          <p:cNvPr id="3" name="圆角矩形 2"/>
          <p:cNvSpPr/>
          <p:nvPr/>
        </p:nvSpPr>
        <p:spPr>
          <a:xfrm>
            <a:off x="3030220" y="4200525"/>
            <a:ext cx="762000" cy="254000"/>
          </a:xfrm>
          <a:prstGeom prst="round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圆角矩形 3"/>
          <p:cNvSpPr/>
          <p:nvPr/>
        </p:nvSpPr>
        <p:spPr>
          <a:xfrm>
            <a:off x="8589010" y="4200525"/>
            <a:ext cx="762000" cy="254000"/>
          </a:xfrm>
          <a:prstGeom prst="roundRect">
            <a:avLst/>
          </a:prstGeom>
          <a:noFill/>
          <a:ln w="38100">
            <a:solidFill>
              <a:srgbClr val="FF0000"/>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文本框 5"/>
          <p:cNvSpPr txBox="1"/>
          <p:nvPr/>
        </p:nvSpPr>
        <p:spPr>
          <a:xfrm>
            <a:off x="927735" y="4820285"/>
            <a:ext cx="10031095" cy="1198880"/>
          </a:xfrm>
          <a:prstGeom prst="rect">
            <a:avLst/>
          </a:prstGeom>
        </p:spPr>
        <p:txBody>
          <a:bodyPr wrap="square">
            <a:spAutoFit/>
          </a:bodyPr>
          <a:p>
            <a:pPr marL="285750" indent="-285750">
              <a:buFont typeface="Arial" panose="020B0604020202020204" pitchFamily="34" charset="0"/>
              <a:buChar char="•"/>
            </a:pPr>
            <a:r>
              <a:rPr lang="zh-CN" altLang="en-US" b="1"/>
              <a:t>精度无损：</a:t>
            </a:r>
            <a:r>
              <a:rPr lang="zh-CN" altLang="en-US"/>
              <a:t> 改进组与基准组的精度曲线几乎完全重合，证明了 </a:t>
            </a:r>
            <a:r>
              <a:rPr lang="en-US" altLang="zh-CN"/>
              <a:t>60% </a:t>
            </a:r>
            <a:r>
              <a:rPr lang="zh-CN" altLang="en-US"/>
              <a:t>采样数据完整覆盖了各类流量的流形分布 。</a:t>
            </a:r>
            <a:endParaRPr lang="zh-CN" altLang="en-US"/>
          </a:p>
          <a:p>
            <a:pPr marL="285750" indent="-285750">
              <a:buFont typeface="Arial" panose="020B0604020202020204" pitchFamily="34" charset="0"/>
              <a:buChar char="•"/>
            </a:pPr>
            <a:r>
              <a:rPr lang="zh-CN" altLang="en-US" b="1"/>
              <a:t>克服遗忘：</a:t>
            </a:r>
            <a:r>
              <a:rPr lang="zh-CN" altLang="en-US"/>
              <a:t> 验证了 </a:t>
            </a:r>
            <a:r>
              <a:rPr lang="en-US" altLang="zh-CN"/>
              <a:t>Trident </a:t>
            </a:r>
            <a:r>
              <a:rPr lang="zh-CN" altLang="en-US"/>
              <a:t>框架结合采样策略后，在大幅削减数据的情况下，依然能有效克服灾难性遗忘 。</a:t>
            </a:r>
            <a:endParaRPr lang="zh-CN" altLang="en-US"/>
          </a:p>
        </p:txBody>
      </p:sp>
    </p:spTree>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58800"/>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五</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实验结果分析</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321310" y="1505585"/>
            <a:ext cx="6203950" cy="2705100"/>
          </a:xfrm>
          <a:prstGeom prst="rect">
            <a:avLst/>
          </a:prstGeom>
        </p:spPr>
      </p:pic>
      <p:sp>
        <p:nvSpPr>
          <p:cNvPr id="3" name="文本框 2"/>
          <p:cNvSpPr txBox="1"/>
          <p:nvPr/>
        </p:nvSpPr>
        <p:spPr>
          <a:xfrm>
            <a:off x="862330" y="4526915"/>
            <a:ext cx="10432415" cy="1918335"/>
          </a:xfrm>
          <a:prstGeom prst="rect">
            <a:avLst/>
          </a:prstGeom>
          <a:noFill/>
        </p:spPr>
        <p:txBody>
          <a:bodyPr wrap="square" rtlCol="0">
            <a:spAutoFit/>
          </a:bodyPr>
          <a:p>
            <a:pPr marL="285750" indent="-285750" fontAlgn="auto">
              <a:lnSpc>
                <a:spcPct val="110000"/>
              </a:lnSpc>
              <a:buFont typeface="Arial" panose="020B0604020202020204" pitchFamily="34" charset="0"/>
              <a:buChar char="•"/>
            </a:pPr>
            <a:r>
              <a:rPr lang="zh-CN" altLang="en-US" b="1"/>
              <a:t>高结构化特征：</a:t>
            </a:r>
            <a:r>
              <a:rPr lang="en-US" altLang="zh-CN"/>
              <a:t> </a:t>
            </a:r>
            <a:r>
              <a:rPr lang="zh-CN" altLang="en-US"/>
              <a:t>实验数据表明，机器生成的攻击流量（如</a:t>
            </a:r>
            <a:r>
              <a:rPr lang="en-US" altLang="zh-CN"/>
              <a:t> DDoS, Botnet</a:t>
            </a:r>
            <a:r>
              <a:rPr lang="zh-CN" altLang="en-US"/>
              <a:t>）在特征空间中呈现高度聚集的</a:t>
            </a:r>
            <a:r>
              <a:rPr lang="en-US" altLang="zh-CN"/>
              <a:t>“</a:t>
            </a:r>
            <a:r>
              <a:rPr lang="zh-CN" altLang="en-US"/>
              <a:t>簇状</a:t>
            </a:r>
            <a:r>
              <a:rPr lang="en-US" altLang="zh-CN"/>
              <a:t>”</a:t>
            </a:r>
            <a:r>
              <a:rPr lang="zh-CN" altLang="en-US"/>
              <a:t>分布，而非均匀分布。</a:t>
            </a:r>
            <a:endParaRPr lang="en-US" altLang="zh-CN"/>
          </a:p>
          <a:p>
            <a:pPr marL="285750" indent="-285750" fontAlgn="auto">
              <a:lnSpc>
                <a:spcPct val="110000"/>
              </a:lnSpc>
              <a:buFont typeface="Arial" panose="020B0604020202020204" pitchFamily="34" charset="0"/>
              <a:buChar char="•"/>
            </a:pPr>
            <a:r>
              <a:rPr lang="zh-CN" altLang="en-US" b="1"/>
              <a:t>流形覆盖：</a:t>
            </a:r>
            <a:r>
              <a:rPr lang="en-US" altLang="zh-CN"/>
              <a:t> 60% </a:t>
            </a:r>
            <a:r>
              <a:rPr lang="zh-CN" altLang="en-US"/>
              <a:t>的采样数据已经足够构建出完整的决策边界。对比实验图像的高度重合证明了采样数据没有丢失关键的拓扑结构。</a:t>
            </a:r>
            <a:endParaRPr lang="en-US" altLang="zh-CN"/>
          </a:p>
          <a:p>
            <a:pPr marL="285750" indent="-285750" fontAlgn="auto">
              <a:lnSpc>
                <a:spcPct val="110000"/>
              </a:lnSpc>
              <a:buFont typeface="Arial" panose="020B0604020202020204" pitchFamily="34" charset="0"/>
              <a:buChar char="•"/>
            </a:pPr>
            <a:r>
              <a:rPr lang="zh-CN" altLang="en-US" b="1"/>
              <a:t>隐式清洗：</a:t>
            </a:r>
            <a:r>
              <a:rPr lang="en-US" altLang="zh-CN"/>
              <a:t> </a:t>
            </a:r>
            <a:r>
              <a:rPr lang="zh-CN" altLang="en-US"/>
              <a:t>剔除的</a:t>
            </a:r>
            <a:r>
              <a:rPr lang="en-US" altLang="zh-CN"/>
              <a:t> 40% </a:t>
            </a:r>
            <a:r>
              <a:rPr lang="zh-CN" altLang="en-US"/>
              <a:t>数据多为高度重复的冗余项或边缘噪声，采样过程起到了类似</a:t>
            </a:r>
            <a:r>
              <a:rPr lang="en-US" altLang="zh-CN"/>
              <a:t>“</a:t>
            </a:r>
            <a:r>
              <a:rPr lang="zh-CN" altLang="en-US"/>
              <a:t>正则化</a:t>
            </a:r>
            <a:r>
              <a:rPr lang="en-US" altLang="zh-CN"/>
              <a:t>”</a:t>
            </a:r>
            <a:r>
              <a:rPr lang="zh-CN" altLang="en-US"/>
              <a:t>的作用，防止模型对非本质特征过拟合。</a:t>
            </a:r>
            <a:endParaRPr lang="zh-CN" altLang="en-US"/>
          </a:p>
        </p:txBody>
      </p:sp>
      <p:sp>
        <p:nvSpPr>
          <p:cNvPr id="4" name="文本框 3"/>
          <p:cNvSpPr txBox="1"/>
          <p:nvPr/>
        </p:nvSpPr>
        <p:spPr>
          <a:xfrm>
            <a:off x="7045960" y="1952625"/>
            <a:ext cx="4064000" cy="1476375"/>
          </a:xfrm>
          <a:prstGeom prst="rect">
            <a:avLst/>
          </a:prstGeom>
          <a:noFill/>
        </p:spPr>
        <p:txBody>
          <a:bodyPr wrap="square" rtlCol="0">
            <a:spAutoFit/>
          </a:bodyPr>
          <a:p>
            <a:r>
              <a:rPr lang="zh-CN" altLang="en-US"/>
              <a:t>全量</a:t>
            </a:r>
            <a:r>
              <a:rPr lang="en-US" altLang="zh-CN"/>
              <a:t> (100%)</a:t>
            </a:r>
            <a:r>
              <a:rPr lang="zh-CN" altLang="en-US"/>
              <a:t>：</a:t>
            </a:r>
            <a:r>
              <a:rPr lang="en-US" altLang="zh-CN"/>
              <a:t> </a:t>
            </a:r>
            <a:r>
              <a:rPr lang="zh-CN" altLang="en-US"/>
              <a:t>包含大量重复样本，如同一</a:t>
            </a:r>
            <a:r>
              <a:rPr lang="en-US" altLang="zh-CN"/>
              <a:t> DDoS </a:t>
            </a:r>
            <a:r>
              <a:rPr lang="zh-CN" altLang="en-US"/>
              <a:t>攻击的数万个相似包。</a:t>
            </a:r>
            <a:endParaRPr lang="zh-CN" altLang="en-US"/>
          </a:p>
          <a:p>
            <a:endParaRPr lang="en-US" altLang="zh-CN"/>
          </a:p>
          <a:p>
            <a:r>
              <a:rPr lang="zh-CN" altLang="en-US"/>
              <a:t>采样</a:t>
            </a:r>
            <a:r>
              <a:rPr lang="en-US" altLang="zh-CN"/>
              <a:t> (60%)</a:t>
            </a:r>
            <a:r>
              <a:rPr lang="zh-CN" altLang="en-US"/>
              <a:t>：</a:t>
            </a:r>
            <a:r>
              <a:rPr lang="en-US" altLang="zh-CN"/>
              <a:t> </a:t>
            </a:r>
            <a:r>
              <a:rPr lang="zh-CN" altLang="en-US"/>
              <a:t>去除冗余，保留核心支持向量。</a:t>
            </a:r>
            <a:endParaRPr lang="zh-CN" altLang="en-US"/>
          </a:p>
        </p:txBody>
      </p:sp>
      <p:sp>
        <p:nvSpPr>
          <p:cNvPr id="5" name="文本框 4"/>
          <p:cNvSpPr txBox="1"/>
          <p:nvPr/>
        </p:nvSpPr>
        <p:spPr>
          <a:xfrm>
            <a:off x="519430" y="949960"/>
            <a:ext cx="8147050" cy="460375"/>
          </a:xfrm>
          <a:prstGeom prst="rect">
            <a:avLst/>
          </a:prstGeom>
          <a:noFill/>
        </p:spPr>
        <p:txBody>
          <a:bodyPr wrap="square" rtlCol="0">
            <a:spAutoFit/>
          </a:bodyPr>
          <a:p>
            <a:r>
              <a:rPr lang="zh-CN" altLang="en-US" sz="2400" b="1"/>
              <a:t>机理解析</a:t>
            </a:r>
            <a:r>
              <a:rPr lang="en-US" altLang="zh-CN" sz="2400" b="1"/>
              <a:t> I —— </a:t>
            </a:r>
            <a:r>
              <a:rPr lang="zh-CN" altLang="en-US" sz="2400" b="1">
                <a:sym typeface="+mn-ea"/>
              </a:rPr>
              <a:t>网络流量的特征冗余与流形覆盖</a:t>
            </a:r>
            <a:endParaRPr lang="zh-CN" altLang="en-US" sz="2400" b="1"/>
          </a:p>
        </p:txBody>
      </p:sp>
    </p:spTree>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58800"/>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五</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实验结果分析</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pic>
        <p:nvPicPr>
          <p:cNvPr id="2" name="图片 1"/>
          <p:cNvPicPr>
            <a:picLocks noChangeAspect="1"/>
          </p:cNvPicPr>
          <p:nvPr/>
        </p:nvPicPr>
        <p:blipFill>
          <a:blip r:embed="rId1"/>
          <a:stretch>
            <a:fillRect/>
          </a:stretch>
        </p:blipFill>
        <p:spPr>
          <a:xfrm>
            <a:off x="321310" y="1505585"/>
            <a:ext cx="6613525" cy="2849880"/>
          </a:xfrm>
          <a:prstGeom prst="rect">
            <a:avLst/>
          </a:prstGeom>
        </p:spPr>
      </p:pic>
      <p:pic>
        <p:nvPicPr>
          <p:cNvPr id="5" name="图片 4" descr="图1 比例60"/>
          <p:cNvPicPr>
            <a:picLocks noChangeAspect="1"/>
          </p:cNvPicPr>
          <p:nvPr/>
        </p:nvPicPr>
        <p:blipFill>
          <a:blip r:embed="rId2"/>
          <a:stretch>
            <a:fillRect/>
          </a:stretch>
        </p:blipFill>
        <p:spPr>
          <a:xfrm>
            <a:off x="6934835" y="1505585"/>
            <a:ext cx="4748530" cy="2849880"/>
          </a:xfrm>
          <a:prstGeom prst="rect">
            <a:avLst/>
          </a:prstGeom>
        </p:spPr>
      </p:pic>
      <p:sp>
        <p:nvSpPr>
          <p:cNvPr id="3" name="文本框 2"/>
          <p:cNvSpPr txBox="1"/>
          <p:nvPr/>
        </p:nvSpPr>
        <p:spPr>
          <a:xfrm>
            <a:off x="558800" y="4749165"/>
            <a:ext cx="10175875" cy="1614170"/>
          </a:xfrm>
          <a:prstGeom prst="rect">
            <a:avLst/>
          </a:prstGeom>
          <a:noFill/>
        </p:spPr>
        <p:txBody>
          <a:bodyPr wrap="square" rtlCol="0">
            <a:spAutoFit/>
          </a:bodyPr>
          <a:p>
            <a:pPr marL="285750" indent="-285750" fontAlgn="auto">
              <a:lnSpc>
                <a:spcPct val="110000"/>
              </a:lnSpc>
              <a:buFont typeface="Arial" panose="020B0604020202020204" pitchFamily="34" charset="0"/>
              <a:buChar char="•"/>
            </a:pPr>
            <a:r>
              <a:rPr lang="zh-CN" altLang="en-US" b="1"/>
              <a:t>单类隔离机制</a:t>
            </a:r>
            <a:r>
              <a:rPr lang="en-US" altLang="zh-CN" b="1"/>
              <a:t>:</a:t>
            </a:r>
            <a:r>
              <a:rPr lang="en-US" altLang="zh-CN"/>
              <a:t> Trident </a:t>
            </a:r>
            <a:r>
              <a:rPr lang="zh-CN" altLang="en-US"/>
              <a:t>为每个类维护独立的</a:t>
            </a:r>
            <a:r>
              <a:rPr lang="en-US" altLang="zh-CN"/>
              <a:t> Learner</a:t>
            </a:r>
            <a:r>
              <a:rPr lang="zh-CN" altLang="en-US"/>
              <a:t>（如图</a:t>
            </a:r>
            <a:r>
              <a:rPr lang="en-US" altLang="zh-CN"/>
              <a:t> Figure 2(b) </a:t>
            </a:r>
            <a:r>
              <a:rPr lang="zh-CN" altLang="en-US"/>
              <a:t>所示），这种</a:t>
            </a:r>
            <a:r>
              <a:rPr lang="en-US" altLang="zh-CN"/>
              <a:t>“</a:t>
            </a:r>
            <a:r>
              <a:rPr lang="zh-CN" altLang="en-US"/>
              <a:t>分而治之</a:t>
            </a:r>
            <a:r>
              <a:rPr lang="en-US" altLang="zh-CN"/>
              <a:t>”</a:t>
            </a:r>
            <a:r>
              <a:rPr lang="zh-CN" altLang="en-US"/>
              <a:t>的架构天然降低了新旧知识间的干扰</a:t>
            </a:r>
            <a:r>
              <a:rPr lang="en-US" altLang="zh-CN"/>
              <a:t> </a:t>
            </a:r>
            <a:r>
              <a:rPr lang="zh-CN" altLang="en-US"/>
              <a:t>。</a:t>
            </a:r>
            <a:endParaRPr lang="en-US" altLang="zh-CN"/>
          </a:p>
          <a:p>
            <a:pPr marL="285750" indent="-285750" fontAlgn="auto">
              <a:lnSpc>
                <a:spcPct val="110000"/>
              </a:lnSpc>
              <a:buFont typeface="Arial" panose="020B0604020202020204" pitchFamily="34" charset="0"/>
              <a:buChar char="•"/>
            </a:pPr>
            <a:r>
              <a:rPr lang="zh-CN" altLang="en-US" b="1"/>
              <a:t>有效的梯度约束</a:t>
            </a:r>
            <a:r>
              <a:rPr lang="en-US" altLang="zh-CN" b="1"/>
              <a:t>: </a:t>
            </a:r>
            <a:r>
              <a:rPr lang="zh-CN" altLang="en-US"/>
              <a:t>即使只使用</a:t>
            </a:r>
            <a:r>
              <a:rPr lang="en-US" altLang="zh-CN"/>
              <a:t> 60% </a:t>
            </a:r>
            <a:r>
              <a:rPr lang="zh-CN" altLang="en-US"/>
              <a:t>的历史数据建立</a:t>
            </a:r>
            <a:r>
              <a:rPr lang="en-US" altLang="zh-CN"/>
              <a:t> Replay Buffer</a:t>
            </a:r>
            <a:r>
              <a:rPr lang="zh-CN" altLang="en-US"/>
              <a:t>，这些数据产生的梯度依然足以约束模型参数，使其不偏离原有的良性空间。</a:t>
            </a:r>
            <a:endParaRPr lang="en-US" altLang="zh-CN"/>
          </a:p>
          <a:p>
            <a:pPr marL="285750" indent="-285750" fontAlgn="auto">
              <a:lnSpc>
                <a:spcPct val="110000"/>
              </a:lnSpc>
              <a:buFont typeface="Arial" panose="020B0604020202020204" pitchFamily="34" charset="0"/>
              <a:buChar char="•"/>
            </a:pPr>
            <a:r>
              <a:rPr lang="zh-CN" altLang="en-US" b="1"/>
              <a:t>结论：</a:t>
            </a:r>
            <a:r>
              <a:rPr lang="zh-CN" altLang="en-US"/>
              <a:t>实验验证了</a:t>
            </a:r>
            <a:r>
              <a:rPr lang="en-US" altLang="zh-CN"/>
              <a:t>“60% </a:t>
            </a:r>
            <a:r>
              <a:rPr lang="zh-CN" altLang="en-US"/>
              <a:t>采样</a:t>
            </a:r>
            <a:r>
              <a:rPr lang="en-US" altLang="zh-CN"/>
              <a:t>”</a:t>
            </a:r>
            <a:r>
              <a:rPr lang="zh-CN" altLang="en-US"/>
              <a:t>是克服灾难性遗忘的最小充分数据集。</a:t>
            </a:r>
            <a:endParaRPr lang="zh-CN" altLang="en-US"/>
          </a:p>
        </p:txBody>
      </p:sp>
      <p:sp>
        <p:nvSpPr>
          <p:cNvPr id="4" name="文本框 3"/>
          <p:cNvSpPr txBox="1"/>
          <p:nvPr/>
        </p:nvSpPr>
        <p:spPr>
          <a:xfrm>
            <a:off x="519430" y="949960"/>
            <a:ext cx="8147050" cy="460375"/>
          </a:xfrm>
          <a:prstGeom prst="rect">
            <a:avLst/>
          </a:prstGeom>
          <a:noFill/>
        </p:spPr>
        <p:txBody>
          <a:bodyPr wrap="square" rtlCol="0">
            <a:spAutoFit/>
          </a:bodyPr>
          <a:p>
            <a:r>
              <a:rPr lang="zh-CN" altLang="en-US" sz="2400" b="1"/>
              <a:t>机理解析</a:t>
            </a:r>
            <a:r>
              <a:rPr lang="en-US" altLang="zh-CN" sz="2400" b="1"/>
              <a:t> </a:t>
            </a:r>
            <a:r>
              <a:rPr lang="en-US" altLang="zh-CN" sz="2400" b="1">
                <a:sym typeface="+mn-ea"/>
              </a:rPr>
              <a:t>II</a:t>
            </a:r>
            <a:r>
              <a:rPr lang="en-US" altLang="zh-CN" sz="2400" b="1"/>
              <a:t> —— </a:t>
            </a:r>
            <a:r>
              <a:rPr lang="zh-CN" altLang="en-US" sz="2400" b="1">
                <a:sym typeface="+mn-ea"/>
              </a:rPr>
              <a:t>轻量化采样下的</a:t>
            </a:r>
            <a:r>
              <a:rPr lang="en-US" altLang="zh-CN" sz="2400" b="1">
                <a:sym typeface="+mn-ea"/>
              </a:rPr>
              <a:t>“</a:t>
            </a:r>
            <a:r>
              <a:rPr lang="zh-CN" altLang="en-US" sz="2400" b="1">
                <a:sym typeface="+mn-ea"/>
              </a:rPr>
              <a:t>记忆重演</a:t>
            </a:r>
            <a:r>
              <a:rPr lang="en-US" altLang="zh-CN" sz="2400" b="1">
                <a:sym typeface="+mn-ea"/>
              </a:rPr>
              <a:t>”</a:t>
            </a:r>
            <a:endParaRPr lang="zh-CN" altLang="en-US" sz="2400" b="1"/>
          </a:p>
        </p:txBody>
      </p:sp>
    </p:spTree>
  </p:cSld>
  <p:clrMapOvr>
    <a:masterClrMapping/>
  </p:clrMapOvr>
  <p:transition>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58800"/>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五</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实验结果分析</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sp>
        <p:nvSpPr>
          <p:cNvPr id="4" name="文本框 3"/>
          <p:cNvSpPr txBox="1"/>
          <p:nvPr/>
        </p:nvSpPr>
        <p:spPr>
          <a:xfrm>
            <a:off x="519430" y="949960"/>
            <a:ext cx="8147050" cy="460375"/>
          </a:xfrm>
          <a:prstGeom prst="rect">
            <a:avLst/>
          </a:prstGeom>
          <a:noFill/>
        </p:spPr>
        <p:txBody>
          <a:bodyPr wrap="square" rtlCol="0">
            <a:spAutoFit/>
          </a:bodyPr>
          <a:p>
            <a:r>
              <a:rPr lang="zh-CN" altLang="en-US" sz="2400" b="1"/>
              <a:t>效率评估：计算资源与检测精度的帕累托优化</a:t>
            </a:r>
            <a:endParaRPr lang="zh-CN" altLang="en-US" sz="2400" b="1"/>
          </a:p>
        </p:txBody>
      </p:sp>
      <p:sp>
        <p:nvSpPr>
          <p:cNvPr id="2" name="文本框 1"/>
          <p:cNvSpPr txBox="1"/>
          <p:nvPr/>
        </p:nvSpPr>
        <p:spPr>
          <a:xfrm>
            <a:off x="949325" y="4438650"/>
            <a:ext cx="9103995" cy="1309370"/>
          </a:xfrm>
          <a:prstGeom prst="rect">
            <a:avLst/>
          </a:prstGeom>
          <a:noFill/>
        </p:spPr>
        <p:txBody>
          <a:bodyPr wrap="square" rtlCol="0">
            <a:spAutoFit/>
          </a:bodyPr>
          <a:p>
            <a:pPr marL="285750" indent="-285750" fontAlgn="auto">
              <a:lnSpc>
                <a:spcPct val="110000"/>
              </a:lnSpc>
              <a:buFont typeface="Arial" panose="020B0604020202020204" pitchFamily="34" charset="0"/>
              <a:buChar char="•"/>
            </a:pPr>
            <a:r>
              <a:rPr lang="zh-CN" altLang="en-US" b="1"/>
              <a:t>帕累托改进</a:t>
            </a:r>
            <a:r>
              <a:rPr lang="en-US" altLang="zh-CN" b="1"/>
              <a:t>: </a:t>
            </a:r>
            <a:r>
              <a:rPr lang="zh-CN" altLang="en-US"/>
              <a:t>我们在精度保持</a:t>
            </a:r>
            <a:r>
              <a:rPr lang="en-US" altLang="zh-CN"/>
              <a:t> 0.99</a:t>
            </a:r>
            <a:r>
              <a:rPr lang="zh-CN" altLang="en-US"/>
              <a:t>的情况下，让资源开销变好了。这是工程优化的理想状态。</a:t>
            </a:r>
            <a:endParaRPr lang="en-US" altLang="zh-CN"/>
          </a:p>
          <a:p>
            <a:pPr marL="285750" indent="-285750" fontAlgn="auto">
              <a:lnSpc>
                <a:spcPct val="110000"/>
              </a:lnSpc>
              <a:buFont typeface="Arial" panose="020B0604020202020204" pitchFamily="34" charset="0"/>
              <a:buChar char="•"/>
            </a:pPr>
            <a:r>
              <a:rPr lang="zh-CN" altLang="en-US" b="1"/>
              <a:t>线性收益：</a:t>
            </a:r>
            <a:r>
              <a:rPr lang="zh-CN" altLang="en-US"/>
              <a:t>在深度学习的反向传播中，计算量与样本量呈线性相关。减少</a:t>
            </a:r>
            <a:r>
              <a:rPr lang="en-US" altLang="zh-CN"/>
              <a:t> 40% </a:t>
            </a:r>
            <a:r>
              <a:rPr lang="zh-CN" altLang="en-US"/>
              <a:t>数据直接意味着减少约</a:t>
            </a:r>
            <a:r>
              <a:rPr lang="en-US" altLang="zh-CN"/>
              <a:t> 40% </a:t>
            </a:r>
            <a:r>
              <a:rPr lang="zh-CN" altLang="en-US"/>
              <a:t>的</a:t>
            </a:r>
            <a:r>
              <a:rPr lang="en-US" altLang="zh-CN"/>
              <a:t> GPU </a:t>
            </a:r>
            <a:r>
              <a:rPr lang="zh-CN" altLang="en-US"/>
              <a:t>计算时间和能耗。</a:t>
            </a:r>
            <a:endParaRPr lang="zh-CN" altLang="en-US"/>
          </a:p>
        </p:txBody>
      </p:sp>
      <p:graphicFrame>
        <p:nvGraphicFramePr>
          <p:cNvPr id="13" name="表格 12"/>
          <p:cNvGraphicFramePr/>
          <p:nvPr/>
        </p:nvGraphicFramePr>
        <p:xfrm>
          <a:off x="1940560" y="1737360"/>
          <a:ext cx="8025130" cy="2266950"/>
        </p:xfrm>
        <a:graphic>
          <a:graphicData uri="http://schemas.openxmlformats.org/drawingml/2006/table">
            <a:tbl>
              <a:tblPr firstRow="1">
                <a:tableStyleId>{3BB03AA3-6DBD-4080-83BB-A08EE3DC176C}</a:tableStyleId>
              </a:tblPr>
              <a:tblGrid>
                <a:gridCol w="1626235"/>
                <a:gridCol w="2328545"/>
                <a:gridCol w="2220595"/>
                <a:gridCol w="1849755"/>
              </a:tblGrid>
              <a:tr h="483870">
                <a:tc>
                  <a:txBody>
                    <a:bodyPr/>
                    <a:p>
                      <a:pPr>
                        <a:buNone/>
                      </a:pPr>
                      <a:r>
                        <a:rPr lang="zh-CN" altLang="en-US">
                          <a:latin typeface="微软雅黑" panose="020B0503020204020204" charset="-122"/>
                          <a:ea typeface="微软雅黑" panose="020B0503020204020204" charset="-122"/>
                        </a:rPr>
                        <a:t>评估维度</a:t>
                      </a:r>
                      <a:endParaRPr lang="zh-CN" altLang="en-US">
                        <a:latin typeface="微软雅黑" panose="020B0503020204020204" charset="-122"/>
                        <a:ea typeface="微软雅黑" panose="020B0503020204020204" charset="-122"/>
                      </a:endParaRPr>
                    </a:p>
                  </a:txBody>
                  <a:tcPr/>
                </a:tc>
                <a:tc>
                  <a:txBody>
                    <a:bodyPr/>
                    <a:p>
                      <a:pPr>
                        <a:buNone/>
                      </a:pPr>
                      <a:r>
                        <a:rPr lang="en-US" altLang="zh-CN" sz="1800">
                          <a:latin typeface="微软雅黑" panose="020B0503020204020204" charset="-122"/>
                          <a:ea typeface="微软雅黑" panose="020B0503020204020204" charset="-122"/>
                          <a:cs typeface="微软雅黑" panose="020B0503020204020204" charset="-122"/>
                          <a:sym typeface="+mn-ea"/>
                        </a:rPr>
                        <a:t>Baseline (</a:t>
                      </a:r>
                      <a:r>
                        <a:rPr lang="zh-CN" altLang="en-US" sz="1800">
                          <a:latin typeface="微软雅黑" panose="020B0503020204020204" charset="-122"/>
                          <a:ea typeface="微软雅黑" panose="020B0503020204020204" charset="-122"/>
                          <a:cs typeface="微软雅黑" panose="020B0503020204020204" charset="-122"/>
                          <a:sym typeface="+mn-ea"/>
                        </a:rPr>
                        <a:t>全量更新</a:t>
                      </a:r>
                      <a:r>
                        <a:rPr lang="en-US" altLang="zh-CN" sz="1800">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1800">
                          <a:latin typeface="微软雅黑" panose="020B0503020204020204" charset="-122"/>
                          <a:ea typeface="微软雅黑" panose="020B0503020204020204" charset="-122"/>
                          <a:cs typeface="微软雅黑" panose="020B0503020204020204" charset="-122"/>
                          <a:sym typeface="+mn-ea"/>
                        </a:rPr>
                        <a:t>Ours (60% </a:t>
                      </a:r>
                      <a:r>
                        <a:rPr lang="zh-CN" altLang="en-US" sz="1800">
                          <a:latin typeface="微软雅黑" panose="020B0503020204020204" charset="-122"/>
                          <a:ea typeface="微软雅黑" panose="020B0503020204020204" charset="-122"/>
                          <a:cs typeface="微软雅黑" panose="020B0503020204020204" charset="-122"/>
                          <a:sym typeface="+mn-ea"/>
                        </a:rPr>
                        <a:t>轻量化</a:t>
                      </a:r>
                      <a:r>
                        <a:rPr lang="en-US" altLang="zh-CN" sz="1800">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endParaRPr>
                    </a:p>
                  </a:txBody>
                  <a:tcPr/>
                </a:tc>
                <a:tc>
                  <a:txBody>
                    <a:bodyPr/>
                    <a:p>
                      <a:pPr>
                        <a:buNone/>
                      </a:pPr>
                      <a:r>
                        <a:rPr lang="zh-CN" altLang="en-US" sz="1800">
                          <a:latin typeface="微软雅黑" panose="020B0503020204020204" charset="-122"/>
                          <a:ea typeface="微软雅黑" panose="020B0503020204020204" charset="-122"/>
                          <a:sym typeface="+mn-ea"/>
                        </a:rPr>
                        <a:t>收益</a:t>
                      </a:r>
                      <a:endParaRPr lang="zh-CN" altLang="en-US" sz="1800">
                        <a:latin typeface="微软雅黑" panose="020B0503020204020204" charset="-122"/>
                        <a:ea typeface="微软雅黑" panose="020B0503020204020204" charset="-122"/>
                        <a:sym typeface="+mn-ea"/>
                      </a:endParaRPr>
                    </a:p>
                  </a:txBody>
                  <a:tcPr/>
                </a:tc>
              </a:tr>
              <a:tr h="522605">
                <a:tc>
                  <a:txBody>
                    <a:bodyPr/>
                    <a:p>
                      <a:pPr>
                        <a:buNone/>
                      </a:pPr>
                      <a:r>
                        <a:rPr lang="zh-CN" altLang="en-US" sz="1800">
                          <a:latin typeface="微软雅黑" panose="020B0503020204020204" charset="-122"/>
                          <a:ea typeface="微软雅黑" panose="020B0503020204020204" charset="-122"/>
                          <a:sym typeface="+mn-ea"/>
                        </a:rPr>
                        <a:t>检测精度</a:t>
                      </a:r>
                      <a:endParaRPr lang="zh-CN" altLang="en-US"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99%</a:t>
                      </a:r>
                      <a:endParaRPr lang="en-US" altLang="zh-CN"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99%</a:t>
                      </a:r>
                      <a:endParaRPr lang="zh-CN" altLang="en-US" sz="1800">
                        <a:latin typeface="微软雅黑" panose="020B0503020204020204" charset="-122"/>
                        <a:ea typeface="微软雅黑" panose="020B0503020204020204" charset="-122"/>
                      </a:endParaRPr>
                    </a:p>
                    <a:p>
                      <a:pPr>
                        <a:buNone/>
                      </a:pPr>
                      <a:endParaRPr lang="zh-CN" altLang="en-US">
                        <a:latin typeface="微软雅黑" panose="020B0503020204020204" charset="-122"/>
                        <a:ea typeface="微软雅黑" panose="020B0503020204020204" charset="-122"/>
                      </a:endParaRPr>
                    </a:p>
                  </a:txBody>
                  <a:tcPr/>
                </a:tc>
                <a:tc>
                  <a:txBody>
                    <a:bodyPr/>
                    <a:p>
                      <a:pPr>
                        <a:buNone/>
                      </a:pPr>
                      <a:r>
                        <a:rPr lang="zh-CN" altLang="en-US">
                          <a:latin typeface="微软雅黑" panose="020B0503020204020204" charset="-122"/>
                          <a:ea typeface="微软雅黑" panose="020B0503020204020204" charset="-122"/>
                        </a:rPr>
                        <a:t>无损</a:t>
                      </a:r>
                      <a:endParaRPr lang="zh-CN" altLang="en-US">
                        <a:latin typeface="微软雅黑" panose="020B0503020204020204" charset="-122"/>
                        <a:ea typeface="微软雅黑" panose="020B0503020204020204" charset="-122"/>
                      </a:endParaRPr>
                    </a:p>
                  </a:txBody>
                  <a:tcPr/>
                </a:tc>
              </a:tr>
              <a:tr h="381000">
                <a:tc>
                  <a:txBody>
                    <a:bodyPr/>
                    <a:p>
                      <a:pPr>
                        <a:buNone/>
                      </a:pPr>
                      <a:r>
                        <a:rPr lang="zh-CN" altLang="en-US" sz="1800">
                          <a:latin typeface="微软雅黑" panose="020B0503020204020204" charset="-122"/>
                          <a:ea typeface="微软雅黑" panose="020B0503020204020204" charset="-122"/>
                          <a:sym typeface="+mn-ea"/>
                        </a:rPr>
                        <a:t>训练样本量</a:t>
                      </a:r>
                      <a:endParaRPr lang="zh-CN" altLang="en-US"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100%</a:t>
                      </a:r>
                      <a:endParaRPr lang="en-US" altLang="zh-CN"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60%</a:t>
                      </a:r>
                      <a:endParaRPr lang="en-US" altLang="zh-CN"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 40%</a:t>
                      </a:r>
                      <a:endParaRPr lang="en-US" altLang="zh-CN" sz="1800">
                        <a:latin typeface="微软雅黑" panose="020B0503020204020204" charset="-122"/>
                        <a:ea typeface="微软雅黑" panose="020B0503020204020204" charset="-122"/>
                        <a:sym typeface="+mn-ea"/>
                      </a:endParaRPr>
                    </a:p>
                  </a:txBody>
                  <a:tcPr/>
                </a:tc>
              </a:tr>
              <a:tr h="381000">
                <a:tc>
                  <a:txBody>
                    <a:bodyPr/>
                    <a:p>
                      <a:pPr>
                        <a:buNone/>
                      </a:pPr>
                      <a:r>
                        <a:rPr lang="zh-CN" altLang="en-US" sz="1800">
                          <a:latin typeface="微软雅黑" panose="020B0503020204020204" charset="-122"/>
                          <a:ea typeface="微软雅黑" panose="020B0503020204020204" charset="-122"/>
                          <a:sym typeface="+mn-ea"/>
                        </a:rPr>
                        <a:t>存储开销</a:t>
                      </a:r>
                      <a:endParaRPr lang="zh-CN" altLang="en-US"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High (Full Buffer)</a:t>
                      </a:r>
                      <a:endParaRPr lang="en-US" altLang="zh-CN"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Low (0.6x Buffer)</a:t>
                      </a:r>
                      <a:endParaRPr lang="en-US" altLang="zh-CN"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 40%</a:t>
                      </a:r>
                      <a:endParaRPr lang="en-US" altLang="zh-CN" sz="1800">
                        <a:latin typeface="微软雅黑" panose="020B0503020204020204" charset="-122"/>
                        <a:ea typeface="微软雅黑" panose="020B0503020204020204" charset="-122"/>
                        <a:sym typeface="+mn-ea"/>
                      </a:endParaRPr>
                    </a:p>
                  </a:txBody>
                  <a:tcPr/>
                </a:tc>
              </a:tr>
              <a:tr h="381000">
                <a:tc>
                  <a:txBody>
                    <a:bodyPr/>
                    <a:p>
                      <a:pPr>
                        <a:buNone/>
                      </a:pPr>
                      <a:r>
                        <a:rPr lang="zh-CN" altLang="en-US" sz="1800">
                          <a:latin typeface="微软雅黑" panose="020B0503020204020204" charset="-122"/>
                          <a:ea typeface="微软雅黑" panose="020B0503020204020204" charset="-122"/>
                          <a:sym typeface="+mn-ea"/>
                        </a:rPr>
                        <a:t>更新耗时</a:t>
                      </a:r>
                      <a:endParaRPr lang="zh-CN" altLang="en-US" sz="1800">
                        <a:latin typeface="微软雅黑" panose="020B0503020204020204" charset="-122"/>
                        <a:ea typeface="微软雅黑" panose="020B0503020204020204" charset="-122"/>
                        <a:sym typeface="+mn-ea"/>
                      </a:endParaRPr>
                    </a:p>
                  </a:txBody>
                  <a:tcPr/>
                </a:tc>
                <a:tc>
                  <a:txBody>
                    <a:bodyPr/>
                    <a:p>
                      <a:pPr>
                        <a:buNone/>
                      </a:pPr>
                      <a:r>
                        <a:rPr lang="en-US" altLang="zh-CN" sz="1800">
                          <a:latin typeface="微软雅黑" panose="020B0503020204020204" charset="-122"/>
                          <a:ea typeface="微软雅黑" panose="020B0503020204020204" charset="-122"/>
                          <a:sym typeface="+mn-ea"/>
                        </a:rPr>
                        <a:t>T</a:t>
                      </a:r>
                      <a:r>
                        <a:rPr lang="en-US" altLang="zh-CN" sz="1800" baseline="-25000">
                          <a:latin typeface="微软雅黑" panose="020B0503020204020204" charset="-122"/>
                          <a:ea typeface="微软雅黑" panose="020B0503020204020204" charset="-122"/>
                          <a:sym typeface="+mn-ea"/>
                        </a:rPr>
                        <a:t>base​</a:t>
                      </a:r>
                      <a:endParaRPr lang="zh-CN" altLang="en-US">
                        <a:latin typeface="微软雅黑" panose="020B0503020204020204" charset="-122"/>
                        <a:ea typeface="微软雅黑" panose="020B0503020204020204" charset="-122"/>
                      </a:endParaRPr>
                    </a:p>
                  </a:txBody>
                  <a:tcPr/>
                </a:tc>
                <a:tc>
                  <a:txBody>
                    <a:bodyPr/>
                    <a:p>
                      <a:pPr>
                        <a:buNone/>
                      </a:pPr>
                      <a:r>
                        <a:rPr lang="en-US" altLang="zh-CN" sz="1800">
                          <a:latin typeface="微软雅黑" panose="020B0503020204020204" charset="-122"/>
                          <a:ea typeface="微软雅黑" panose="020B0503020204020204" charset="-122"/>
                          <a:cs typeface="微软雅黑" panose="020B0503020204020204" charset="-122"/>
                          <a:sym typeface="+mn-ea"/>
                        </a:rPr>
                        <a:t>≈0.6×T</a:t>
                      </a:r>
                      <a:r>
                        <a:rPr lang="en-US" altLang="zh-CN" sz="1800" baseline="-25000">
                          <a:latin typeface="微软雅黑" panose="020B0503020204020204" charset="-122"/>
                          <a:ea typeface="微软雅黑" panose="020B0503020204020204" charset="-122"/>
                          <a:cs typeface="微软雅黑" panose="020B0503020204020204" charset="-122"/>
                          <a:sym typeface="+mn-ea"/>
                        </a:rPr>
                        <a:t>base​</a:t>
                      </a:r>
                      <a:endParaRPr lang="zh-CN" altLang="en-US">
                        <a:latin typeface="微软雅黑" panose="020B0503020204020204" charset="-122"/>
                        <a:ea typeface="微软雅黑" panose="020B0503020204020204" charset="-122"/>
                        <a:cs typeface="微软雅黑" panose="020B0503020204020204" charset="-122"/>
                      </a:endParaRPr>
                    </a:p>
                  </a:txBody>
                  <a:tcPr/>
                </a:tc>
                <a:tc>
                  <a:txBody>
                    <a:bodyPr/>
                    <a:p>
                      <a:pPr>
                        <a:buNone/>
                      </a:pPr>
                      <a:r>
                        <a:rPr lang="en-US" altLang="zh-CN" sz="1800">
                          <a:latin typeface="微软雅黑" panose="020B0503020204020204" charset="-122"/>
                          <a:ea typeface="微软雅黑" panose="020B0503020204020204" charset="-122"/>
                          <a:cs typeface="微软雅黑" panose="020B0503020204020204" charset="-122"/>
                          <a:sym typeface="+mn-ea"/>
                        </a:rPr>
                        <a:t>↓ 40% (</a:t>
                      </a:r>
                      <a:r>
                        <a:rPr lang="zh-CN" altLang="en-US" sz="1800">
                          <a:latin typeface="微软雅黑" panose="020B0503020204020204" charset="-122"/>
                          <a:ea typeface="微软雅黑" panose="020B0503020204020204" charset="-122"/>
                          <a:cs typeface="微软雅黑" panose="020B0503020204020204" charset="-122"/>
                          <a:sym typeface="+mn-ea"/>
                        </a:rPr>
                        <a:t>预估</a:t>
                      </a:r>
                      <a:r>
                        <a:rPr lang="en-US" altLang="zh-CN" sz="1800">
                          <a:latin typeface="微软雅黑" panose="020B0503020204020204" charset="-122"/>
                          <a:ea typeface="微软雅黑" panose="020B0503020204020204" charset="-122"/>
                          <a:cs typeface="微软雅黑" panose="020B0503020204020204" charset="-122"/>
                          <a:sym typeface="+mn-ea"/>
                        </a:rPr>
                        <a:t>)</a:t>
                      </a:r>
                      <a:endParaRPr lang="zh-CN" altLang="en-US">
                        <a:latin typeface="微软雅黑" panose="020B0503020204020204" charset="-122"/>
                        <a:ea typeface="微软雅黑" panose="020B0503020204020204" charset="-122"/>
                        <a:cs typeface="微软雅黑" panose="020B0503020204020204" charset="-122"/>
                      </a:endParaRPr>
                    </a:p>
                  </a:txBody>
                  <a:tcPr/>
                </a:tc>
              </a:tr>
            </a:tbl>
          </a:graphicData>
        </a:graphic>
      </p:graphicFrame>
    </p:spTree>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58800"/>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五</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实验结果分析</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graphicFrame>
        <p:nvGraphicFramePr>
          <p:cNvPr id="3" name="表格 2"/>
          <p:cNvGraphicFramePr/>
          <p:nvPr/>
        </p:nvGraphicFramePr>
        <p:xfrm>
          <a:off x="862330" y="962660"/>
          <a:ext cx="11011535" cy="5283835"/>
        </p:xfrm>
        <a:graphic>
          <a:graphicData uri="http://schemas.openxmlformats.org/drawingml/2006/table">
            <a:tbl>
              <a:tblPr firstRow="1" bandRow="1">
                <a:tableStyleId>{5C22544A-7EE6-4342-B048-85BDC9FD1C3A}</a:tableStyleId>
              </a:tblPr>
              <a:tblGrid>
                <a:gridCol w="1462405"/>
                <a:gridCol w="4225925"/>
                <a:gridCol w="5323205"/>
              </a:tblGrid>
              <a:tr h="381000">
                <a:tc>
                  <a:txBody>
                    <a:bodyPr/>
                    <a:p>
                      <a:pPr algn="ctr">
                        <a:lnSpc>
                          <a:spcPct val="100000"/>
                        </a:lnSpc>
                        <a:buNone/>
                      </a:pPr>
                      <a:r>
                        <a:rPr lang="zh-CN" altLang="en-US" sz="2400"/>
                        <a:t>维度</a:t>
                      </a:r>
                      <a:endParaRPr lang="zh-CN" altLang="en-US" sz="2400"/>
                    </a:p>
                  </a:txBody>
                  <a:tcPr anchor="ctr" anchorCtr="0"/>
                </a:tc>
                <a:tc>
                  <a:txBody>
                    <a:bodyPr/>
                    <a:p>
                      <a:pPr algn="ctr">
                        <a:lnSpc>
                          <a:spcPct val="100000"/>
                        </a:lnSpc>
                        <a:buNone/>
                      </a:pPr>
                      <a:r>
                        <a:rPr lang="zh-CN" altLang="en-US" sz="2400"/>
                        <a:t>论文核心逻辑</a:t>
                      </a:r>
                      <a:endParaRPr lang="zh-CN" altLang="en-US" sz="2400"/>
                    </a:p>
                  </a:txBody>
                  <a:tcPr anchor="ctr" anchorCtr="0"/>
                </a:tc>
                <a:tc>
                  <a:txBody>
                    <a:bodyPr/>
                    <a:p>
                      <a:pPr algn="ctr">
                        <a:lnSpc>
                          <a:spcPct val="100000"/>
                        </a:lnSpc>
                        <a:buNone/>
                      </a:pPr>
                      <a:r>
                        <a:rPr lang="zh-CN" altLang="en-US" sz="2400"/>
                        <a:t>复现逻辑</a:t>
                      </a:r>
                      <a:endParaRPr lang="zh-CN" altLang="en-US" sz="2400"/>
                    </a:p>
                  </a:txBody>
                  <a:tcPr anchor="ctr" anchorCtr="0"/>
                </a:tc>
              </a:tr>
              <a:tr h="381000">
                <a:tc>
                  <a:txBody>
                    <a:bodyPr/>
                    <a:p>
                      <a:pPr algn="ctr">
                        <a:lnSpc>
                          <a:spcPct val="100000"/>
                        </a:lnSpc>
                        <a:buNone/>
                      </a:pPr>
                      <a:r>
                        <a:rPr lang="zh-CN" altLang="en-US" sz="2400"/>
                        <a:t>核心目标</a:t>
                      </a:r>
                      <a:endParaRPr lang="zh-CN" altLang="en-US" sz="2400"/>
                    </a:p>
                  </a:txBody>
                  <a:tcPr anchor="ctr" anchorCtr="0"/>
                </a:tc>
                <a:tc>
                  <a:txBody>
                    <a:bodyPr/>
                    <a:p>
                      <a:pPr algn="ctr">
                        <a:lnSpc>
                          <a:spcPct val="100000"/>
                        </a:lnSpc>
                        <a:buNone/>
                      </a:pPr>
                      <a:r>
                        <a:rPr lang="zh-CN" altLang="en-US" sz="2400"/>
                        <a:t>验证</a:t>
                      </a:r>
                      <a:r>
                        <a:rPr lang="en-US" altLang="zh-CN" sz="2400"/>
                        <a:t> Trident </a:t>
                      </a:r>
                      <a:r>
                        <a:rPr lang="zh-CN" altLang="en-US" sz="2400"/>
                        <a:t>在</a:t>
                      </a:r>
                      <a:r>
                        <a:rPr lang="en-US" altLang="zh-CN" sz="2400"/>
                        <a:t> “</a:t>
                      </a:r>
                      <a:r>
                        <a:rPr lang="zh-CN" altLang="en-US" sz="2400"/>
                        <a:t>增量更新</a:t>
                      </a:r>
                      <a:r>
                        <a:rPr lang="en-US" altLang="zh-CN" sz="2400"/>
                        <a:t> + </a:t>
                      </a:r>
                      <a:r>
                        <a:rPr lang="zh-CN" altLang="en-US" sz="2400"/>
                        <a:t>概念漂移</a:t>
                      </a:r>
                      <a:r>
                        <a:rPr lang="en-US" altLang="zh-CN" sz="2400"/>
                        <a:t>” </a:t>
                      </a:r>
                      <a:r>
                        <a:rPr lang="zh-CN" altLang="en-US" sz="2400"/>
                        <a:t>场景下的样本效率与工程实用性</a:t>
                      </a:r>
                      <a:endParaRPr lang="zh-CN" altLang="en-US" sz="2400"/>
                    </a:p>
                  </a:txBody>
                  <a:tcPr anchor="ctr" anchorCtr="0"/>
                </a:tc>
                <a:tc>
                  <a:txBody>
                    <a:bodyPr/>
                    <a:p>
                      <a:pPr algn="ctr">
                        <a:lnSpc>
                          <a:spcPct val="100000"/>
                        </a:lnSpc>
                        <a:buNone/>
                      </a:pPr>
                      <a:r>
                        <a:rPr lang="zh-CN" altLang="en-US" sz="2400"/>
                        <a:t>验证</a:t>
                      </a:r>
                      <a:r>
                        <a:rPr lang="en-US" altLang="zh-CN" sz="2400"/>
                        <a:t> Trident“</a:t>
                      </a:r>
                      <a:r>
                        <a:rPr lang="zh-CN" altLang="en-US" sz="2400"/>
                        <a:t>轻量化采样（</a:t>
                      </a:r>
                      <a:r>
                        <a:rPr lang="en-US" altLang="zh-CN" sz="2400"/>
                        <a:t>60%</a:t>
                      </a:r>
                      <a:r>
                        <a:rPr lang="zh-CN" altLang="en-US" sz="2400"/>
                        <a:t>）</a:t>
                      </a:r>
                      <a:r>
                        <a:rPr lang="en-US" altLang="zh-CN" sz="2400"/>
                        <a:t>” </a:t>
                      </a:r>
                      <a:r>
                        <a:rPr lang="zh-CN" altLang="en-US" sz="2400"/>
                        <a:t>的增量更新性能与资源优化价值</a:t>
                      </a:r>
                      <a:endParaRPr lang="zh-CN" altLang="en-US" sz="2400"/>
                    </a:p>
                  </a:txBody>
                  <a:tcPr anchor="ctr" anchorCtr="0"/>
                </a:tc>
              </a:tr>
              <a:tr h="381000">
                <a:tc>
                  <a:txBody>
                    <a:bodyPr/>
                    <a:p>
                      <a:pPr algn="ctr">
                        <a:lnSpc>
                          <a:spcPct val="100000"/>
                        </a:lnSpc>
                        <a:buNone/>
                      </a:pPr>
                      <a:r>
                        <a:rPr lang="zh-CN" altLang="en-US" sz="2400"/>
                        <a:t>关键假设</a:t>
                      </a:r>
                      <a:endParaRPr lang="zh-CN" altLang="en-US" sz="2400"/>
                    </a:p>
                  </a:txBody>
                  <a:tcPr anchor="ctr" anchorCtr="0"/>
                </a:tc>
                <a:tc>
                  <a:txBody>
                    <a:bodyPr/>
                    <a:p>
                      <a:pPr algn="ctr">
                        <a:lnSpc>
                          <a:spcPct val="100000"/>
                        </a:lnSpc>
                        <a:buNone/>
                      </a:pPr>
                      <a:r>
                        <a:rPr lang="zh-CN" altLang="en-US" sz="2400"/>
                        <a:t>网络流量存在特征冗余，合理采样可在降开销的同时保持精度</a:t>
                      </a:r>
                      <a:endParaRPr lang="zh-CN" altLang="en-US" sz="2400"/>
                    </a:p>
                  </a:txBody>
                  <a:tcPr anchor="ctr" anchorCtr="0"/>
                </a:tc>
                <a:tc>
                  <a:txBody>
                    <a:bodyPr/>
                    <a:p>
                      <a:pPr algn="ctr">
                        <a:lnSpc>
                          <a:spcPct val="100000"/>
                        </a:lnSpc>
                        <a:buNone/>
                      </a:pPr>
                      <a:r>
                        <a:rPr lang="en-US" altLang="zh-CN" sz="2400"/>
                        <a:t>60% </a:t>
                      </a:r>
                      <a:r>
                        <a:rPr lang="zh-CN" altLang="en-US" sz="2400"/>
                        <a:t>采样能保留核心流量特征，实现</a:t>
                      </a:r>
                      <a:r>
                        <a:rPr lang="en-US" altLang="zh-CN" sz="2400"/>
                        <a:t> “</a:t>
                      </a:r>
                      <a:r>
                        <a:rPr lang="zh-CN" altLang="en-US" sz="2400"/>
                        <a:t>精度无损</a:t>
                      </a:r>
                      <a:r>
                        <a:rPr lang="en-US" altLang="zh-CN" sz="2400"/>
                        <a:t> + </a:t>
                      </a:r>
                      <a:r>
                        <a:rPr lang="zh-CN" altLang="en-US" sz="2400"/>
                        <a:t>开销降低</a:t>
                      </a:r>
                      <a:r>
                        <a:rPr lang="en-US" altLang="zh-CN" sz="2400"/>
                        <a:t>”</a:t>
                      </a:r>
                      <a:endParaRPr lang="en-US" altLang="zh-CN" sz="2400"/>
                    </a:p>
                  </a:txBody>
                  <a:tcPr anchor="ctr" anchorCtr="0"/>
                </a:tc>
              </a:tr>
              <a:tr h="381000">
                <a:tc>
                  <a:txBody>
                    <a:bodyPr/>
                    <a:p>
                      <a:pPr algn="ctr">
                        <a:lnSpc>
                          <a:spcPct val="100000"/>
                        </a:lnSpc>
                        <a:buNone/>
                      </a:pPr>
                      <a:r>
                        <a:rPr lang="zh-CN" altLang="en-US" sz="2400"/>
                        <a:t>核心方法</a:t>
                      </a:r>
                      <a:endParaRPr lang="zh-CN" altLang="en-US" sz="2400"/>
                    </a:p>
                  </a:txBody>
                  <a:tcPr anchor="ctr" anchorCtr="0"/>
                </a:tc>
                <a:tc>
                  <a:txBody>
                    <a:bodyPr/>
                    <a:p>
                      <a:pPr algn="ctr">
                        <a:lnSpc>
                          <a:spcPct val="100000"/>
                        </a:lnSpc>
                        <a:buNone/>
                      </a:pPr>
                      <a:r>
                        <a:rPr lang="zh-CN" altLang="en-US" sz="2400"/>
                        <a:t>单类隔离架构</a:t>
                      </a:r>
                      <a:r>
                        <a:rPr lang="en-US" altLang="zh-CN" sz="2400"/>
                        <a:t> + Replay Buffer </a:t>
                      </a:r>
                      <a:r>
                        <a:rPr lang="zh-CN" altLang="en-US" sz="2400"/>
                        <a:t>梯度约束</a:t>
                      </a:r>
                      <a:r>
                        <a:rPr lang="en-US" altLang="zh-CN" sz="2400"/>
                        <a:t> + </a:t>
                      </a:r>
                      <a:r>
                        <a:rPr lang="zh-CN" altLang="en-US" sz="2400"/>
                        <a:t>轻量化采样策略</a:t>
                      </a:r>
                      <a:endParaRPr lang="zh-CN" altLang="en-US" sz="2400"/>
                    </a:p>
                  </a:txBody>
                  <a:tcPr anchor="ctr" anchorCtr="0"/>
                </a:tc>
                <a:tc>
                  <a:txBody>
                    <a:bodyPr/>
                    <a:p>
                      <a:pPr algn="ctr">
                        <a:lnSpc>
                          <a:spcPct val="100000"/>
                        </a:lnSpc>
                        <a:buNone/>
                      </a:pPr>
                      <a:r>
                        <a:rPr lang="zh-CN" altLang="en-US" sz="2400"/>
                        <a:t>沿用原框架核心模块，重点验证</a:t>
                      </a:r>
                      <a:r>
                        <a:rPr lang="en-US" altLang="zh-CN" sz="2400"/>
                        <a:t> 60% </a:t>
                      </a:r>
                      <a:r>
                        <a:rPr lang="zh-CN" altLang="en-US" sz="2400"/>
                        <a:t>采样率下的增量更新效果</a:t>
                      </a:r>
                      <a:endParaRPr lang="zh-CN" altLang="en-US" sz="2400"/>
                    </a:p>
                  </a:txBody>
                  <a:tcPr anchor="ctr" anchorCtr="0"/>
                </a:tc>
              </a:tr>
              <a:tr h="381000">
                <a:tc>
                  <a:txBody>
                    <a:bodyPr/>
                    <a:p>
                      <a:pPr algn="ctr">
                        <a:lnSpc>
                          <a:spcPct val="100000"/>
                        </a:lnSpc>
                        <a:buNone/>
                      </a:pPr>
                      <a:r>
                        <a:rPr lang="zh-CN" altLang="en-US" sz="2400"/>
                        <a:t>评估维度</a:t>
                      </a:r>
                      <a:endParaRPr lang="zh-CN" altLang="en-US" sz="2400"/>
                    </a:p>
                  </a:txBody>
                  <a:tcPr anchor="ctr" anchorCtr="0"/>
                </a:tc>
                <a:tc>
                  <a:txBody>
                    <a:bodyPr/>
                    <a:p>
                      <a:pPr algn="ctr">
                        <a:lnSpc>
                          <a:spcPct val="100000"/>
                        </a:lnSpc>
                        <a:buNone/>
                      </a:pPr>
                      <a:r>
                        <a:rPr lang="zh-CN" altLang="en-US" sz="2400"/>
                        <a:t>精度指标（</a:t>
                      </a:r>
                      <a:r>
                        <a:rPr lang="en-US" altLang="zh-CN" sz="2400"/>
                        <a:t>ACC</a:t>
                      </a:r>
                      <a:r>
                        <a:rPr lang="zh-CN" altLang="en-US" sz="2400"/>
                        <a:t>）</a:t>
                      </a:r>
                      <a:r>
                        <a:rPr lang="en-US" altLang="zh-CN" sz="2400"/>
                        <a:t>+ </a:t>
                      </a:r>
                      <a:r>
                        <a:rPr lang="zh-CN" altLang="en-US" sz="2400"/>
                        <a:t>资源开销（样本量、存储、耗时）</a:t>
                      </a:r>
                      <a:endParaRPr lang="zh-CN" altLang="en-US" sz="2400"/>
                    </a:p>
                  </a:txBody>
                  <a:tcPr anchor="ctr" anchorCtr="0"/>
                </a:tc>
                <a:tc>
                  <a:txBody>
                    <a:bodyPr/>
                    <a:p>
                      <a:pPr algn="ctr">
                        <a:lnSpc>
                          <a:spcPct val="100000"/>
                        </a:lnSpc>
                        <a:buNone/>
                      </a:pPr>
                      <a:r>
                        <a:rPr lang="zh-CN" altLang="en-US" sz="2400"/>
                        <a:t>精度指标（</a:t>
                      </a:r>
                      <a:r>
                        <a:rPr lang="en-US" altLang="zh-CN" sz="2400"/>
                        <a:t>ACC</a:t>
                      </a:r>
                      <a:r>
                        <a:rPr lang="zh-CN" altLang="en-US" sz="2400"/>
                        <a:t>）</a:t>
                      </a:r>
                      <a:r>
                        <a:rPr lang="en-US" altLang="zh-CN" sz="2400"/>
                        <a:t>+ </a:t>
                      </a:r>
                      <a:r>
                        <a:rPr lang="zh-CN" altLang="en-US" sz="2400"/>
                        <a:t>资源开销（样本量、存储、耗时）</a:t>
                      </a:r>
                      <a:endParaRPr lang="zh-CN" altLang="en-US" sz="2400"/>
                    </a:p>
                  </a:txBody>
                  <a:tcPr anchor="ctr" anchorCtr="0"/>
                </a:tc>
              </a:tr>
            </a:tbl>
          </a:graphicData>
        </a:graphic>
      </p:graphicFrame>
      <p:sp>
        <p:nvSpPr>
          <p:cNvPr id="7" name="文本框 6"/>
          <p:cNvSpPr txBox="1"/>
          <p:nvPr/>
        </p:nvSpPr>
        <p:spPr>
          <a:xfrm>
            <a:off x="786765" y="5674995"/>
            <a:ext cx="11162665" cy="706755"/>
          </a:xfrm>
          <a:prstGeom prst="rect">
            <a:avLst/>
          </a:prstGeom>
          <a:noFill/>
          <a:ln w="28575">
            <a:solidFill>
              <a:srgbClr val="C00000"/>
            </a:solidFill>
          </a:ln>
        </p:spPr>
        <p:txBody>
          <a:bodyPr wrap="square" rtlCol="0">
            <a:spAutoFit/>
          </a:bodyPr>
          <a:p>
            <a:r>
              <a:rPr lang="zh-CN" altLang="en-US" sz="2000"/>
              <a:t>总结：完整复刻原论文</a:t>
            </a:r>
            <a:r>
              <a:rPr lang="en-US" altLang="zh-CN" sz="2000"/>
              <a:t> “</a:t>
            </a:r>
            <a:r>
              <a:rPr lang="zh-CN" altLang="en-US" sz="2000"/>
              <a:t>样本效率</a:t>
            </a:r>
            <a:r>
              <a:rPr lang="en-US" altLang="zh-CN" sz="2000"/>
              <a:t> + </a:t>
            </a:r>
            <a:r>
              <a:rPr lang="zh-CN" altLang="en-US" sz="2000"/>
              <a:t>增量更新</a:t>
            </a:r>
            <a:r>
              <a:rPr lang="en-US" altLang="zh-CN" sz="2000"/>
              <a:t> + </a:t>
            </a:r>
            <a:r>
              <a:rPr lang="zh-CN" altLang="en-US" sz="2000"/>
              <a:t>开销优化</a:t>
            </a:r>
            <a:r>
              <a:rPr lang="en-US" altLang="zh-CN" sz="2000"/>
              <a:t>” </a:t>
            </a:r>
            <a:r>
              <a:rPr lang="zh-CN" altLang="en-US" sz="2000"/>
              <a:t>的核心实验逻辑，关键指标和原论文保持一致，验证了原论文结论的可靠性。</a:t>
            </a:r>
            <a:endParaRPr lang="zh-CN" altLang="en-US" sz="2000"/>
          </a:p>
        </p:txBody>
      </p:sp>
    </p:spTree>
  </p:cSld>
  <p:clrMapOvr>
    <a:masterClrMapping/>
  </p:clrMapOvr>
  <p:transition>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1497965" y="2243455"/>
            <a:ext cx="10248900" cy="1429385"/>
            <a:chOff x="7006" y="1928"/>
            <a:chExt cx="16140" cy="2251"/>
          </a:xfrm>
        </p:grpSpPr>
        <p:sp>
          <p:nvSpPr>
            <p:cNvPr id="24" name="矩形: 圆角 23"/>
            <p:cNvSpPr/>
            <p:nvPr>
              <p:custDataLst>
                <p:tags r:id="rId2"/>
              </p:custDataLst>
            </p:nvPr>
          </p:nvSpPr>
          <p:spPr>
            <a:xfrm>
              <a:off x="7006" y="1928"/>
              <a:ext cx="3164" cy="2251"/>
            </a:xfrm>
            <a:prstGeom prst="roundRect">
              <a:avLst>
                <a:gd name="adj" fmla="val 50000"/>
              </a:avLst>
            </a:prstGeom>
            <a:solidFill>
              <a:srgbClr val="ECD37A"/>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rPr>
                <a:t>06</a:t>
              </a:r>
              <a:endParaRPr kumimoji="0" lang="zh-CN" altLang="en-US" sz="5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endParaRPr>
            </a:p>
          </p:txBody>
        </p:sp>
        <p:sp>
          <p:nvSpPr>
            <p:cNvPr id="13" name="文本占位符 3"/>
            <p:cNvSpPr>
              <a:spLocks noGrp="1"/>
            </p:cNvSpPr>
            <p:nvPr>
              <p:custDataLst>
                <p:tags r:id="rId3"/>
              </p:custDataLst>
            </p:nvPr>
          </p:nvSpPr>
          <p:spPr>
            <a:xfrm>
              <a:off x="11004" y="2276"/>
              <a:ext cx="12142" cy="1166"/>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000" b="1" kern="1200">
                  <a:solidFill>
                    <a:srgbClr val="801C00"/>
                  </a:solidFill>
                  <a:latin typeface="微软雅黑" panose="020B0503020204020204" charset="-122"/>
                  <a:ea typeface="微软雅黑" panose="020B050302020402020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7200">
                  <a:solidFill>
                    <a:schemeClr val="bg1"/>
                  </a:solidFill>
                </a:rPr>
                <a:t>总结与</a:t>
              </a:r>
              <a:r>
                <a:rPr lang="zh-CN" altLang="en-US" sz="7200">
                  <a:solidFill>
                    <a:schemeClr val="bg1"/>
                  </a:solidFill>
                </a:rPr>
                <a:t>展望</a:t>
              </a:r>
              <a:endParaRPr lang="zh-CN" altLang="en-US" sz="7200">
                <a:solidFill>
                  <a:schemeClr val="bg1"/>
                </a:solidFill>
              </a:endParaRPr>
            </a:p>
          </p:txBody>
        </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六</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展望与总结</a:t>
            </a:r>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a:p>
            <a:pPr algn="l"/>
            <a:endParaRPr lang="en-US" altLang="zh-CN" sz="2800" b="1" dirty="0">
              <a:solidFill>
                <a:srgbClr val="005744"/>
              </a:solidFill>
              <a:latin typeface="微软雅黑" panose="020B0503020204020204" charset="-122"/>
              <a:ea typeface="微软雅黑" panose="020B0503020204020204" charset="-122"/>
            </a:endParaRPr>
          </a:p>
        </p:txBody>
      </p:sp>
      <p:sp>
        <p:nvSpPr>
          <p:cNvPr id="30" name="文本框 29"/>
          <p:cNvSpPr txBox="1"/>
          <p:nvPr/>
        </p:nvSpPr>
        <p:spPr>
          <a:xfrm>
            <a:off x="450215" y="1043305"/>
            <a:ext cx="5320665" cy="570865"/>
          </a:xfrm>
          <a:prstGeom prst="rect">
            <a:avLst/>
          </a:prstGeom>
          <a:noFill/>
        </p:spPr>
        <p:txBody>
          <a:bodyPr wrap="square" rtlCol="0" anchor="t">
            <a:noAutofit/>
          </a:bodyPr>
          <a:p>
            <a:r>
              <a:rPr lang="en-US" altLang="zh-CN" sz="2400" b="1" dirty="0">
                <a:latin typeface="微软雅黑" panose="020B0503020204020204" charset="-122"/>
                <a:ea typeface="微软雅黑" panose="020B0503020204020204" charset="-122"/>
                <a:cs typeface="微软雅黑" panose="020B0503020204020204" charset="-122"/>
              </a:rPr>
              <a:t>1</a:t>
            </a:r>
            <a:r>
              <a:rPr lang="zh-CN" altLang="en-US" sz="2400" b="1" dirty="0">
                <a:latin typeface="微软雅黑" panose="020B0503020204020204" charset="-122"/>
                <a:ea typeface="微软雅黑" panose="020B0503020204020204" charset="-122"/>
                <a:cs typeface="微软雅黑" panose="020B0503020204020204" charset="-122"/>
              </a:rPr>
              <a:t>、模型选择</a:t>
            </a:r>
            <a:r>
              <a:rPr lang="zh-CN" altLang="en-US" sz="2400" b="1" dirty="0">
                <a:latin typeface="微软雅黑" panose="020B0503020204020204" charset="-122"/>
                <a:ea typeface="微软雅黑" panose="020B0503020204020204" charset="-122"/>
                <a:cs typeface="微软雅黑" panose="020B0503020204020204" charset="-122"/>
              </a:rPr>
              <a:t>建议</a:t>
            </a:r>
            <a:endParaRPr lang="zh-CN" altLang="en-US" sz="2400" b="1" dirty="0">
              <a:latin typeface="微软雅黑" panose="020B0503020204020204" charset="-122"/>
              <a:ea typeface="微软雅黑" panose="020B0503020204020204" charset="-122"/>
              <a:cs typeface="微软雅黑" panose="020B0503020204020204" charset="-122"/>
            </a:endParaRPr>
          </a:p>
        </p:txBody>
      </p:sp>
      <p:graphicFrame>
        <p:nvGraphicFramePr>
          <p:cNvPr id="3" name="表格 2"/>
          <p:cNvGraphicFramePr/>
          <p:nvPr/>
        </p:nvGraphicFramePr>
        <p:xfrm>
          <a:off x="4810760" y="1150620"/>
          <a:ext cx="6505575" cy="4701000"/>
        </p:xfrm>
        <a:graphic>
          <a:graphicData uri="http://schemas.openxmlformats.org/drawingml/2006/table">
            <a:tbl>
              <a:tblPr firstRow="1" bandRow="1">
                <a:tableStyleId>{5C22544A-7EE6-4342-B048-85BDC9FD1C3A}</a:tableStyleId>
              </a:tblPr>
              <a:tblGrid>
                <a:gridCol w="1858645"/>
                <a:gridCol w="4646930"/>
              </a:tblGrid>
              <a:tr h="381000">
                <a:tc>
                  <a:txBody>
                    <a:bodyPr/>
                    <a:p>
                      <a:pPr algn="ctr">
                        <a:buNone/>
                      </a:pPr>
                      <a:r>
                        <a:rPr lang="zh-CN" altLang="en-US"/>
                        <a:t>网络</a:t>
                      </a:r>
                      <a:endParaRPr lang="zh-CN" altLang="en-US"/>
                    </a:p>
                  </a:txBody>
                  <a:tcPr anchor="ctr" anchorCtr="0"/>
                </a:tc>
                <a:tc>
                  <a:txBody>
                    <a:bodyPr/>
                    <a:p>
                      <a:pPr algn="ctr">
                        <a:buNone/>
                      </a:pPr>
                      <a:r>
                        <a:rPr lang="zh-CN" altLang="en-US"/>
                        <a:t>应用场景</a:t>
                      </a:r>
                      <a:endParaRPr lang="zh-CN" altLang="en-US"/>
                    </a:p>
                  </a:txBody>
                  <a:tcPr anchor="ctr" anchorCtr="0"/>
                </a:tc>
              </a:tr>
              <a:tr h="1440000">
                <a:tc>
                  <a:txBody>
                    <a:bodyPr/>
                    <a:p>
                      <a:pPr algn="ctr">
                        <a:buNone/>
                      </a:pPr>
                      <a:r>
                        <a:rPr lang="en-US" altLang="zh-CN" b="1"/>
                        <a:t>RNN</a:t>
                      </a:r>
                      <a:endParaRPr lang="en-US" altLang="zh-CN" b="1"/>
                    </a:p>
                  </a:txBody>
                  <a:tcPr anchor="ctr" anchorCtr="0"/>
                </a:tc>
                <a:tc>
                  <a:txBody>
                    <a:bodyPr/>
                    <a:p>
                      <a:pPr algn="ctr">
                        <a:buNone/>
                      </a:pPr>
                      <a:r>
                        <a:rPr lang="zh-CN" altLang="en-US" sz="1600" b="1"/>
                        <a:t>适合小规模类别的序列敏感场景</a:t>
                      </a:r>
                      <a:r>
                        <a:rPr lang="zh-CN" altLang="en-US" sz="1600"/>
                        <a:t>。基于</a:t>
                      </a:r>
                      <a:r>
                        <a:rPr lang="en-US" altLang="zh-CN" sz="1600"/>
                        <a:t> RNN </a:t>
                      </a:r>
                      <a:r>
                        <a:rPr lang="zh-CN" altLang="en-US" sz="1600"/>
                        <a:t>的学习器在处理类别数量较少的数据集（如</a:t>
                      </a:r>
                      <a:r>
                        <a:rPr lang="en-US" altLang="zh-CN" sz="1600"/>
                        <a:t> IDS </a:t>
                      </a:r>
                      <a:r>
                        <a:rPr lang="zh-CN" altLang="en-US" sz="1600"/>
                        <a:t>和</a:t>
                      </a:r>
                      <a:r>
                        <a:rPr lang="en-US" altLang="zh-CN" sz="1600"/>
                        <a:t> Tor</a:t>
                      </a:r>
                      <a:r>
                        <a:rPr lang="zh-CN" altLang="en-US" sz="1600"/>
                        <a:t>）时表现卓越</a:t>
                      </a:r>
                      <a:r>
                        <a:rPr lang="en-US" altLang="zh-CN" sz="1600"/>
                        <a:t> </a:t>
                      </a:r>
                      <a:r>
                        <a:rPr lang="zh-CN" altLang="en-US" sz="1600"/>
                        <a:t>。这是因为</a:t>
                      </a:r>
                      <a:r>
                        <a:rPr lang="en-US" altLang="zh-CN" sz="1600"/>
                        <a:t> RNN </a:t>
                      </a:r>
                      <a:r>
                        <a:rPr lang="zh-CN" altLang="en-US" sz="1600"/>
                        <a:t>擅长捕获数据包到达时间、长度变化等细微的时序特征</a:t>
                      </a:r>
                      <a:endParaRPr lang="zh-CN" altLang="en-US" sz="1600"/>
                    </a:p>
                  </a:txBody>
                  <a:tcPr anchor="ctr" anchorCtr="0"/>
                </a:tc>
              </a:tr>
              <a:tr h="1440000">
                <a:tc>
                  <a:txBody>
                    <a:bodyPr/>
                    <a:p>
                      <a:pPr algn="ctr">
                        <a:buNone/>
                      </a:pPr>
                      <a:r>
                        <a:rPr lang="en-US" altLang="zh-CN" b="1"/>
                        <a:t>AE</a:t>
                      </a:r>
                      <a:endParaRPr lang="en-US" altLang="zh-CN" b="1"/>
                    </a:p>
                  </a:txBody>
                  <a:tcPr anchor="ctr" anchorCtr="0"/>
                </a:tc>
                <a:tc>
                  <a:txBody>
                    <a:bodyPr/>
                    <a:p>
                      <a:pPr algn="ctr">
                        <a:buNone/>
                      </a:pPr>
                      <a:r>
                        <a:rPr lang="zh-CN" altLang="en-US" sz="1600" b="1"/>
                        <a:t>适合同分布数据的通用选择</a:t>
                      </a:r>
                      <a:r>
                        <a:rPr lang="zh-CN" altLang="en-US" sz="1600"/>
                        <a:t>。当训练集和测试集的分布基本一致时，</a:t>
                      </a:r>
                      <a:r>
                        <a:rPr lang="en-US" altLang="zh-CN" sz="1600"/>
                        <a:t>AE </a:t>
                      </a:r>
                      <a:r>
                        <a:rPr lang="zh-CN" altLang="en-US" sz="1600"/>
                        <a:t>是处理多类别分类的一个很好的选择。它的训练相对快速，且在处理统计特征时表现稳定。</a:t>
                      </a:r>
                      <a:endParaRPr lang="zh-CN" altLang="en-US" sz="1600"/>
                    </a:p>
                  </a:txBody>
                  <a:tcPr anchor="ctr" anchorCtr="0"/>
                </a:tc>
              </a:tr>
              <a:tr h="1440000">
                <a:tc>
                  <a:txBody>
                    <a:bodyPr/>
                    <a:p>
                      <a:pPr algn="ctr">
                        <a:buNone/>
                      </a:pPr>
                      <a:r>
                        <a:rPr lang="en-US" altLang="zh-CN" b="1"/>
                        <a:t>GNN</a:t>
                      </a:r>
                      <a:endParaRPr lang="en-US" altLang="zh-CN" b="1"/>
                    </a:p>
                  </a:txBody>
                  <a:tcPr anchor="ctr" anchorCtr="0"/>
                </a:tc>
                <a:tc>
                  <a:txBody>
                    <a:bodyPr/>
                    <a:p>
                      <a:pPr algn="ctr">
                        <a:buNone/>
                      </a:pPr>
                      <a:r>
                        <a:rPr lang="zh-CN" altLang="en-US" sz="1600" b="1"/>
                        <a:t>抗干扰与鲁棒性的首选</a:t>
                      </a:r>
                      <a:r>
                        <a:rPr lang="zh-CN" altLang="en-US" sz="1600"/>
                        <a:t>。如果网络环境极其不稳定，存在频繁的抖动、</a:t>
                      </a:r>
                      <a:r>
                        <a:rPr lang="en-US" altLang="zh-CN" sz="1600"/>
                        <a:t>CDN </a:t>
                      </a:r>
                      <a:r>
                        <a:rPr lang="zh-CN" altLang="en-US" sz="1600"/>
                        <a:t>切换或</a:t>
                      </a:r>
                      <a:r>
                        <a:rPr lang="en-US" altLang="zh-CN" sz="1600"/>
                        <a:t> MTU</a:t>
                      </a:r>
                      <a:r>
                        <a:rPr lang="zh-CN" altLang="en-US" sz="1600"/>
                        <a:t>（最大传输单元）变化，</a:t>
                      </a:r>
                      <a:r>
                        <a:rPr lang="en-US" altLang="zh-CN" sz="1600"/>
                        <a:t>GNN </a:t>
                      </a:r>
                      <a:r>
                        <a:rPr lang="zh-CN" altLang="en-US" sz="1600"/>
                        <a:t>是最佳选择。</a:t>
                      </a:r>
                      <a:r>
                        <a:rPr lang="en-US" altLang="zh-CN" sz="1600"/>
                        <a:t>GNN </a:t>
                      </a:r>
                      <a:r>
                        <a:rPr lang="zh-CN" altLang="en-US" sz="1600"/>
                        <a:t>基于二部图的聚合机制，这种机制能有效缓解底层网络参数变化带来的影响，表现出最强的鲁棒性</a:t>
                      </a:r>
                      <a:r>
                        <a:rPr lang="en-US" altLang="zh-CN" sz="1600"/>
                        <a:t> </a:t>
                      </a:r>
                      <a:r>
                        <a:rPr lang="zh-CN" altLang="en-US" sz="1600"/>
                        <a:t>。</a:t>
                      </a:r>
                      <a:endParaRPr lang="zh-CN" altLang="en-US" sz="1600"/>
                    </a:p>
                  </a:txBody>
                  <a:tcPr anchor="ctr" anchorCtr="0"/>
                </a:tc>
              </a:tr>
            </a:tbl>
          </a:graphicData>
        </a:graphic>
      </p:graphicFrame>
      <p:sp>
        <p:nvSpPr>
          <p:cNvPr id="4" name="文本框 3"/>
          <p:cNvSpPr txBox="1"/>
          <p:nvPr/>
        </p:nvSpPr>
        <p:spPr>
          <a:xfrm>
            <a:off x="450215" y="2340610"/>
            <a:ext cx="4069080" cy="2825115"/>
          </a:xfrm>
          <a:prstGeom prst="rect">
            <a:avLst/>
          </a:prstGeom>
        </p:spPr>
        <p:txBody>
          <a:bodyPr wrap="square">
            <a:spAutoFit/>
          </a:bodyPr>
          <a:p>
            <a:pPr indent="0" algn="just" fontAlgn="auto">
              <a:lnSpc>
                <a:spcPct val="120000"/>
              </a:lnSpc>
              <a:spcAft>
                <a:spcPts val="600"/>
              </a:spcAft>
            </a:pPr>
            <a:r>
              <a:rPr lang="en-US" altLang="zh-CN"/>
              <a:t>Trident </a:t>
            </a:r>
            <a:r>
              <a:rPr lang="zh-CN" altLang="en-US"/>
              <a:t>被设计为一个</a:t>
            </a:r>
            <a:r>
              <a:rPr lang="zh-CN" altLang="en-US" b="1"/>
              <a:t>通用框架</a:t>
            </a:r>
            <a:r>
              <a:rPr lang="zh-CN" altLang="en-US"/>
              <a:t>，</a:t>
            </a:r>
            <a:r>
              <a:rPr lang="zh-CN" altLang="en-US" b="1"/>
              <a:t>支持 </a:t>
            </a:r>
            <a:r>
              <a:rPr lang="en-US" altLang="zh-CN" b="1"/>
              <a:t>AE</a:t>
            </a:r>
            <a:r>
              <a:rPr lang="zh-CN" altLang="en-US" b="1"/>
              <a:t>、</a:t>
            </a:r>
            <a:r>
              <a:rPr lang="en-US" altLang="zh-CN" b="1"/>
              <a:t>RNN</a:t>
            </a:r>
            <a:r>
              <a:rPr lang="zh-CN" altLang="en-US" b="1"/>
              <a:t>、</a:t>
            </a:r>
            <a:r>
              <a:rPr lang="en-US" altLang="zh-CN" b="1"/>
              <a:t>GNN </a:t>
            </a:r>
            <a:r>
              <a:rPr lang="zh-CN" altLang="en-US" b="1"/>
              <a:t>等多种骨干网络</a:t>
            </a:r>
            <a:r>
              <a:rPr lang="zh-CN" altLang="en-US"/>
              <a:t>，同时该论文总结出右表选型指南。</a:t>
            </a:r>
            <a:endParaRPr lang="zh-CN" altLang="en-US"/>
          </a:p>
          <a:p>
            <a:pPr indent="0" algn="just" fontAlgn="auto">
              <a:lnSpc>
                <a:spcPct val="120000"/>
              </a:lnSpc>
            </a:pPr>
            <a:r>
              <a:rPr lang="zh-CN" altLang="en-US"/>
              <a:t>没有最好的模型，只有最适合的模型。用户应根据自</a:t>
            </a:r>
            <a:r>
              <a:rPr lang="zh-CN" altLang="en-US" b="1"/>
              <a:t>身网络的稳定性、攻击类别的规模以及计算资源</a:t>
            </a:r>
            <a:r>
              <a:rPr lang="zh-CN" altLang="en-US"/>
              <a:t>，选择所需的模型体系结构或定制扩展</a:t>
            </a:r>
            <a:r>
              <a:rPr lang="en-US" altLang="zh-CN"/>
              <a:t>/</a:t>
            </a:r>
            <a:r>
              <a:rPr lang="zh-CN" altLang="en-US"/>
              <a:t>变体以满足特定需求。</a:t>
            </a:r>
            <a:endParaRPr lang="zh-CN" altLang="en-US"/>
          </a:p>
        </p:txBody>
      </p:sp>
      <p:graphicFrame>
        <p:nvGraphicFramePr>
          <p:cNvPr id="6" name="表格 5"/>
          <p:cNvGraphicFramePr/>
          <p:nvPr/>
        </p:nvGraphicFramePr>
        <p:xfrm>
          <a:off x="4810760" y="1150620"/>
          <a:ext cx="6505575" cy="4701000"/>
        </p:xfrm>
        <a:graphic>
          <a:graphicData uri="http://schemas.openxmlformats.org/drawingml/2006/table">
            <a:tbl>
              <a:tblPr firstRow="1" bandRow="1">
                <a:tableStyleId>{5C22544A-7EE6-4342-B048-85BDC9FD1C3A}</a:tableStyleId>
              </a:tblPr>
              <a:tblGrid>
                <a:gridCol w="1858645"/>
                <a:gridCol w="4646930"/>
              </a:tblGrid>
              <a:tr h="381000">
                <a:tc>
                  <a:txBody>
                    <a:bodyPr/>
                    <a:p>
                      <a:pPr algn="ctr">
                        <a:buNone/>
                      </a:pPr>
                      <a:r>
                        <a:rPr lang="zh-CN" altLang="en-US"/>
                        <a:t>网络</a:t>
                      </a:r>
                      <a:endParaRPr lang="zh-CN" altLang="en-US"/>
                    </a:p>
                  </a:txBody>
                  <a:tcPr anchor="ctr" anchorCtr="0"/>
                </a:tc>
                <a:tc>
                  <a:txBody>
                    <a:bodyPr/>
                    <a:p>
                      <a:pPr algn="ctr">
                        <a:buNone/>
                      </a:pPr>
                      <a:r>
                        <a:rPr lang="zh-CN" altLang="en-US"/>
                        <a:t>应用场景</a:t>
                      </a:r>
                      <a:endParaRPr lang="zh-CN" altLang="en-US"/>
                    </a:p>
                  </a:txBody>
                  <a:tcPr anchor="ctr" anchorCtr="0"/>
                </a:tc>
              </a:tr>
              <a:tr h="1440000">
                <a:tc>
                  <a:txBody>
                    <a:bodyPr/>
                    <a:p>
                      <a:pPr algn="ctr">
                        <a:buNone/>
                      </a:pPr>
                      <a:r>
                        <a:rPr lang="en-US" altLang="zh-CN" b="1"/>
                        <a:t>RNN</a:t>
                      </a:r>
                      <a:endParaRPr lang="en-US" altLang="zh-CN" b="1"/>
                    </a:p>
                  </a:txBody>
                  <a:tcPr anchor="ctr" anchorCtr="0"/>
                </a:tc>
                <a:tc>
                  <a:txBody>
                    <a:bodyPr/>
                    <a:p>
                      <a:pPr algn="ctr">
                        <a:buNone/>
                      </a:pPr>
                      <a:r>
                        <a:rPr lang="zh-CN" altLang="en-US" sz="1600" b="1"/>
                        <a:t>适合小规模类别的序列敏感场景</a:t>
                      </a:r>
                      <a:r>
                        <a:rPr lang="zh-CN" altLang="en-US" sz="1600"/>
                        <a:t>。基于</a:t>
                      </a:r>
                      <a:r>
                        <a:rPr lang="en-US" altLang="zh-CN" sz="1600"/>
                        <a:t> RNN </a:t>
                      </a:r>
                      <a:r>
                        <a:rPr lang="zh-CN" altLang="en-US" sz="1600"/>
                        <a:t>的学习器在处理类别数量较少的数据集（如</a:t>
                      </a:r>
                      <a:r>
                        <a:rPr lang="en-US" altLang="zh-CN" sz="1600"/>
                        <a:t> IDS </a:t>
                      </a:r>
                      <a:r>
                        <a:rPr lang="zh-CN" altLang="en-US" sz="1600"/>
                        <a:t>和</a:t>
                      </a:r>
                      <a:r>
                        <a:rPr lang="en-US" altLang="zh-CN" sz="1600"/>
                        <a:t> Tor</a:t>
                      </a:r>
                      <a:r>
                        <a:rPr lang="zh-CN" altLang="en-US" sz="1600"/>
                        <a:t>）时表现卓越</a:t>
                      </a:r>
                      <a:r>
                        <a:rPr lang="en-US" altLang="zh-CN" sz="1600"/>
                        <a:t> </a:t>
                      </a:r>
                      <a:r>
                        <a:rPr lang="zh-CN" altLang="en-US" sz="1600"/>
                        <a:t>。这是因为</a:t>
                      </a:r>
                      <a:r>
                        <a:rPr lang="en-US" altLang="zh-CN" sz="1600"/>
                        <a:t> RNN </a:t>
                      </a:r>
                      <a:r>
                        <a:rPr lang="zh-CN" altLang="en-US" sz="1600"/>
                        <a:t>擅长捕获数据包到达时间、长度变化等细微的时序特征</a:t>
                      </a:r>
                      <a:endParaRPr lang="zh-CN" altLang="en-US" sz="1600"/>
                    </a:p>
                  </a:txBody>
                  <a:tcPr anchor="ctr" anchorCtr="0"/>
                </a:tc>
              </a:tr>
              <a:tr h="1440000">
                <a:tc>
                  <a:txBody>
                    <a:bodyPr/>
                    <a:p>
                      <a:pPr algn="ctr">
                        <a:buNone/>
                      </a:pPr>
                      <a:r>
                        <a:rPr lang="en-US" altLang="zh-CN" b="1"/>
                        <a:t>AE</a:t>
                      </a:r>
                      <a:endParaRPr lang="en-US" altLang="zh-CN" b="1"/>
                    </a:p>
                  </a:txBody>
                  <a:tcPr anchor="ctr" anchorCtr="0"/>
                </a:tc>
                <a:tc>
                  <a:txBody>
                    <a:bodyPr/>
                    <a:p>
                      <a:pPr algn="ctr">
                        <a:buNone/>
                      </a:pPr>
                      <a:r>
                        <a:rPr lang="zh-CN" altLang="en-US" sz="1600" b="1"/>
                        <a:t>适合同分布数据的通用选择</a:t>
                      </a:r>
                      <a:r>
                        <a:rPr lang="zh-CN" altLang="en-US" sz="1600"/>
                        <a:t>。当训练集和测试集的分布基本一致时，</a:t>
                      </a:r>
                      <a:r>
                        <a:rPr lang="en-US" altLang="zh-CN" sz="1600"/>
                        <a:t>AE </a:t>
                      </a:r>
                      <a:r>
                        <a:rPr lang="zh-CN" altLang="en-US" sz="1600"/>
                        <a:t>是处理多类别分类的一个很好的选择。它的训练相对快速，且在处理统计特征时表现稳定。</a:t>
                      </a:r>
                      <a:endParaRPr lang="zh-CN" altLang="en-US" sz="1600"/>
                    </a:p>
                  </a:txBody>
                  <a:tcPr anchor="ctr" anchorCtr="0"/>
                </a:tc>
              </a:tr>
              <a:tr h="1440000">
                <a:tc>
                  <a:txBody>
                    <a:bodyPr/>
                    <a:p>
                      <a:pPr algn="ctr">
                        <a:buNone/>
                      </a:pPr>
                      <a:r>
                        <a:rPr lang="en-US" altLang="zh-CN" b="1"/>
                        <a:t>GNN</a:t>
                      </a:r>
                      <a:endParaRPr lang="en-US" altLang="zh-CN" b="1"/>
                    </a:p>
                  </a:txBody>
                  <a:tcPr anchor="ctr" anchorCtr="0"/>
                </a:tc>
                <a:tc>
                  <a:txBody>
                    <a:bodyPr/>
                    <a:p>
                      <a:pPr algn="ctr">
                        <a:buNone/>
                      </a:pPr>
                      <a:r>
                        <a:rPr lang="zh-CN" altLang="en-US" sz="1600" b="1"/>
                        <a:t>抗干扰与鲁棒性的首选</a:t>
                      </a:r>
                      <a:r>
                        <a:rPr lang="zh-CN" altLang="en-US" sz="1600"/>
                        <a:t>。如果网络环境极其不稳定，存在频繁的抖动、</a:t>
                      </a:r>
                      <a:r>
                        <a:rPr lang="en-US" altLang="zh-CN" sz="1600"/>
                        <a:t>CDN </a:t>
                      </a:r>
                      <a:r>
                        <a:rPr lang="zh-CN" altLang="en-US" sz="1600"/>
                        <a:t>切换或</a:t>
                      </a:r>
                      <a:r>
                        <a:rPr lang="en-US" altLang="zh-CN" sz="1600"/>
                        <a:t> MTU</a:t>
                      </a:r>
                      <a:r>
                        <a:rPr lang="zh-CN" altLang="en-US" sz="1600"/>
                        <a:t>（最大传输单元）变化，</a:t>
                      </a:r>
                      <a:r>
                        <a:rPr lang="en-US" altLang="zh-CN" sz="1600"/>
                        <a:t>GNN </a:t>
                      </a:r>
                      <a:r>
                        <a:rPr lang="zh-CN" altLang="en-US" sz="1600"/>
                        <a:t>是最佳选择。</a:t>
                      </a:r>
                      <a:r>
                        <a:rPr lang="en-US" altLang="zh-CN" sz="1600"/>
                        <a:t>GNN </a:t>
                      </a:r>
                      <a:r>
                        <a:rPr lang="zh-CN" altLang="en-US" sz="1600"/>
                        <a:t>基于二部图的聚合机制，这种机制能有效缓解底层网络参数变化带来的影响，表现出最强的鲁棒性</a:t>
                      </a:r>
                      <a:r>
                        <a:rPr lang="en-US" altLang="zh-CN" sz="1600"/>
                        <a:t> </a:t>
                      </a:r>
                      <a:r>
                        <a:rPr lang="zh-CN" altLang="en-US" sz="1600"/>
                        <a:t>。</a:t>
                      </a:r>
                      <a:endParaRPr lang="zh-CN" altLang="en-US" sz="1600"/>
                    </a:p>
                  </a:txBody>
                  <a:tcPr anchor="ctr" anchorCtr="0"/>
                </a:tc>
              </a:tr>
            </a:tbl>
          </a:graphicData>
        </a:graphic>
      </p:graphicFrame>
    </p:spTree>
  </p:cSld>
  <p:clrMapOvr>
    <a:masterClrMapping/>
  </p:clrMapOvr>
  <p:transition>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六</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展望与总结</a:t>
            </a:r>
            <a:endParaRPr lang="en-US" altLang="zh-CN" sz="2800" b="1" dirty="0">
              <a:solidFill>
                <a:srgbClr val="005744"/>
              </a:solidFill>
              <a:latin typeface="微软雅黑" panose="020B0503020204020204" charset="-122"/>
              <a:ea typeface="微软雅黑" panose="020B0503020204020204" charset="-122"/>
            </a:endParaRPr>
          </a:p>
        </p:txBody>
      </p:sp>
      <p:sp>
        <p:nvSpPr>
          <p:cNvPr id="3" name="标题 5"/>
          <p:cNvSpPr>
            <a:spLocks noGrp="1"/>
          </p:cNvSpPr>
          <p:nvPr/>
        </p:nvSpPr>
        <p:spPr>
          <a:xfrm>
            <a:off x="657445" y="1470661"/>
            <a:ext cx="1729472" cy="6597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800" b="1" dirty="0">
                <a:latin typeface="Calibri" panose="020F0502020204030204" charset="0"/>
                <a:cs typeface="Calibri" panose="020F0502020204030204" charset="0"/>
              </a:rPr>
              <a:t>Limitation</a:t>
            </a:r>
            <a:endParaRPr lang="en-US" altLang="zh-CN" sz="2800" b="1" dirty="0">
              <a:latin typeface="Calibri" panose="020F0502020204030204" charset="0"/>
              <a:cs typeface="Calibri" panose="020F0502020204030204" charset="0"/>
            </a:endParaRPr>
          </a:p>
        </p:txBody>
      </p:sp>
      <p:sp>
        <p:nvSpPr>
          <p:cNvPr id="6" name="标题 5"/>
          <p:cNvSpPr>
            <a:spLocks noGrp="1"/>
          </p:cNvSpPr>
          <p:nvPr/>
        </p:nvSpPr>
        <p:spPr>
          <a:xfrm>
            <a:off x="646650" y="3428922"/>
            <a:ext cx="2248569" cy="65976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altLang="zh-CN" sz="2800" b="1" dirty="0">
                <a:latin typeface="Calibri" panose="020F0502020204030204" charset="0"/>
                <a:cs typeface="Calibri" panose="020F0502020204030204" charset="0"/>
              </a:rPr>
              <a:t>Future  study</a:t>
            </a:r>
            <a:endParaRPr lang="en-US" altLang="zh-CN" sz="2800" b="1" dirty="0">
              <a:latin typeface="Calibri" panose="020F0502020204030204" charset="0"/>
              <a:cs typeface="Calibri" panose="020F0502020204030204" charset="0"/>
            </a:endParaRPr>
          </a:p>
        </p:txBody>
      </p:sp>
      <p:sp>
        <p:nvSpPr>
          <p:cNvPr id="11" name="文本框 10"/>
          <p:cNvSpPr txBox="1"/>
          <p:nvPr/>
        </p:nvSpPr>
        <p:spPr>
          <a:xfrm>
            <a:off x="532765" y="2130425"/>
            <a:ext cx="10676890" cy="1216660"/>
          </a:xfrm>
          <a:prstGeom prst="rect">
            <a:avLst/>
          </a:prstGeom>
          <a:noFill/>
        </p:spPr>
        <p:txBody>
          <a:bodyPr wrap="square">
            <a:noAutofit/>
          </a:bodyPr>
          <a:lstStyle/>
          <a:p>
            <a:pPr marL="342900" indent="-342900" algn="just" fontAlgn="auto">
              <a:lnSpc>
                <a:spcPct val="120000"/>
              </a:lnSpc>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在识别未知类别的细粒度标签时，由于模型和用户之间可能会存在认知偏差，导致对攻击类别的高估或低估</a:t>
            </a:r>
            <a:r>
              <a:rPr lang="zh-CN" altLang="en-US" dirty="0">
                <a:latin typeface="微软雅黑" panose="020B0503020204020204" charset="-122"/>
                <a:ea typeface="微软雅黑" panose="020B0503020204020204" charset="-122"/>
                <a:cs typeface="微软雅黑" panose="020B0503020204020204" charset="-122"/>
              </a:rPr>
              <a:t>。以</a:t>
            </a:r>
            <a:r>
              <a:rPr lang="en-US" altLang="zh-CN" dirty="0">
                <a:latin typeface="微软雅黑" panose="020B0503020204020204" charset="-122"/>
                <a:ea typeface="微软雅黑" panose="020B0503020204020204" charset="-122"/>
                <a:cs typeface="微软雅黑" panose="020B0503020204020204" charset="-122"/>
              </a:rPr>
              <a:t> HTTP Flood </a:t>
            </a:r>
            <a:r>
              <a:rPr lang="zh-CN" altLang="en-US" dirty="0">
                <a:latin typeface="微软雅黑" panose="020B0503020204020204" charset="-122"/>
                <a:ea typeface="微软雅黑" panose="020B0503020204020204" charset="-122"/>
                <a:cs typeface="微软雅黑" panose="020B0503020204020204" charset="-122"/>
              </a:rPr>
              <a:t>攻击为例。在某些防御者眼中，所有</a:t>
            </a:r>
            <a:r>
              <a:rPr lang="en-US" altLang="zh-CN" dirty="0">
                <a:latin typeface="微软雅黑" panose="020B0503020204020204" charset="-122"/>
                <a:ea typeface="微软雅黑" panose="020B0503020204020204" charset="-122"/>
                <a:cs typeface="微软雅黑" panose="020B0503020204020204" charset="-122"/>
              </a:rPr>
              <a:t> HTTP Flood </a:t>
            </a:r>
            <a:r>
              <a:rPr lang="zh-CN" altLang="en-US" dirty="0">
                <a:latin typeface="微软雅黑" panose="020B0503020204020204" charset="-122"/>
                <a:ea typeface="微软雅黑" panose="020B0503020204020204" charset="-122"/>
                <a:cs typeface="微软雅黑" panose="020B0503020204020204" charset="-122"/>
              </a:rPr>
              <a:t>都应归为一类；而在</a:t>
            </a:r>
            <a:r>
              <a:rPr lang="en-US" altLang="zh-CN" dirty="0">
                <a:latin typeface="微软雅黑" panose="020B0503020204020204" charset="-122"/>
                <a:ea typeface="微软雅黑" panose="020B0503020204020204" charset="-122"/>
                <a:cs typeface="微软雅黑" panose="020B0503020204020204" charset="-122"/>
              </a:rPr>
              <a:t> Trident </a:t>
            </a:r>
            <a:r>
              <a:rPr lang="zh-CN" altLang="en-US" dirty="0">
                <a:latin typeface="微软雅黑" panose="020B0503020204020204" charset="-122"/>
                <a:ea typeface="微软雅黑" panose="020B0503020204020204" charset="-122"/>
                <a:cs typeface="微软雅黑" panose="020B0503020204020204" charset="-122"/>
              </a:rPr>
              <a:t>眼中，不同参数配置的</a:t>
            </a:r>
            <a:r>
              <a:rPr lang="en-US" altLang="zh-CN" dirty="0">
                <a:latin typeface="微软雅黑" panose="020B0503020204020204" charset="-122"/>
                <a:ea typeface="微软雅黑" panose="020B0503020204020204" charset="-122"/>
                <a:cs typeface="微软雅黑" panose="020B0503020204020204" charset="-122"/>
              </a:rPr>
              <a:t> HTTP Flood </a:t>
            </a:r>
            <a:r>
              <a:rPr lang="zh-CN" altLang="en-US" dirty="0">
                <a:latin typeface="微软雅黑" panose="020B0503020204020204" charset="-122"/>
                <a:ea typeface="微软雅黑" panose="020B0503020204020204" charset="-122"/>
                <a:cs typeface="微软雅黑" panose="020B0503020204020204" charset="-122"/>
              </a:rPr>
              <a:t>可能表现出不同的流量特征，从而被</a:t>
            </a:r>
            <a:r>
              <a:rPr lang="en-US" altLang="zh-CN" dirty="0">
                <a:latin typeface="微软雅黑" panose="020B0503020204020204" charset="-122"/>
                <a:ea typeface="微软雅黑" panose="020B0503020204020204" charset="-122"/>
                <a:cs typeface="微软雅黑" panose="020B0503020204020204" charset="-122"/>
              </a:rPr>
              <a:t> tMagnifier </a:t>
            </a:r>
            <a:r>
              <a:rPr lang="zh-CN" altLang="en-US" dirty="0">
                <a:latin typeface="微软雅黑" panose="020B0503020204020204" charset="-122"/>
                <a:ea typeface="微软雅黑" panose="020B0503020204020204" charset="-122"/>
                <a:cs typeface="微软雅黑" panose="020B0503020204020204" charset="-122"/>
              </a:rPr>
              <a:t>聚类为</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未知攻击</a:t>
            </a:r>
            <a:r>
              <a:rPr lang="en-US" altLang="zh-CN" dirty="0">
                <a:latin typeface="微软雅黑" panose="020B0503020204020204" charset="-122"/>
                <a:ea typeface="微软雅黑" panose="020B0503020204020204" charset="-122"/>
                <a:cs typeface="微软雅黑" panose="020B0503020204020204" charset="-122"/>
              </a:rPr>
              <a:t> 1”</a:t>
            </a:r>
            <a:r>
              <a:rPr lang="zh-CN" altLang="en-US" dirty="0">
                <a:latin typeface="微软雅黑" panose="020B0503020204020204" charset="-122"/>
                <a:ea typeface="微软雅黑" panose="020B0503020204020204" charset="-122"/>
                <a:cs typeface="微软雅黑" panose="020B0503020204020204" charset="-122"/>
              </a:rPr>
              <a:t>和</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未知攻击</a:t>
            </a:r>
            <a:r>
              <a:rPr lang="en-US" altLang="zh-CN" dirty="0">
                <a:latin typeface="微软雅黑" panose="020B0503020204020204" charset="-122"/>
                <a:ea typeface="微软雅黑" panose="020B0503020204020204" charset="-122"/>
                <a:cs typeface="微软雅黑" panose="020B0503020204020204" charset="-122"/>
              </a:rPr>
              <a:t> 2” </a:t>
            </a:r>
            <a:r>
              <a:rPr lang="zh-CN" altLang="en-US" dirty="0">
                <a:latin typeface="微软雅黑" panose="020B0503020204020204" charset="-122"/>
                <a:ea typeface="微软雅黑" panose="020B0503020204020204" charset="-122"/>
                <a:cs typeface="微软雅黑" panose="020B0503020204020204" charset="-122"/>
              </a:rPr>
              <a:t>。</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 name="文本框 1"/>
          <p:cNvSpPr txBox="1"/>
          <p:nvPr/>
        </p:nvSpPr>
        <p:spPr>
          <a:xfrm>
            <a:off x="532765" y="4006850"/>
            <a:ext cx="10676890" cy="2306320"/>
          </a:xfrm>
          <a:prstGeom prst="rect">
            <a:avLst/>
          </a:prstGeom>
          <a:noFill/>
        </p:spPr>
        <p:txBody>
          <a:bodyPr wrap="square">
            <a:noAutofit/>
          </a:bodyPr>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定制化方案：</a:t>
            </a:r>
            <a:r>
              <a:rPr lang="zh-CN" altLang="en-US" dirty="0">
                <a:latin typeface="微软雅黑" panose="020B0503020204020204" charset="-122"/>
                <a:ea typeface="微软雅黑" panose="020B0503020204020204" charset="-122"/>
                <a:cs typeface="微软雅黑" panose="020B0503020204020204" charset="-122"/>
              </a:rPr>
              <a:t>允许用户根据业务需求定义</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什么是同一类</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（如主动配置输出策略）。</a:t>
            </a:r>
            <a:endParaRPr lang="zh-CN" altLang="en-US"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自动化特征提取与调优：</a:t>
            </a:r>
            <a:r>
              <a:rPr lang="zh-CN" altLang="en-US" dirty="0">
                <a:latin typeface="微软雅黑" panose="020B0503020204020204" charset="-122"/>
                <a:ea typeface="微软雅黑" panose="020B0503020204020204" charset="-122"/>
                <a:cs typeface="微软雅黑" panose="020B0503020204020204" charset="-122"/>
              </a:rPr>
              <a:t>自动搜索最优的特征组合和模型超参数，降低用户的配置门槛，实现</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开箱即用</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的智能化部署。</a:t>
            </a:r>
            <a:endParaRPr lang="zh-CN" altLang="en-US"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复杂对抗环境可靠性验证</a:t>
            </a:r>
            <a:r>
              <a:rPr lang="zh-CN" altLang="en-US" dirty="0">
                <a:latin typeface="微软雅黑" panose="020B0503020204020204" charset="-122"/>
                <a:ea typeface="微软雅黑" panose="020B0503020204020204" charset="-122"/>
                <a:cs typeface="微软雅黑" panose="020B0503020204020204" charset="-122"/>
              </a:rPr>
              <a:t>：目前的实验主要针对单一类型的攻击或混合数据集，现实中可能会组合多种攻击手段（</a:t>
            </a:r>
            <a:r>
              <a:rPr lang="en-US" altLang="zh-CN" dirty="0">
                <a:latin typeface="微软雅黑" panose="020B0503020204020204" charset="-122"/>
                <a:ea typeface="微软雅黑" panose="020B0503020204020204" charset="-122"/>
                <a:cs typeface="微软雅黑" panose="020B0503020204020204" charset="-122"/>
              </a:rPr>
              <a:t>Multi-vector attacks</a:t>
            </a:r>
            <a:r>
              <a:rPr lang="zh-CN" altLang="en-US" dirty="0">
                <a:latin typeface="微软雅黑" panose="020B0503020204020204" charset="-122"/>
                <a:ea typeface="微软雅黑" panose="020B0503020204020204" charset="-122"/>
                <a:cs typeface="微软雅黑" panose="020B0503020204020204" charset="-122"/>
              </a:rPr>
              <a:t>）同时进攻，</a:t>
            </a:r>
            <a:r>
              <a:rPr lang="en-US" altLang="zh-CN" dirty="0">
                <a:latin typeface="微软雅黑" panose="020B0503020204020204" charset="-122"/>
                <a:ea typeface="微软雅黑" panose="020B0503020204020204" charset="-122"/>
                <a:cs typeface="微软雅黑" panose="020B0503020204020204" charset="-122"/>
              </a:rPr>
              <a:t>Trident </a:t>
            </a:r>
            <a:r>
              <a:rPr lang="zh-CN" altLang="en-US" dirty="0">
                <a:latin typeface="微软雅黑" panose="020B0503020204020204" charset="-122"/>
                <a:ea typeface="微软雅黑" panose="020B0503020204020204" charset="-122"/>
                <a:cs typeface="微软雅黑" panose="020B0503020204020204" charset="-122"/>
              </a:rPr>
              <a:t>在面对这种复合型攻击模式时的表现，仍需进一步的研究和验证。</a:t>
            </a: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450215" y="1043305"/>
            <a:ext cx="5320665" cy="570865"/>
          </a:xfrm>
          <a:prstGeom prst="rect">
            <a:avLst/>
          </a:prstGeom>
          <a:noFill/>
        </p:spPr>
        <p:txBody>
          <a:bodyPr wrap="square" rtlCol="0" anchor="t">
            <a:noAutofit/>
          </a:bodyPr>
          <a:p>
            <a:r>
              <a:rPr lang="en-US" altLang="zh-CN" sz="2400" b="1" dirty="0">
                <a:latin typeface="微软雅黑" panose="020B0503020204020204" charset="-122"/>
                <a:ea typeface="微软雅黑" panose="020B0503020204020204" charset="-122"/>
                <a:cs typeface="微软雅黑" panose="020B0503020204020204" charset="-122"/>
              </a:rPr>
              <a:t>2</a:t>
            </a:r>
            <a:r>
              <a:rPr lang="zh-CN" altLang="en-US" sz="2400" b="1" dirty="0">
                <a:latin typeface="微软雅黑" panose="020B0503020204020204" charset="-122"/>
                <a:ea typeface="微软雅黑" panose="020B0503020204020204" charset="-122"/>
                <a:cs typeface="微软雅黑" panose="020B0503020204020204" charset="-122"/>
              </a:rPr>
              <a:t>、局限性与</a:t>
            </a:r>
            <a:r>
              <a:rPr lang="zh-CN" altLang="en-US" sz="2400" b="1" dirty="0">
                <a:latin typeface="微软雅黑" panose="020B0503020204020204" charset="-122"/>
                <a:ea typeface="微软雅黑" panose="020B0503020204020204" charset="-122"/>
                <a:cs typeface="微软雅黑" panose="020B0503020204020204" charset="-122"/>
              </a:rPr>
              <a:t>未来工作</a:t>
            </a: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rot="18900000">
            <a:off x="425185" y="187700"/>
            <a:ext cx="530447" cy="705898"/>
            <a:chOff x="1417969" y="-178881"/>
            <a:chExt cx="985343" cy="1311255"/>
          </a:xfrm>
        </p:grpSpPr>
        <p:sp>
          <p:nvSpPr>
            <p:cNvPr id="20" name="矩形 19"/>
            <p:cNvSpPr/>
            <p:nvPr/>
          </p:nvSpPr>
          <p:spPr>
            <a:xfrm rot="2700000">
              <a:off x="1715630" y="444692"/>
              <a:ext cx="774968" cy="600395"/>
            </a:xfrm>
            <a:prstGeom prst="rect">
              <a:avLst/>
            </a:prstGeom>
            <a:solidFill>
              <a:srgbClr val="ECD37A"/>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矩形 20"/>
            <p:cNvSpPr/>
            <p:nvPr/>
          </p:nvSpPr>
          <p:spPr>
            <a:xfrm rot="2700000">
              <a:off x="1302962" y="-63874"/>
              <a:ext cx="1004982" cy="774969"/>
            </a:xfrm>
            <a:prstGeom prst="rect">
              <a:avLst/>
            </a:prstGeom>
            <a:solidFill>
              <a:srgbClr val="005744">
                <a:alpha val="9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5" name="文本框 24"/>
          <p:cNvSpPr txBox="1"/>
          <p:nvPr/>
        </p:nvSpPr>
        <p:spPr>
          <a:xfrm>
            <a:off x="1176655" y="295910"/>
            <a:ext cx="7308215" cy="530225"/>
          </a:xfrm>
          <a:prstGeom prst="rect">
            <a:avLst/>
          </a:prstGeom>
          <a:noFill/>
        </p:spPr>
        <p:txBody>
          <a:bodyPr wrap="square" rtlCol="0">
            <a:noAutofit/>
          </a:bodyPr>
          <a:lstStyle/>
          <a:p>
            <a:pPr algn="l"/>
            <a:r>
              <a:rPr lang="zh-CN" altLang="en-US" sz="2800" b="1" dirty="0">
                <a:solidFill>
                  <a:srgbClr val="005744"/>
                </a:solidFill>
                <a:latin typeface="微软雅黑" panose="020B0503020204020204" charset="-122"/>
                <a:ea typeface="微软雅黑" panose="020B0503020204020204" charset="-122"/>
                <a:sym typeface="+mn-ea"/>
              </a:rPr>
              <a:t>六</a:t>
            </a:r>
            <a:r>
              <a:rPr lang="en-US" altLang="zh-CN" sz="2800" b="1" dirty="0">
                <a:solidFill>
                  <a:srgbClr val="005744"/>
                </a:solidFill>
                <a:latin typeface="微软雅黑" panose="020B0503020204020204" charset="-122"/>
                <a:ea typeface="微软雅黑" panose="020B0503020204020204" charset="-122"/>
                <a:sym typeface="+mn-ea"/>
              </a:rPr>
              <a:t>、</a:t>
            </a:r>
            <a:r>
              <a:rPr lang="zh-CN" altLang="en-US" sz="2800" b="1" dirty="0">
                <a:solidFill>
                  <a:srgbClr val="005744"/>
                </a:solidFill>
                <a:latin typeface="微软雅黑" panose="020B0503020204020204" charset="-122"/>
                <a:ea typeface="微软雅黑" panose="020B0503020204020204" charset="-122"/>
                <a:sym typeface="+mn-ea"/>
              </a:rPr>
              <a:t>展望与总结</a:t>
            </a:r>
            <a:endParaRPr lang="en-US" altLang="zh-CN" sz="2800" b="1" dirty="0">
              <a:solidFill>
                <a:srgbClr val="005744"/>
              </a:solidFill>
              <a:latin typeface="微软雅黑" panose="020B0503020204020204" charset="-122"/>
              <a:ea typeface="微软雅黑" panose="020B0503020204020204" charset="-122"/>
            </a:endParaRPr>
          </a:p>
        </p:txBody>
      </p:sp>
      <p:sp>
        <p:nvSpPr>
          <p:cNvPr id="2" name="文本框 1"/>
          <p:cNvSpPr txBox="1"/>
          <p:nvPr/>
        </p:nvSpPr>
        <p:spPr>
          <a:xfrm>
            <a:off x="450215" y="1831340"/>
            <a:ext cx="10676890" cy="3943985"/>
          </a:xfrm>
          <a:prstGeom prst="rect">
            <a:avLst/>
          </a:prstGeom>
          <a:noFill/>
        </p:spPr>
        <p:txBody>
          <a:bodyPr wrap="square">
            <a:noAutofit/>
          </a:bodyPr>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架构创新：解耦与分而治之：</a:t>
            </a:r>
            <a:r>
              <a:rPr lang="zh-CN" altLang="en-US" dirty="0">
                <a:latin typeface="微软雅黑" panose="020B0503020204020204" charset="-122"/>
                <a:ea typeface="微软雅黑" panose="020B0503020204020204" charset="-122"/>
                <a:cs typeface="微软雅黑" panose="020B0503020204020204" charset="-122"/>
              </a:rPr>
              <a:t>提出了一种全新的解耦架构，将复杂的多分类任务转化为多个独立的单分类任务。通过</a:t>
            </a:r>
            <a:r>
              <a:rPr lang="en-US" altLang="zh-CN" dirty="0">
                <a:latin typeface="微软雅黑" panose="020B0503020204020204" charset="-122"/>
                <a:ea typeface="微软雅黑" panose="020B0503020204020204" charset="-122"/>
                <a:cs typeface="微软雅黑" panose="020B0503020204020204" charset="-122"/>
              </a:rPr>
              <a:t> tSieve</a:t>
            </a:r>
            <a:r>
              <a:rPr lang="zh-CN" altLang="en-US" dirty="0">
                <a:latin typeface="微软雅黑" panose="020B0503020204020204" charset="-122"/>
                <a:ea typeface="微软雅黑" panose="020B0503020204020204" charset="-122"/>
                <a:cs typeface="微软雅黑" panose="020B0503020204020204" charset="-122"/>
              </a:rPr>
              <a:t>（单分类学习器）、</a:t>
            </a:r>
            <a:r>
              <a:rPr lang="en-US" altLang="zh-CN" dirty="0">
                <a:latin typeface="微软雅黑" panose="020B0503020204020204" charset="-122"/>
                <a:ea typeface="微软雅黑" panose="020B0503020204020204" charset="-122"/>
                <a:cs typeface="微软雅黑" panose="020B0503020204020204" charset="-122"/>
              </a:rPr>
              <a:t>tScissors</a:t>
            </a:r>
            <a:r>
              <a:rPr lang="zh-CN" altLang="en-US" dirty="0">
                <a:latin typeface="微软雅黑" panose="020B0503020204020204" charset="-122"/>
                <a:ea typeface="微软雅黑" panose="020B0503020204020204" charset="-122"/>
                <a:cs typeface="微软雅黑" panose="020B0503020204020204" charset="-122"/>
              </a:rPr>
              <a:t>（自适应阈值裁决）和</a:t>
            </a:r>
            <a:r>
              <a:rPr lang="en-US" altLang="zh-CN" dirty="0">
                <a:latin typeface="微软雅黑" panose="020B0503020204020204" charset="-122"/>
                <a:ea typeface="微软雅黑" panose="020B0503020204020204" charset="-122"/>
                <a:cs typeface="微软雅黑" panose="020B0503020204020204" charset="-122"/>
              </a:rPr>
              <a:t> tMagnifier</a:t>
            </a:r>
            <a:r>
              <a:rPr lang="zh-CN" altLang="en-US" dirty="0">
                <a:latin typeface="微软雅黑" panose="020B0503020204020204" charset="-122"/>
                <a:ea typeface="微软雅黑" panose="020B0503020204020204" charset="-122"/>
                <a:cs typeface="微软雅黑" panose="020B0503020204020204" charset="-122"/>
              </a:rPr>
              <a:t>（未知类聚类）三个组件的协同工作，</a:t>
            </a:r>
            <a:r>
              <a:rPr lang="en-US" altLang="zh-CN" dirty="0">
                <a:latin typeface="微软雅黑" panose="020B0503020204020204" charset="-122"/>
                <a:ea typeface="微软雅黑" panose="020B0503020204020204" charset="-122"/>
                <a:cs typeface="微软雅黑" panose="020B0503020204020204" charset="-122"/>
              </a:rPr>
              <a:t>Trident </a:t>
            </a:r>
            <a:r>
              <a:rPr lang="zh-CN" altLang="en-US" dirty="0">
                <a:latin typeface="微软雅黑" panose="020B0503020204020204" charset="-122"/>
                <a:ea typeface="微软雅黑" panose="020B0503020204020204" charset="-122"/>
                <a:cs typeface="微软雅黑" panose="020B0503020204020204" charset="-122"/>
              </a:rPr>
              <a:t>成功实现了已知类的精准分类和未知类的细粒度发现。</a:t>
            </a:r>
            <a:endParaRPr lang="zh-CN" altLang="en-US"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模型通用性验证：</a:t>
            </a:r>
            <a:r>
              <a:rPr lang="zh-CN" altLang="en-US" dirty="0">
                <a:latin typeface="微软雅黑" panose="020B0503020204020204" charset="-122"/>
                <a:ea typeface="微软雅黑" panose="020B0503020204020204" charset="-122"/>
                <a:cs typeface="微软雅黑" panose="020B0503020204020204" charset="-122"/>
              </a:rPr>
              <a:t>该论文设计并实现了基于</a:t>
            </a:r>
            <a:r>
              <a:rPr lang="en-US" altLang="zh-CN" dirty="0">
                <a:latin typeface="微软雅黑" panose="020B0503020204020204" charset="-122"/>
                <a:ea typeface="微软雅黑" panose="020B0503020204020204" charset="-122"/>
                <a:cs typeface="微软雅黑" panose="020B0503020204020204" charset="-122"/>
              </a:rPr>
              <a:t> AutoEncoder</a:t>
            </a:r>
            <a:r>
              <a:rPr lang="zh-CN" altLang="en-US"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RNN </a:t>
            </a:r>
            <a:r>
              <a:rPr lang="zh-CN" altLang="en-US" dirty="0">
                <a:latin typeface="微软雅黑" panose="020B0503020204020204" charset="-122"/>
                <a:ea typeface="微软雅黑" panose="020B0503020204020204" charset="-122"/>
                <a:cs typeface="微软雅黑" panose="020B0503020204020204" charset="-122"/>
              </a:rPr>
              <a:t>和</a:t>
            </a:r>
            <a:r>
              <a:rPr lang="en-US" altLang="zh-CN" dirty="0">
                <a:latin typeface="微软雅黑" panose="020B0503020204020204" charset="-122"/>
                <a:ea typeface="微软雅黑" panose="020B0503020204020204" charset="-122"/>
                <a:cs typeface="微软雅黑" panose="020B0503020204020204" charset="-122"/>
              </a:rPr>
              <a:t> GNN </a:t>
            </a:r>
            <a:r>
              <a:rPr lang="zh-CN" altLang="en-US" dirty="0">
                <a:latin typeface="微软雅黑" panose="020B0503020204020204" charset="-122"/>
                <a:ea typeface="微软雅黑" panose="020B0503020204020204" charset="-122"/>
                <a:cs typeface="微软雅黑" panose="020B0503020204020204" charset="-122"/>
              </a:rPr>
              <a:t>的三种单分类学习器，允许用户根据流量特征（统计、序列或拓扑）灵活选择骨干网络，打破了单一模型的性能瓶颈。</a:t>
            </a:r>
            <a:endParaRPr lang="zh-CN" altLang="en-US" b="1"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实证评估的领先性</a:t>
            </a:r>
            <a:r>
              <a:rPr lang="zh-CN" altLang="en-US" dirty="0">
                <a:latin typeface="微软雅黑" panose="020B0503020204020204" charset="-122"/>
                <a:ea typeface="微软雅黑" panose="020B0503020204020204" charset="-122"/>
                <a:cs typeface="微软雅黑" panose="020B0503020204020204" charset="-122"/>
              </a:rPr>
              <a:t>：</a:t>
            </a:r>
            <a:r>
              <a:rPr lang="en-US" altLang="zh-CN" dirty="0">
                <a:latin typeface="微软雅黑" panose="020B0503020204020204" charset="-122"/>
                <a:ea typeface="微软雅黑" panose="020B0503020204020204" charset="-122"/>
                <a:cs typeface="微软雅黑" panose="020B0503020204020204" charset="-122"/>
              </a:rPr>
              <a:t>Trident </a:t>
            </a:r>
            <a:r>
              <a:rPr lang="zh-CN" altLang="en-US" dirty="0">
                <a:latin typeface="微软雅黑" panose="020B0503020204020204" charset="-122"/>
                <a:ea typeface="微软雅黑" panose="020B0503020204020204" charset="-122"/>
                <a:cs typeface="微软雅黑" panose="020B0503020204020204" charset="-122"/>
              </a:rPr>
              <a:t>在细粒度未知类检测任务上显著优于</a:t>
            </a:r>
            <a:r>
              <a:rPr lang="en-US" altLang="zh-CN" dirty="0">
                <a:latin typeface="微软雅黑" panose="020B0503020204020204" charset="-122"/>
                <a:ea typeface="微软雅黑" panose="020B0503020204020204" charset="-122"/>
                <a:cs typeface="微软雅黑" panose="020B0503020204020204" charset="-122"/>
              </a:rPr>
              <a:t>16 </a:t>
            </a:r>
            <a:r>
              <a:rPr lang="zh-CN" altLang="en-US" dirty="0">
                <a:latin typeface="微软雅黑" panose="020B0503020204020204" charset="-122"/>
                <a:ea typeface="微软雅黑" panose="020B0503020204020204" charset="-122"/>
                <a:cs typeface="微软雅黑" panose="020B0503020204020204" charset="-122"/>
              </a:rPr>
              <a:t>种</a:t>
            </a:r>
            <a:r>
              <a:rPr lang="en-US" altLang="zh-CN" dirty="0">
                <a:latin typeface="微软雅黑" panose="020B0503020204020204" charset="-122"/>
                <a:ea typeface="微软雅黑" panose="020B0503020204020204" charset="-122"/>
                <a:cs typeface="微软雅黑" panose="020B0503020204020204" charset="-122"/>
              </a:rPr>
              <a:t>SOTA </a:t>
            </a:r>
            <a:r>
              <a:rPr lang="zh-CN" altLang="en-US" dirty="0">
                <a:latin typeface="微软雅黑" panose="020B0503020204020204" charset="-122"/>
                <a:ea typeface="微软雅黑" panose="020B0503020204020204" charset="-122"/>
                <a:cs typeface="微软雅黑" panose="020B0503020204020204" charset="-122"/>
              </a:rPr>
              <a:t>基线方法（包括监督学习、二分类检测及聚类方法）。特别是在未知类比例较高的情况下，其优势尤为明显。</a:t>
            </a:r>
            <a:endParaRPr lang="zh-CN" altLang="en-US"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（创新性价值）填补了</a:t>
            </a:r>
            <a:r>
              <a:rPr lang="en-US" altLang="zh-CN" b="1" dirty="0">
                <a:latin typeface="微软雅黑" panose="020B0503020204020204" charset="-122"/>
                <a:ea typeface="微软雅黑" panose="020B0503020204020204" charset="-122"/>
                <a:cs typeface="微软雅黑" panose="020B0503020204020204" charset="-122"/>
              </a:rPr>
              <a:t>“</a:t>
            </a:r>
            <a:r>
              <a:rPr lang="zh-CN" altLang="en-US" b="1" dirty="0">
                <a:latin typeface="微软雅黑" panose="020B0503020204020204" charset="-122"/>
                <a:ea typeface="微软雅黑" panose="020B0503020204020204" charset="-122"/>
                <a:cs typeface="微软雅黑" panose="020B0503020204020204" charset="-122"/>
              </a:rPr>
              <a:t>检测</a:t>
            </a:r>
            <a:r>
              <a:rPr lang="en-US" altLang="zh-CN" b="1" dirty="0">
                <a:latin typeface="微软雅黑" panose="020B0503020204020204" charset="-122"/>
                <a:ea typeface="微软雅黑" panose="020B0503020204020204" charset="-122"/>
                <a:cs typeface="微软雅黑" panose="020B0503020204020204" charset="-122"/>
              </a:rPr>
              <a:t>”</a:t>
            </a:r>
            <a:r>
              <a:rPr lang="zh-CN" altLang="en-US" b="1" dirty="0">
                <a:latin typeface="微软雅黑" panose="020B0503020204020204" charset="-122"/>
                <a:ea typeface="微软雅黑" panose="020B0503020204020204" charset="-122"/>
                <a:cs typeface="微软雅黑" panose="020B0503020204020204" charset="-122"/>
              </a:rPr>
              <a:t>与</a:t>
            </a:r>
            <a:r>
              <a:rPr lang="en-US" altLang="zh-CN" b="1" dirty="0">
                <a:latin typeface="微软雅黑" panose="020B0503020204020204" charset="-122"/>
                <a:ea typeface="微软雅黑" panose="020B0503020204020204" charset="-122"/>
                <a:cs typeface="微软雅黑" panose="020B0503020204020204" charset="-122"/>
              </a:rPr>
              <a:t>“</a:t>
            </a:r>
            <a:r>
              <a:rPr lang="zh-CN" altLang="en-US" b="1" dirty="0">
                <a:latin typeface="微软雅黑" panose="020B0503020204020204" charset="-122"/>
                <a:ea typeface="微软雅黑" panose="020B0503020204020204" charset="-122"/>
                <a:cs typeface="微软雅黑" panose="020B0503020204020204" charset="-122"/>
              </a:rPr>
              <a:t>响应</a:t>
            </a:r>
            <a:r>
              <a:rPr lang="en-US" altLang="zh-CN" b="1" dirty="0">
                <a:latin typeface="微软雅黑" panose="020B0503020204020204" charset="-122"/>
                <a:ea typeface="微软雅黑" panose="020B0503020204020204" charset="-122"/>
                <a:cs typeface="微软雅黑" panose="020B0503020204020204" charset="-122"/>
              </a:rPr>
              <a:t>”</a:t>
            </a:r>
            <a:r>
              <a:rPr lang="zh-CN" altLang="en-US" b="1" dirty="0">
                <a:latin typeface="微软雅黑" panose="020B0503020204020204" charset="-122"/>
                <a:ea typeface="微软雅黑" panose="020B0503020204020204" charset="-122"/>
                <a:cs typeface="微软雅黑" panose="020B0503020204020204" charset="-122"/>
              </a:rPr>
              <a:t>之间的空白：</a:t>
            </a:r>
            <a:r>
              <a:rPr lang="en-US" altLang="zh-CN" dirty="0">
                <a:latin typeface="微软雅黑" panose="020B0503020204020204" charset="-122"/>
                <a:ea typeface="微软雅黑" panose="020B0503020204020204" charset="-122"/>
                <a:cs typeface="微软雅黑" panose="020B0503020204020204" charset="-122"/>
              </a:rPr>
              <a:t> </a:t>
            </a:r>
            <a:r>
              <a:rPr lang="zh-CN" altLang="en-US" dirty="0">
                <a:latin typeface="微软雅黑" panose="020B0503020204020204" charset="-122"/>
                <a:ea typeface="微软雅黑" panose="020B0503020204020204" charset="-122"/>
                <a:cs typeface="微软雅黑" panose="020B0503020204020204" charset="-122"/>
              </a:rPr>
              <a:t>通过提供细粒度的未知攻击标签，</a:t>
            </a:r>
            <a:r>
              <a:rPr lang="en-US" altLang="zh-CN" dirty="0">
                <a:latin typeface="微软雅黑" panose="020B0503020204020204" charset="-122"/>
                <a:ea typeface="微软雅黑" panose="020B0503020204020204" charset="-122"/>
                <a:cs typeface="微软雅黑" panose="020B0503020204020204" charset="-122"/>
              </a:rPr>
              <a:t>Trident </a:t>
            </a:r>
            <a:r>
              <a:rPr lang="zh-CN" altLang="en-US" dirty="0">
                <a:latin typeface="微软雅黑" panose="020B0503020204020204" charset="-122"/>
                <a:ea typeface="微软雅黑" panose="020B0503020204020204" charset="-122"/>
                <a:cs typeface="微软雅黑" panose="020B0503020204020204" charset="-122"/>
              </a:rPr>
              <a:t>让网络防御者能够</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看清</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威胁的本质，从而采取针对性的缓解措施，而不仅仅是盲目地阻断连接。</a:t>
            </a:r>
            <a:endParaRPr lang="zh-CN" altLang="en-US"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20000"/>
              </a:lnSpc>
              <a:spcAft>
                <a:spcPts val="600"/>
              </a:spcAft>
              <a:buFont typeface="Arial" panose="020B0604020202020204" pitchFamily="34" charset="0"/>
              <a:buChar char="•"/>
            </a:pPr>
            <a:r>
              <a:rPr lang="zh-CN" altLang="en-US" b="1" dirty="0">
                <a:latin typeface="微软雅黑" panose="020B0503020204020204" charset="-122"/>
                <a:ea typeface="微软雅黑" panose="020B0503020204020204" charset="-122"/>
                <a:cs typeface="微软雅黑" panose="020B0503020204020204" charset="-122"/>
              </a:rPr>
              <a:t>（创新性价值）实现了安全防御的可持续性：</a:t>
            </a:r>
            <a:r>
              <a:rPr lang="en-US" altLang="zh-CN" dirty="0">
                <a:latin typeface="微软雅黑" panose="020B0503020204020204" charset="-122"/>
                <a:ea typeface="微软雅黑" panose="020B0503020204020204" charset="-122"/>
                <a:cs typeface="微软雅黑" panose="020B0503020204020204" charset="-122"/>
              </a:rPr>
              <a:t>Trident </a:t>
            </a:r>
            <a:r>
              <a:rPr lang="zh-CN" altLang="en-US" dirty="0">
                <a:latin typeface="微软雅黑" panose="020B0503020204020204" charset="-122"/>
                <a:ea typeface="微软雅黑" panose="020B0503020204020204" charset="-122"/>
                <a:cs typeface="微软雅黑" panose="020B0503020204020204" charset="-122"/>
              </a:rPr>
              <a:t>的增量更新机制确保了系统能够随着时间的推移不断吸收新知识，保持</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与时俱进</a:t>
            </a:r>
            <a:r>
              <a:rPr lang="en-US" altLang="zh-CN" dirty="0">
                <a:latin typeface="微软雅黑" panose="020B0503020204020204" charset="-122"/>
                <a:ea typeface="微软雅黑" panose="020B0503020204020204" charset="-122"/>
                <a:cs typeface="微软雅黑" panose="020B0503020204020204" charset="-122"/>
              </a:rPr>
              <a:t>”</a:t>
            </a:r>
            <a:r>
              <a:rPr lang="zh-CN" altLang="en-US" dirty="0">
                <a:latin typeface="微软雅黑" panose="020B0503020204020204" charset="-122"/>
                <a:ea typeface="微软雅黑" panose="020B0503020204020204" charset="-122"/>
                <a:cs typeface="微软雅黑" panose="020B0503020204020204" charset="-122"/>
              </a:rPr>
              <a:t>的防御能力，显著降低了长期的运维成本。</a:t>
            </a:r>
            <a:endParaRPr lang="zh-CN" altLang="en-US" dirty="0">
              <a:latin typeface="微软雅黑" panose="020B0503020204020204" charset="-122"/>
              <a:ea typeface="微软雅黑" panose="020B0503020204020204" charset="-122"/>
              <a:cs typeface="微软雅黑" panose="020B0503020204020204" charset="-122"/>
            </a:endParaRPr>
          </a:p>
          <a:p>
            <a:pPr marL="342900" indent="-342900" algn="l" fontAlgn="auto">
              <a:lnSpc>
                <a:spcPct val="120000"/>
              </a:lnSpc>
              <a:spcAft>
                <a:spcPts val="600"/>
              </a:spcAft>
              <a:buFont typeface="Arial" panose="020B0604020202020204" pitchFamily="34" charset="0"/>
              <a:buChar char="•"/>
            </a:pP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450215" y="1043305"/>
            <a:ext cx="5320665" cy="570865"/>
          </a:xfrm>
          <a:prstGeom prst="rect">
            <a:avLst/>
          </a:prstGeom>
          <a:noFill/>
        </p:spPr>
        <p:txBody>
          <a:bodyPr wrap="square" rtlCol="0" anchor="t">
            <a:noAutofit/>
          </a:bodyPr>
          <a:p>
            <a:r>
              <a:rPr lang="en-US" altLang="zh-CN" sz="2400" b="1" dirty="0">
                <a:latin typeface="微软雅黑" panose="020B0503020204020204" charset="-122"/>
                <a:ea typeface="微软雅黑" panose="020B0503020204020204" charset="-122"/>
                <a:cs typeface="微软雅黑" panose="020B0503020204020204" charset="-122"/>
              </a:rPr>
              <a:t>3</a:t>
            </a:r>
            <a:r>
              <a:rPr lang="zh-CN" altLang="en-US" sz="2400" b="1" dirty="0">
                <a:latin typeface="微软雅黑" panose="020B0503020204020204" charset="-122"/>
                <a:ea typeface="微软雅黑" panose="020B0503020204020204" charset="-122"/>
                <a:cs typeface="微软雅黑" panose="020B0503020204020204" charset="-122"/>
              </a:rPr>
              <a:t>、论文</a:t>
            </a:r>
            <a:r>
              <a:rPr lang="zh-CN" altLang="en-US" sz="2400" b="1" dirty="0">
                <a:latin typeface="微软雅黑" panose="020B0503020204020204" charset="-122"/>
                <a:ea typeface="微软雅黑" panose="020B0503020204020204" charset="-122"/>
                <a:cs typeface="微软雅黑" panose="020B0503020204020204" charset="-122"/>
              </a:rPr>
              <a:t>总结</a:t>
            </a:r>
            <a:endParaRPr lang="zh-CN" altLang="en-US" sz="2400" b="1" dirty="0">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557715" y="2213242"/>
            <a:ext cx="4953007" cy="878595"/>
          </a:xfrm>
        </p:spPr>
        <p:txBody>
          <a:bodyPr/>
          <a:lstStyle/>
          <a:p>
            <a:r>
              <a:rPr lang="zh-CN" altLang="en-US"/>
              <a:t>谢谢观看</a:t>
            </a:r>
            <a:endParaRPr lang="zh-CN" altLang="en-US"/>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238765" y="227486"/>
            <a:ext cx="1458542" cy="1162447"/>
          </a:xfrm>
          <a:prstGeom prst="rect">
            <a:avLst/>
          </a:prstGeom>
        </p:spPr>
      </p:pic>
    </p:spTree>
  </p:cSld>
  <p:clrMapOvr>
    <a:masterClrMapping/>
  </p:clrMapOvr>
  <p:transition>
    <p:wipe/>
  </p:transition>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DIAGRAM_VIRTUALLY_FRAME" val="{&quot;height&quot;:342.4,&quot;left&quot;:350.3,&quot;top&quot;:46.75,&quot;width&quot;:603.9}"/>
</p:tagLst>
</file>

<file path=ppt/tags/tag64.xml><?xml version="1.0" encoding="utf-8"?>
<p:tagLst xmlns:p="http://schemas.openxmlformats.org/presentationml/2006/main">
  <p:tag name="KSO_WM_DIAGRAM_VIRTUALLY_FRAME" val="{&quot;height&quot;:342.4,&quot;left&quot;:350.3,&quot;top&quot;:46.75,&quot;width&quot;:603.9}"/>
</p:tagLst>
</file>

<file path=ppt/tags/tag65.xml><?xml version="1.0" encoding="utf-8"?>
<p:tagLst xmlns:p="http://schemas.openxmlformats.org/presentationml/2006/main">
  <p:tag name="KSO_WM_DIAGRAM_VIRTUALLY_FRAME" val="{&quot;height&quot;:342.4,&quot;left&quot;:350.3,&quot;top&quot;:46.75,&quot;width&quot;:603.9}"/>
</p:tagLst>
</file>

<file path=ppt/tags/tag66.xml><?xml version="1.0" encoding="utf-8"?>
<p:tagLst xmlns:p="http://schemas.openxmlformats.org/presentationml/2006/main">
  <p:tag name="KSO_WM_DIAGRAM_VIRTUALLY_FRAME" val="{&quot;height&quot;:342.4,&quot;left&quot;:350.3,&quot;top&quot;:46.75,&quot;width&quot;:603.9}"/>
</p:tagLst>
</file>

<file path=ppt/tags/tag67.xml><?xml version="1.0" encoding="utf-8"?>
<p:tagLst xmlns:p="http://schemas.openxmlformats.org/presentationml/2006/main">
  <p:tag name="KSO_WM_DIAGRAM_VIRTUALLY_FRAME" val="{&quot;height&quot;:342.4,&quot;left&quot;:350.3,&quot;top&quot;:46.75,&quot;width&quot;:603.9}"/>
</p:tagLst>
</file>

<file path=ppt/tags/tag68.xml><?xml version="1.0" encoding="utf-8"?>
<p:tagLst xmlns:p="http://schemas.openxmlformats.org/presentationml/2006/main">
  <p:tag name="KSO_WM_DIAGRAM_VIRTUALLY_FRAME" val="{&quot;height&quot;:342.4,&quot;left&quot;:350.3,&quot;top&quot;:46.75,&quot;width&quot;:603.9}"/>
</p:tagLst>
</file>

<file path=ppt/tags/tag69.xml><?xml version="1.0" encoding="utf-8"?>
<p:tagLst xmlns:p="http://schemas.openxmlformats.org/presentationml/2006/main">
  <p:tag name="KSO_WM_DIAGRAM_VIRTUALLY_FRAME" val="{&quot;height&quot;:342.4,&quot;left&quot;:350.3,&quot;top&quot;:46.75,&quot;width&quot;:603.9}"/>
</p:tagLst>
</file>

<file path=ppt/tags/tag70.xml><?xml version="1.0" encoding="utf-8"?>
<p:tagLst xmlns:p="http://schemas.openxmlformats.org/presentationml/2006/main">
  <p:tag name="KSO_WM_DIAGRAM_VIRTUALLY_FRAME" val="{&quot;height&quot;:342.4,&quot;left&quot;:350.3,&quot;top&quot;:46.75,&quot;width&quot;:603.9}"/>
</p:tagLst>
</file>

<file path=ppt/tags/tag71.xml><?xml version="1.0" encoding="utf-8"?>
<p:tagLst xmlns:p="http://schemas.openxmlformats.org/presentationml/2006/main">
  <p:tag name="KSO_WM_DIAGRAM_VIRTUALLY_FRAME" val="{&quot;height&quot;:342.4,&quot;left&quot;:350.3,&quot;top&quot;:46.75,&quot;width&quot;:603.9}"/>
</p:tagLst>
</file>

<file path=ppt/tags/tag72.xml><?xml version="1.0" encoding="utf-8"?>
<p:tagLst xmlns:p="http://schemas.openxmlformats.org/presentationml/2006/main">
  <p:tag name="KSO_WM_DIAGRAM_VIRTUALLY_FRAME" val="{&quot;height&quot;:342.4,&quot;left&quot;:350.3,&quot;top&quot;:46.75,&quot;width&quot;:603.9}"/>
</p:tagLst>
</file>

<file path=ppt/tags/tag73.xml><?xml version="1.0" encoding="utf-8"?>
<p:tagLst xmlns:p="http://schemas.openxmlformats.org/presentationml/2006/main">
  <p:tag name="KSO_WM_DIAGRAM_VIRTUALLY_FRAME" val="{&quot;height&quot;:342.4,&quot;left&quot;:350.3,&quot;top&quot;:46.75,&quot;width&quot;:603.9}"/>
</p:tagLst>
</file>

<file path=ppt/tags/tag74.xml><?xml version="1.0" encoding="utf-8"?>
<p:tagLst xmlns:p="http://schemas.openxmlformats.org/presentationml/2006/main">
  <p:tag name="KSO_WM_DIAGRAM_VIRTUALLY_FRAME" val="{&quot;height&quot;:342.4,&quot;left&quot;:350.3,&quot;top&quot;:46.75,&quot;width&quot;:603.9}"/>
</p:tagLst>
</file>

<file path=ppt/tags/tag75.xml><?xml version="1.0" encoding="utf-8"?>
<p:tagLst xmlns:p="http://schemas.openxmlformats.org/presentationml/2006/main">
  <p:tag name="KSO_WM_DIAGRAM_VIRTUALLY_FRAME" val="{&quot;height&quot;:342.4,&quot;left&quot;:350.3,&quot;top&quot;:46.75,&quot;width&quot;:603.9}"/>
</p:tagLst>
</file>

<file path=ppt/tags/tag76.xml><?xml version="1.0" encoding="utf-8"?>
<p:tagLst xmlns:p="http://schemas.openxmlformats.org/presentationml/2006/main">
  <p:tag name="KSO_WM_DIAGRAM_VIRTUALLY_FRAME" val="{&quot;height&quot;:342.4,&quot;left&quot;:350.3,&quot;top&quot;:46.75,&quot;width&quot;:603.9}"/>
</p:tagLst>
</file>

<file path=ppt/tags/tag77.xml><?xml version="1.0" encoding="utf-8"?>
<p:tagLst xmlns:p="http://schemas.openxmlformats.org/presentationml/2006/main">
  <p:tag name="KSO_WM_DIAGRAM_VIRTUALLY_FRAME" val="{&quot;height&quot;:342.4,&quot;left&quot;:350.3,&quot;top&quot;:46.75,&quot;width&quot;:603.9}"/>
</p:tagLst>
</file>

<file path=ppt/tags/tag78.xml><?xml version="1.0" encoding="utf-8"?>
<p:tagLst xmlns:p="http://schemas.openxmlformats.org/presentationml/2006/main">
  <p:tag name="KSO_WM_DIAGRAM_VIRTUALLY_FRAME" val="{&quot;height&quot;:303.25,&quot;left&quot;:350.3,&quot;top&quot;:85.9,&quot;width&quot;:603.9}"/>
</p:tagLst>
</file>

<file path=ppt/tags/tag79.xml><?xml version="1.0" encoding="utf-8"?>
<p:tagLst xmlns:p="http://schemas.openxmlformats.org/presentationml/2006/main">
  <p:tag name="KSO_WM_DIAGRAM_VIRTUALLY_FRAME" val="{&quot;height&quot;:303.25,&quot;left&quot;:350.3,&quot;top&quot;:85.9,&quot;width&quot;:603.9}"/>
</p:tagLst>
</file>

<file path=ppt/tags/tag80.xml><?xml version="1.0" encoding="utf-8"?>
<p:tagLst xmlns:p="http://schemas.openxmlformats.org/presentationml/2006/main">
  <p:tag name="KSO_WM_DIAGRAM_VIRTUALLY_FRAME" val="{&quot;height&quot;:303.25,&quot;left&quot;:350.3,&quot;top&quot;:85.9,&quot;width&quot;:603.9}"/>
</p:tagLst>
</file>

<file path=ppt/tags/tag81.xml><?xml version="1.0" encoding="utf-8"?>
<p:tagLst xmlns:p="http://schemas.openxmlformats.org/presentationml/2006/main">
  <p:tag name="KSO_WM_DIAGRAM_VIRTUALLY_FRAME" val="{&quot;height&quot;:303.25,&quot;left&quot;:350.3,&quot;top&quot;:85.9,&quot;width&quot;:603.9}"/>
</p:tagLst>
</file>

<file path=ppt/tags/tag82.xml><?xml version="1.0" encoding="utf-8"?>
<p:tagLst xmlns:p="http://schemas.openxmlformats.org/presentationml/2006/main">
  <p:tag name="KSO_WM_DIAGRAM_VIRTUALLY_FRAME" val="{&quot;height&quot;:303.25,&quot;left&quot;:350.3,&quot;top&quot;:85.9,&quot;width&quot;:603.9}"/>
</p:tagLst>
</file>

<file path=ppt/tags/tag83.xml><?xml version="1.0" encoding="utf-8"?>
<p:tagLst xmlns:p="http://schemas.openxmlformats.org/presentationml/2006/main">
  <p:tag name="KSO_WM_DIAGRAM_VIRTUALLY_FRAME" val="{&quot;height&quot;:303.25,&quot;left&quot;:350.3,&quot;top&quot;:85.9,&quot;width&quot;:603.9}"/>
</p:tagLst>
</file>

<file path=ppt/tags/tag84.xml><?xml version="1.0" encoding="utf-8"?>
<p:tagLst xmlns:p="http://schemas.openxmlformats.org/presentationml/2006/main">
  <p:tag name="KSO_WM_DIAGRAM_VIRTUALLY_FRAME" val="{&quot;height&quot;:303.25,&quot;left&quot;:350.3,&quot;top&quot;:85.9,&quot;width&quot;:603.9}"/>
</p:tagLst>
</file>

<file path=ppt/tags/tag85.xml><?xml version="1.0" encoding="utf-8"?>
<p:tagLst xmlns:p="http://schemas.openxmlformats.org/presentationml/2006/main">
  <p:tag name="KSO_WM_DIAGRAM_VIRTUALLY_FRAME" val="{&quot;height&quot;:303.25,&quot;left&quot;:350.3,&quot;top&quot;:85.9,&quot;width&quot;:603.9}"/>
</p:tagLst>
</file>

<file path=ppt/tags/tag86.xml><?xml version="1.0" encoding="utf-8"?>
<p:tagLst xmlns:p="http://schemas.openxmlformats.org/presentationml/2006/main">
  <p:tag name="KSO_WM_DIAGRAM_VIRTUALLY_FRAME" val="{&quot;height&quot;:303.25,&quot;left&quot;:350.3,&quot;top&quot;:85.9,&quot;width&quot;:603.9}"/>
</p:tagLst>
</file>

<file path=ppt/tags/tag87.xml><?xml version="1.0" encoding="utf-8"?>
<p:tagLst xmlns:p="http://schemas.openxmlformats.org/presentationml/2006/main">
  <p:tag name="KSO_WM_DIAGRAM_VIRTUALLY_FRAME" val="{&quot;height&quot;:303.25,&quot;left&quot;:350.3,&quot;top&quot;:85.9,&quot;width&quot;:603.9}"/>
</p:tagLst>
</file>

<file path=ppt/tags/tag88.xml><?xml version="1.0" encoding="utf-8"?>
<p:tagLst xmlns:p="http://schemas.openxmlformats.org/presentationml/2006/main">
  <p:tag name="KSO_WM_DIAGRAM_VIRTUALLY_FRAME" val="{&quot;height&quot;:303.25,&quot;left&quot;:350.3,&quot;top&quot;:85.9,&quot;width&quot;:603.9}"/>
</p:tagLst>
</file>

<file path=ppt/tags/tag89.xml><?xml version="1.0" encoding="utf-8"?>
<p:tagLst xmlns:p="http://schemas.openxmlformats.org/presentationml/2006/main">
  <p:tag name="KSO_WM_DIAGRAM_VIRTUALLY_FRAME" val="{&quot;height&quot;:303.25,&quot;left&quot;:350.3,&quot;top&quot;:85.9,&quot;width&quot;:603.9}"/>
</p:tagLst>
</file>

<file path=ppt/tags/tag90.xml><?xml version="1.0" encoding="utf-8"?>
<p:tagLst xmlns:p="http://schemas.openxmlformats.org/presentationml/2006/main">
  <p:tag name="KSO_WM_DIAGRAM_VIRTUALLY_FRAME" val="{&quot;height&quot;:325.55,&quot;left&quot;:38.1,&quot;top&quot;:164.25,&quot;width&quot;:612.3}"/>
</p:tagLst>
</file>

<file path=ppt/tags/tag91.xml><?xml version="1.0" encoding="utf-8"?>
<p:tagLst xmlns:p="http://schemas.openxmlformats.org/presentationml/2006/main">
  <p:tag name="KSO_WM_DIAGRAM_VIRTUALLY_FRAME" val="{&quot;height&quot;:325.55,&quot;left&quot;:38.1,&quot;top&quot;:164.25,&quot;width&quot;:612.3}"/>
</p:tagLst>
</file>

<file path=ppt/tags/tag92.xml><?xml version="1.0" encoding="utf-8"?>
<p:tagLst xmlns:p="http://schemas.openxmlformats.org/presentationml/2006/main">
  <p:tag name="KSO_WM_DIAGRAM_VIRTUALLY_FRAME" val="{&quot;height&quot;:325.55,&quot;left&quot;:38.1,&quot;top&quot;:164.25,&quot;width&quot;:612.3}"/>
</p:tagLst>
</file>

<file path=ppt/tags/tag93.xml><?xml version="1.0" encoding="utf-8"?>
<p:tagLst xmlns:p="http://schemas.openxmlformats.org/presentationml/2006/main">
  <p:tag name="KSO_WM_DIAGRAM_VIRTUALLY_FRAME" val="{&quot;height&quot;:325.55,&quot;left&quot;:38.1,&quot;top&quot;:164.25,&quot;width&quot;:612.3}"/>
</p:tagLst>
</file>

<file path=ppt/tags/tag94.xml><?xml version="1.0" encoding="utf-8"?>
<p:tagLst xmlns:p="http://schemas.openxmlformats.org/presentationml/2006/main">
  <p:tag name="KSO_WM_DIAGRAM_VIRTUALLY_FRAME" val="{&quot;height&quot;:303.25,&quot;left&quot;:350.3,&quot;top&quot;:85.9,&quot;width&quot;:603.9}"/>
</p:tagLst>
</file>

<file path=ppt/tags/tag95.xml><?xml version="1.0" encoding="utf-8"?>
<p:tagLst xmlns:p="http://schemas.openxmlformats.org/presentationml/2006/main">
  <p:tag name="KSO_WM_DIAGRAM_VIRTUALLY_FRAME" val="{&quot;height&quot;:303.25,&quot;left&quot;:350.3,&quot;top&quot;:85.9,&quot;width&quot;:603.9}"/>
</p:tagLst>
</file>

<file path=ppt/tags/tag96.xml><?xml version="1.0" encoding="utf-8"?>
<p:tagLst xmlns:p="http://schemas.openxmlformats.org/presentationml/2006/main">
  <p:tag name="KSO_WM_DIAGRAM_VIRTUALLY_FRAME" val="{&quot;height&quot;:303.25,&quot;left&quot;:350.3,&quot;top&quot;:85.9,&quot;width&quot;:603.9}"/>
</p:tagLst>
</file>

<file path=ppt/tags/tag97.xml><?xml version="1.0" encoding="utf-8"?>
<p:tagLst xmlns:p="http://schemas.openxmlformats.org/presentationml/2006/main">
  <p:tag name="KSO_WM_DIAGRAM_VIRTUALLY_FRAME" val="{&quot;height&quot;:303.25,&quot;left&quot;:350.3,&quot;top&quot;:85.9,&quot;width&quot;:603.9}"/>
</p:tagLst>
</file>

<file path=ppt/tags/tag98.xml><?xml version="1.0" encoding="utf-8"?>
<p:tagLst xmlns:p="http://schemas.openxmlformats.org/presentationml/2006/main">
  <p:tag name="KSO_WM_DIAGRAM_VIRTUALLY_FRAME" val="{&quot;height&quot;:303.25,&quot;left&quot;:350.3,&quot;top&quot;:85.9,&quot;width&quot;:603.9}"/>
</p:tagLst>
</file>

<file path=ppt/tags/tag99.xml><?xml version="1.0" encoding="utf-8"?>
<p:tagLst xmlns:p="http://schemas.openxmlformats.org/presentationml/2006/main">
  <p:tag name="KSO_WM_DIAGRAM_VIRTUALLY_FRAME" val="{&quot;height&quot;:303.25,&quot;left&quot;:350.3,&quot;top&quot;:85.9,&quot;width&quot;:603.9}"/>
</p:tagLst>
</file>

<file path=ppt/tags/tag100.xml><?xml version="1.0" encoding="utf-8"?>
<p:tagLst xmlns:p="http://schemas.openxmlformats.org/presentationml/2006/main">
  <p:tag name="KSO_WM_DIAGRAM_VIRTUALLY_FRAME" val="{&quot;height&quot;:303.25,&quot;left&quot;:350.3,&quot;top&quot;:85.9,&quot;width&quot;:603.9}"/>
</p:tagLst>
</file>

<file path=ppt/tags/tag101.xml><?xml version="1.0" encoding="utf-8"?>
<p:tagLst xmlns:p="http://schemas.openxmlformats.org/presentationml/2006/main">
  <p:tag name="KSO_WM_DIAGRAM_VIRTUALLY_FRAME" val="{&quot;height&quot;:303.25,&quot;left&quot;:350.3,&quot;top&quot;:85.9,&quot;width&quot;:603.9}"/>
</p:tagLst>
</file>

<file path=ppt/tags/tag102.xml><?xml version="1.0" encoding="utf-8"?>
<p:tagLst xmlns:p="http://schemas.openxmlformats.org/presentationml/2006/main">
  <p:tag name="KSO_WM_DIAGRAM_VIRTUALLY_FRAME" val="{&quot;height&quot;:303.25,&quot;left&quot;:350.3,&quot;top&quot;:85.9,&quot;width&quot;:603.9}"/>
</p:tagLst>
</file>

<file path=ppt/tags/tag103.xml><?xml version="1.0" encoding="utf-8"?>
<p:tagLst xmlns:p="http://schemas.openxmlformats.org/presentationml/2006/main">
  <p:tag name="resource_record_key" val="{&quot;29&quot;:[50000199,50000076,50000283]}"/>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8437</Words>
  <Application>WPS 演示</Application>
  <PresentationFormat>宽屏</PresentationFormat>
  <Paragraphs>540</Paragraphs>
  <Slides>35</Slides>
  <Notes>4</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35</vt:i4>
      </vt:variant>
    </vt:vector>
  </HeadingPairs>
  <TitlesOfParts>
    <vt:vector size="47" baseType="lpstr">
      <vt:lpstr>Arial</vt:lpstr>
      <vt:lpstr>宋体</vt:lpstr>
      <vt:lpstr>Wingdings</vt:lpstr>
      <vt:lpstr>Wingdings</vt:lpstr>
      <vt:lpstr>微软雅黑</vt:lpstr>
      <vt:lpstr>Times New Roman</vt:lpstr>
      <vt:lpstr>思源宋体 CN Heavy</vt:lpstr>
      <vt:lpstr>Arial Unicode MS</vt:lpstr>
      <vt:lpstr>Calibri</vt:lpstr>
      <vt:lpstr>Arial</vt:lpstr>
      <vt:lpstr>兰米宋体</vt:lpstr>
      <vt:lpstr>WPS</vt:lpstr>
      <vt:lpstr>Trident:A Universal Framework for Fine-Grained and Class-Incremental Unknown Traffic Detection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曹潇菲</cp:lastModifiedBy>
  <cp:revision>474</cp:revision>
  <dcterms:created xsi:type="dcterms:W3CDTF">2019-06-19T02:08:00Z</dcterms:created>
  <dcterms:modified xsi:type="dcterms:W3CDTF">2026-01-12T05:13:27Z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00239DD1988041C7B230A22271BB2720_12</vt:lpwstr>
  </property>
</Properties>
</file>